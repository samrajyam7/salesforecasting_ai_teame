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Lst>
  <p:sldSz cy="6858000" cx="12192000"/>
  <p:notesSz cx="6858000" cy="12192000"/>
  <p:defaultTextStyle>
    <a:defPPr lvl="0"/>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On Day 11, I worked on the Qualification Engine. My main tasks were connecting the AI score endpoint with the backend, designing the response model, and integrating the qualification API using FastAPI.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of the Qualification Engine is to help sales teams identify the most valuable leads. Instead of manually analyzing each lead, the system sends lead information to the AI model, which evaluates the lead and generates useful insights. My responsibility was to integrate this AI functionality with the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sends lead information to the AI endpoint and receives a structured response. The response model includes four important outputs: Lead Score, which indicates the quality of the lead; Grade, such as A, B, or C; Priority, which helps sales teams decide which leads to contact first; and a short AI-generated summary explaining the recommendation. Using a standard response model ensures that the frontend always receives data in a consistent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starts when lead information is sent to the Qualification API. The AI analyzes the data and generates the lead score, grade, priority, and summary. The backend formats this information using the response model and sends it to the frontend, where it is displayed on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Along with backend integration, the AI team created the qualification prompt that generates intelligent recommendations. The frontend team prepared cards to display the AI results, while the QA team verified the API responses and tested the correctness of the generated output. This completed our Day 11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1371600"/>
            <a:ext cx="7315200" cy="457200"/>
          </a:xfrm>
          <a:prstGeom prst="rect">
            <a:avLst/>
          </a:prstGeom>
          <a:noFill/>
          <a:ln/>
        </p:spPr>
        <p:txBody>
          <a:bodyPr wrap="square" lIns="0" tIns="0" rIns="0" bIns="0" rtlCol="0" anchor="ctr"/>
          <a:lstStyle/>
          <a:p>
            <a:pPr indent="0" marL="0">
              <a:buNone/>
            </a:pPr>
            <a:r>
              <a:rPr lang="en-US" sz="1500" b="1" spc="300" kern="0" dirty="0">
                <a:solidFill>
                  <a:srgbClr val="CADCFC"/>
                </a:solidFill>
                <a:latin typeface="Calibri" pitchFamily="34" charset="0"/>
                <a:ea typeface="Calibri" pitchFamily="34" charset="-122"/>
                <a:cs typeface="Calibri" pitchFamily="34" charset="-120"/>
              </a:rPr>
              <a:t>DAY 11 PROGRESS</a:t>
            </a:r>
            <a:endParaRPr lang="en-US" sz="1500" dirty="0"/>
          </a:p>
        </p:txBody>
      </p:sp>
      <p:sp>
        <p:nvSpPr>
          <p:cNvPr id="3" name="Text 1"/>
          <p:cNvSpPr/>
          <p:nvPr/>
        </p:nvSpPr>
        <p:spPr>
          <a:xfrm>
            <a:off x="777240" y="1828800"/>
            <a:ext cx="9601200"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Qualification Engine</a:t>
            </a:r>
            <a:endParaRPr lang="en-US" sz="4400" dirty="0"/>
          </a:p>
        </p:txBody>
      </p:sp>
      <p:sp>
        <p:nvSpPr>
          <p:cNvPr id="4" name="Text 2"/>
          <p:cNvSpPr/>
          <p:nvPr/>
        </p:nvSpPr>
        <p:spPr>
          <a:xfrm>
            <a:off x="822960" y="3063240"/>
            <a:ext cx="7498080" cy="8229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Connecting AI-generated lead insights to the backend, so sales teams see standardized results on the dashboard.</a:t>
            </a:r>
            <a:endParaRPr lang="en-US" sz="1600" dirty="0"/>
          </a:p>
        </p:txBody>
      </p:sp>
      <p:sp>
        <p:nvSpPr>
          <p:cNvPr id="5" name="Shape 3"/>
          <p:cNvSpPr/>
          <p:nvPr/>
        </p:nvSpPr>
        <p:spPr>
          <a:xfrm>
            <a:off x="822960" y="4160520"/>
            <a:ext cx="1024128" cy="457200"/>
          </a:xfrm>
          <a:prstGeom prst="roundRect">
            <a:avLst>
              <a:gd name="adj" fmla="val 16000"/>
            </a:avLst>
          </a:prstGeom>
          <a:solidFill>
            <a:srgbClr val="26326B"/>
          </a:solidFill>
          <a:ln w="12700">
            <a:solidFill>
              <a:srgbClr val="3E4A8C"/>
            </a:solidFill>
            <a:prstDash val="solid"/>
          </a:ln>
        </p:spPr>
      </p:sp>
      <p:sp>
        <p:nvSpPr>
          <p:cNvPr id="6" name="Text 4"/>
          <p:cNvSpPr/>
          <p:nvPr/>
        </p:nvSpPr>
        <p:spPr>
          <a:xfrm>
            <a:off x="822960" y="4160520"/>
            <a:ext cx="1024128" cy="45720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FastAPI</a:t>
            </a:r>
            <a:endParaRPr lang="en-US" sz="1300" dirty="0"/>
          </a:p>
        </p:txBody>
      </p:sp>
      <p:sp>
        <p:nvSpPr>
          <p:cNvPr id="7" name="Shape 5"/>
          <p:cNvSpPr/>
          <p:nvPr/>
        </p:nvSpPr>
        <p:spPr>
          <a:xfrm>
            <a:off x="2029968" y="4160520"/>
            <a:ext cx="1124712" cy="457200"/>
          </a:xfrm>
          <a:prstGeom prst="roundRect">
            <a:avLst>
              <a:gd name="adj" fmla="val 16000"/>
            </a:avLst>
          </a:prstGeom>
          <a:solidFill>
            <a:srgbClr val="26326B"/>
          </a:solidFill>
          <a:ln w="12700">
            <a:solidFill>
              <a:srgbClr val="3E4A8C"/>
            </a:solidFill>
            <a:prstDash val="solid"/>
          </a:ln>
        </p:spPr>
      </p:sp>
      <p:sp>
        <p:nvSpPr>
          <p:cNvPr id="8" name="Text 6"/>
          <p:cNvSpPr/>
          <p:nvPr/>
        </p:nvSpPr>
        <p:spPr>
          <a:xfrm>
            <a:off x="2029968" y="4160520"/>
            <a:ext cx="1124712" cy="45720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REST API</a:t>
            </a:r>
            <a:endParaRPr lang="en-US" sz="1300" dirty="0"/>
          </a:p>
        </p:txBody>
      </p:sp>
      <p:sp>
        <p:nvSpPr>
          <p:cNvPr id="9" name="Shape 7"/>
          <p:cNvSpPr/>
          <p:nvPr/>
        </p:nvSpPr>
        <p:spPr>
          <a:xfrm>
            <a:off x="3337560" y="4160520"/>
            <a:ext cx="1325880" cy="457200"/>
          </a:xfrm>
          <a:prstGeom prst="roundRect">
            <a:avLst>
              <a:gd name="adj" fmla="val 16000"/>
            </a:avLst>
          </a:prstGeom>
          <a:solidFill>
            <a:srgbClr val="26326B"/>
          </a:solidFill>
          <a:ln w="12700">
            <a:solidFill>
              <a:srgbClr val="3E4A8C"/>
            </a:solidFill>
            <a:prstDash val="solid"/>
          </a:ln>
        </p:spPr>
      </p:sp>
      <p:sp>
        <p:nvSpPr>
          <p:cNvPr id="10" name="Text 8"/>
          <p:cNvSpPr/>
          <p:nvPr/>
        </p:nvSpPr>
        <p:spPr>
          <a:xfrm>
            <a:off x="3337560" y="4160520"/>
            <a:ext cx="1325880" cy="45720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PostgreSQL</a:t>
            </a:r>
            <a:endParaRPr lang="en-US" sz="1300" dirty="0"/>
          </a:p>
        </p:txBody>
      </p:sp>
      <p:sp>
        <p:nvSpPr>
          <p:cNvPr id="11" name="Shape 9"/>
          <p:cNvSpPr/>
          <p:nvPr/>
        </p:nvSpPr>
        <p:spPr>
          <a:xfrm>
            <a:off x="4846320" y="4160520"/>
            <a:ext cx="1225296" cy="457200"/>
          </a:xfrm>
          <a:prstGeom prst="roundRect">
            <a:avLst>
              <a:gd name="adj" fmla="val 16000"/>
            </a:avLst>
          </a:prstGeom>
          <a:solidFill>
            <a:srgbClr val="26326B"/>
          </a:solidFill>
          <a:ln w="12700">
            <a:solidFill>
              <a:srgbClr val="3E4A8C"/>
            </a:solidFill>
            <a:prstDash val="solid"/>
          </a:ln>
        </p:spPr>
      </p:sp>
      <p:sp>
        <p:nvSpPr>
          <p:cNvPr id="12" name="Text 10"/>
          <p:cNvSpPr/>
          <p:nvPr/>
        </p:nvSpPr>
        <p:spPr>
          <a:xfrm>
            <a:off x="4846320" y="4160520"/>
            <a:ext cx="1225296" cy="45720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Gemini AI</a:t>
            </a:r>
            <a:endParaRPr lang="en-US" sz="1300" dirty="0"/>
          </a:p>
        </p:txBody>
      </p:sp>
      <p:sp>
        <p:nvSpPr>
          <p:cNvPr id="13" name="Shape 11"/>
          <p:cNvSpPr/>
          <p:nvPr/>
        </p:nvSpPr>
        <p:spPr>
          <a:xfrm>
            <a:off x="9966960" y="822960"/>
            <a:ext cx="2011680" cy="2011680"/>
          </a:xfrm>
          <a:prstGeom prst="ellipse">
            <a:avLst/>
          </a:prstGeom>
          <a:solidFill>
            <a:srgbClr val="26326B"/>
          </a:solidFill>
          <a:ln/>
        </p:spPr>
      </p:sp>
      <p:sp>
        <p:nvSpPr>
          <p:cNvPr id="14" name="Shape 12"/>
          <p:cNvSpPr/>
          <p:nvPr/>
        </p:nvSpPr>
        <p:spPr>
          <a:xfrm>
            <a:off x="10515600" y="4206240"/>
            <a:ext cx="1280160" cy="1280160"/>
          </a:xfrm>
          <a:prstGeom prst="ellipse">
            <a:avLst/>
          </a:prstGeom>
          <a:solidFill>
            <a:srgbClr val="3E5CDB"/>
          </a:solidFill>
          <a:ln/>
        </p:spPr>
      </p:sp>
      <p:sp>
        <p:nvSpPr>
          <p:cNvPr id="15" name="Shape 13"/>
          <p:cNvSpPr/>
          <p:nvPr/>
        </p:nvSpPr>
        <p:spPr>
          <a:xfrm>
            <a:off x="11247120" y="2743200"/>
            <a:ext cx="548640" cy="548640"/>
          </a:xfrm>
          <a:prstGeom prst="ellipse">
            <a:avLst/>
          </a:prstGeom>
          <a:solidFill>
            <a:srgbClr val="CADCFC"/>
          </a:solidFill>
          <a:ln/>
        </p:spPr>
      </p:sp>
      <p:sp>
        <p:nvSpPr>
          <p:cNvPr id="16" name="Text 14"/>
          <p:cNvSpPr/>
          <p:nvPr/>
        </p:nvSpPr>
        <p:spPr>
          <a:xfrm>
            <a:off x="822960" y="6035040"/>
            <a:ext cx="5486400" cy="365760"/>
          </a:xfrm>
          <a:prstGeom prst="rect">
            <a:avLst/>
          </a:prstGeom>
          <a:noFill/>
          <a:ln/>
        </p:spPr>
        <p:txBody>
          <a:bodyPr wrap="square" lIns="0" tIns="0" rIns="0" bIns="0" rtlCol="0" anchor="ctr"/>
          <a:lstStyle/>
          <a:p>
            <a:pPr indent="0" marL="0">
              <a:buNone/>
            </a:pPr>
            <a:r>
              <a:rPr lang="en-US" sz="1200" dirty="0">
                <a:solidFill>
                  <a:srgbClr val="8C9AD1"/>
                </a:solidFill>
                <a:latin typeface="Calibri" pitchFamily="34" charset="0"/>
                <a:ea typeface="Calibri" pitchFamily="34" charset="-122"/>
                <a:cs typeface="Calibri" pitchFamily="34" charset="-120"/>
              </a:rPr>
              <a:t>Backend Engineering Update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515600" cy="64008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Why Qualification Engine?</a:t>
            </a:r>
            <a:endParaRPr lang="en-US" sz="3000" dirty="0"/>
          </a:p>
        </p:txBody>
      </p:sp>
      <p:sp>
        <p:nvSpPr>
          <p:cNvPr id="3" name="Text 1"/>
          <p:cNvSpPr/>
          <p:nvPr/>
        </p:nvSpPr>
        <p:spPr>
          <a:xfrm>
            <a:off x="640080" y="1051560"/>
            <a:ext cx="10058400" cy="365760"/>
          </a:xfrm>
          <a:prstGeom prst="rect">
            <a:avLst/>
          </a:prstGeom>
          <a:noFill/>
          <a:ln/>
        </p:spPr>
        <p:txBody>
          <a:bodyPr wrap="square" lIns="0" tIns="0" rIns="0" bIns="0" rtlCol="0" anchor="ctr"/>
          <a:lstStyle/>
          <a:p>
            <a:pPr indent="0" marL="0">
              <a:buNone/>
            </a:pPr>
            <a:r>
              <a:rPr lang="en-US" sz="1400" dirty="0">
                <a:solidFill>
                  <a:srgbClr val="5B6584"/>
                </a:solidFill>
                <a:latin typeface="Calibri" pitchFamily="34" charset="0"/>
                <a:ea typeface="Calibri" pitchFamily="34" charset="-122"/>
                <a:cs typeface="Calibri" pitchFamily="34" charset="-120"/>
              </a:rPr>
              <a:t>Turning raw lead data into a decision sales teams can act on</a:t>
            </a:r>
            <a:endParaRPr lang="en-US" sz="1400" dirty="0"/>
          </a:p>
        </p:txBody>
      </p:sp>
      <p:sp>
        <p:nvSpPr>
          <p:cNvPr id="4" name="Shape 2"/>
          <p:cNvSpPr/>
          <p:nvPr/>
        </p:nvSpPr>
        <p:spPr>
          <a:xfrm>
            <a:off x="640080" y="1828800"/>
            <a:ext cx="5074920" cy="4114800"/>
          </a:xfrm>
          <a:prstGeom prst="roundRect">
            <a:avLst>
              <a:gd name="adj" fmla="val 2667"/>
            </a:avLst>
          </a:prstGeom>
          <a:solidFill>
            <a:srgbClr val="F4F6FC"/>
          </a:solidFill>
          <a:ln/>
        </p:spPr>
      </p:sp>
      <p:sp>
        <p:nvSpPr>
          <p:cNvPr id="5" name="Shape 3"/>
          <p:cNvSpPr/>
          <p:nvPr/>
        </p:nvSpPr>
        <p:spPr>
          <a:xfrm>
            <a:off x="960120" y="2194560"/>
            <a:ext cx="548640" cy="548640"/>
          </a:xfrm>
          <a:prstGeom prst="ellipse">
            <a:avLst/>
          </a:prstGeom>
          <a:solidFill>
            <a:srgbClr val="E4E9F7"/>
          </a:solidFill>
          <a:ln/>
        </p:spPr>
      </p:sp>
      <p:sp>
        <p:nvSpPr>
          <p:cNvPr id="6" name="Text 4"/>
          <p:cNvSpPr/>
          <p:nvPr/>
        </p:nvSpPr>
        <p:spPr>
          <a:xfrm>
            <a:off x="960120" y="2194560"/>
            <a:ext cx="548640" cy="548640"/>
          </a:xfrm>
          <a:prstGeom prst="rect">
            <a:avLst/>
          </a:prstGeom>
          <a:noFill/>
          <a:ln/>
        </p:spPr>
        <p:txBody>
          <a:bodyPr wrap="square" lIns="0" tIns="0" rIns="0" bIns="0" rtlCol="0" anchor="ctr"/>
          <a:lstStyle/>
          <a:p>
            <a:pPr algn="ctr" indent="0" marL="0">
              <a:buNone/>
            </a:pPr>
            <a:r>
              <a:rPr lang="en-US" sz="1800" b="1" dirty="0">
                <a:solidFill>
                  <a:srgbClr val="1E2761"/>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691640" y="2212848"/>
            <a:ext cx="3657600" cy="502920"/>
          </a:xfrm>
          <a:prstGeom prst="rect">
            <a:avLst/>
          </a:prstGeom>
          <a:noFill/>
          <a:ln/>
        </p:spPr>
        <p:txBody>
          <a:bodyPr wrap="square" lIns="0" tIns="0" rIns="0" bIns="0" rtlCol="0" anchor="ctr"/>
          <a:lstStyle/>
          <a:p>
            <a:pPr indent="0" marL="0">
              <a:buNone/>
            </a:pPr>
            <a:r>
              <a:rPr lang="en-US" sz="2000" b="1" dirty="0">
                <a:solidFill>
                  <a:srgbClr val="1B1F3B"/>
                </a:solidFill>
                <a:latin typeface="Calibri" pitchFamily="34" charset="0"/>
                <a:ea typeface="Calibri" pitchFamily="34" charset="-122"/>
                <a:cs typeface="Calibri" pitchFamily="34" charset="-120"/>
              </a:rPr>
              <a:t>Problem</a:t>
            </a:r>
            <a:endParaRPr lang="en-US" sz="2000" dirty="0"/>
          </a:p>
        </p:txBody>
      </p:sp>
      <p:sp>
        <p:nvSpPr>
          <p:cNvPr id="8" name="Text 6"/>
          <p:cNvSpPr/>
          <p:nvPr/>
        </p:nvSpPr>
        <p:spPr>
          <a:xfrm>
            <a:off x="960120" y="2971800"/>
            <a:ext cx="4434840" cy="2651760"/>
          </a:xfrm>
          <a:prstGeom prst="rect">
            <a:avLst/>
          </a:prstGeom>
          <a:noFill/>
          <a:ln/>
        </p:spPr>
        <p:txBody>
          <a:bodyPr wrap="square" lIns="0" tIns="0" rIns="0" bIns="0" rtlCol="0" anchor="ctr"/>
          <a:lstStyle/>
          <a:p>
            <a:pPr algn="l" marL="342900" indent="-342900">
              <a:lnSpc>
                <a:spcPct val="125000"/>
              </a:lnSpc>
              <a:spcAft>
                <a:spcPts val="1400"/>
              </a:spcAft>
              <a:buSzPct val="100000"/>
              <a:buChar char="•"/>
            </a:pPr>
            <a:r>
              <a:rPr lang="en-US" sz="1450" dirty="0">
                <a:solidFill>
                  <a:srgbClr val="1B1F3B"/>
                </a:solidFill>
                <a:latin typeface="Calibri" pitchFamily="34" charset="0"/>
                <a:ea typeface="Calibri" pitchFamily="34" charset="-122"/>
                <a:cs typeface="Calibri" pitchFamily="34" charset="-120"/>
              </a:rPr>
              <a:t>Raw lead information alone cannot help sales teams decide which leads to prioritize.</a:t>
            </a:r>
            <a:endParaRPr lang="en-US" sz="1450" dirty="0"/>
          </a:p>
          <a:p>
            <a:pPr algn="l" marL="342900" indent="-342900">
              <a:lnSpc>
                <a:spcPct val="125000"/>
              </a:lnSpc>
              <a:buSzPct val="100000"/>
              <a:buChar char="•"/>
            </a:pPr>
            <a:r>
              <a:rPr lang="en-US" sz="1450" dirty="0">
                <a:solidFill>
                  <a:srgbClr val="1B1F3B"/>
                </a:solidFill>
                <a:latin typeface="Calibri" pitchFamily="34" charset="0"/>
                <a:ea typeface="Calibri" pitchFamily="34" charset="-122"/>
                <a:cs typeface="Calibri" pitchFamily="34" charset="-120"/>
              </a:rPr>
              <a:t>AI-generated insights need to be integrated with the backend before they can be displayed.</a:t>
            </a:r>
            <a:endParaRPr lang="en-US" sz="1450" dirty="0"/>
          </a:p>
        </p:txBody>
      </p:sp>
      <p:sp>
        <p:nvSpPr>
          <p:cNvPr id="9" name="Shape 7"/>
          <p:cNvSpPr/>
          <p:nvPr/>
        </p:nvSpPr>
        <p:spPr>
          <a:xfrm>
            <a:off x="6446520" y="1828800"/>
            <a:ext cx="5074920" cy="4114800"/>
          </a:xfrm>
          <a:prstGeom prst="roundRect">
            <a:avLst>
              <a:gd name="adj" fmla="val 2667"/>
            </a:avLst>
          </a:prstGeom>
          <a:solidFill>
            <a:srgbClr val="1E2761"/>
          </a:solidFill>
          <a:ln/>
        </p:spPr>
      </p:sp>
      <p:sp>
        <p:nvSpPr>
          <p:cNvPr id="10" name="Shape 8"/>
          <p:cNvSpPr/>
          <p:nvPr/>
        </p:nvSpPr>
        <p:spPr>
          <a:xfrm>
            <a:off x="6766560" y="2194560"/>
            <a:ext cx="548640" cy="548640"/>
          </a:xfrm>
          <a:prstGeom prst="ellipse">
            <a:avLst/>
          </a:prstGeom>
          <a:solidFill>
            <a:srgbClr val="3E5CDB"/>
          </a:solidFill>
          <a:ln/>
        </p:spPr>
      </p:sp>
      <p:sp>
        <p:nvSpPr>
          <p:cNvPr id="11" name="Text 9"/>
          <p:cNvSpPr/>
          <p:nvPr/>
        </p:nvSpPr>
        <p:spPr>
          <a:xfrm>
            <a:off x="6766560" y="2194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12" name="Text 10"/>
          <p:cNvSpPr/>
          <p:nvPr/>
        </p:nvSpPr>
        <p:spPr>
          <a:xfrm>
            <a:off x="7498080" y="2212848"/>
            <a:ext cx="36576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Solution</a:t>
            </a:r>
            <a:endParaRPr lang="en-US" sz="2000" dirty="0"/>
          </a:p>
        </p:txBody>
      </p:sp>
      <p:sp>
        <p:nvSpPr>
          <p:cNvPr id="13" name="Text 11"/>
          <p:cNvSpPr/>
          <p:nvPr/>
        </p:nvSpPr>
        <p:spPr>
          <a:xfrm>
            <a:off x="6766560" y="2971800"/>
            <a:ext cx="4434840" cy="2651760"/>
          </a:xfrm>
          <a:prstGeom prst="rect">
            <a:avLst/>
          </a:prstGeom>
          <a:noFill/>
          <a:ln/>
        </p:spPr>
        <p:txBody>
          <a:bodyPr wrap="square" lIns="0" tIns="0" rIns="0" bIns="0" rtlCol="0" anchor="ctr"/>
          <a:lstStyle/>
          <a:p>
            <a:pPr algn="l" marL="342900" indent="-342900">
              <a:lnSpc>
                <a:spcPct val="125000"/>
              </a:lnSpc>
              <a:spcAft>
                <a:spcPts val="1400"/>
              </a:spcAft>
              <a:buSzPct val="100000"/>
              <a:buChar char="•"/>
            </a:pPr>
            <a:r>
              <a:rPr lang="en-US" sz="1450" dirty="0">
                <a:solidFill>
                  <a:srgbClr val="CADCFC"/>
                </a:solidFill>
                <a:latin typeface="Calibri" pitchFamily="34" charset="0"/>
                <a:ea typeface="Calibri" pitchFamily="34" charset="-122"/>
                <a:cs typeface="Calibri" pitchFamily="34" charset="-120"/>
              </a:rPr>
              <a:t>Connected the AI qualification endpoint with the backend.</a:t>
            </a:r>
            <a:endParaRPr lang="en-US" sz="1450" dirty="0"/>
          </a:p>
          <a:p>
            <a:pPr algn="l" marL="342900" indent="-342900">
              <a:lnSpc>
                <a:spcPct val="125000"/>
              </a:lnSpc>
              <a:buSzPct val="100000"/>
              <a:buChar char="•"/>
            </a:pPr>
            <a:r>
              <a:rPr lang="en-US" sz="1450" dirty="0">
                <a:solidFill>
                  <a:srgbClr val="CADCFC"/>
                </a:solidFill>
                <a:latin typeface="Calibri" pitchFamily="34" charset="0"/>
                <a:ea typeface="Calibri" pitchFamily="34" charset="-122"/>
                <a:cs typeface="Calibri" pitchFamily="34" charset="-120"/>
              </a:rPr>
              <a:t>Designed a structured response model so the frontend receives standardized AI results.</a:t>
            </a:r>
            <a:endParaRPr lang="en-US" sz="1450" dirty="0"/>
          </a:p>
        </p:txBody>
      </p:sp>
      <p:sp>
        <p:nvSpPr>
          <p:cNvPr id="14" name="Text 12"/>
          <p:cNvSpPr/>
          <p:nvPr/>
        </p:nvSpPr>
        <p:spPr>
          <a:xfrm>
            <a:off x="457200" y="6537960"/>
            <a:ext cx="5486400" cy="274320"/>
          </a:xfrm>
          <a:prstGeom prst="rect">
            <a:avLst/>
          </a:prstGeom>
          <a:noFill/>
          <a:ln/>
        </p:spPr>
        <p:txBody>
          <a:bodyPr wrap="square" lIns="0" tIns="0" rIns="0" bIns="0" rtlCol="0" anchor="ctr"/>
          <a:lstStyle/>
          <a:p>
            <a:pPr algn="l" indent="0" marL="0">
              <a:buNone/>
            </a:pPr>
            <a:r>
              <a:rPr lang="en-US" sz="1000" dirty="0">
                <a:solidFill>
                  <a:srgbClr val="5B6584"/>
                </a:solidFill>
                <a:latin typeface="Calibri" pitchFamily="34" charset="0"/>
                <a:ea typeface="Calibri" pitchFamily="34" charset="-122"/>
                <a:cs typeface="Calibri" pitchFamily="34" charset="-120"/>
              </a:rPr>
              <a:t>Day 11 · Qualification Engine</a:t>
            </a:r>
            <a:endParaRPr lang="en-US" sz="1000" dirty="0"/>
          </a:p>
        </p:txBody>
      </p:sp>
      <p:sp>
        <p:nvSpPr>
          <p:cNvPr id="15" name="Text 13"/>
          <p:cNvSpPr/>
          <p:nvPr/>
        </p:nvSpPr>
        <p:spPr>
          <a:xfrm>
            <a:off x="11274552" y="6537960"/>
            <a:ext cx="457200" cy="274320"/>
          </a:xfrm>
          <a:prstGeom prst="rect">
            <a:avLst/>
          </a:prstGeom>
          <a:noFill/>
          <a:ln/>
        </p:spPr>
        <p:txBody>
          <a:bodyPr wrap="square" lIns="0" tIns="0" rIns="0" bIns="0" rtlCol="0" anchor="ctr"/>
          <a:lstStyle/>
          <a:p>
            <a:pPr algn="r" indent="0" marL="0">
              <a:buNone/>
            </a:pPr>
            <a:r>
              <a:rPr lang="en-US" sz="1000" dirty="0">
                <a:solidFill>
                  <a:srgbClr val="5B65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058400" cy="64008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Features Implemented</a:t>
            </a:r>
            <a:endParaRPr lang="en-US" sz="3000" dirty="0"/>
          </a:p>
        </p:txBody>
      </p:sp>
      <p:sp>
        <p:nvSpPr>
          <p:cNvPr id="3" name="Text 1"/>
          <p:cNvSpPr/>
          <p:nvPr/>
        </p:nvSpPr>
        <p:spPr>
          <a:xfrm>
            <a:off x="640080" y="1051560"/>
            <a:ext cx="10058400" cy="365760"/>
          </a:xfrm>
          <a:prstGeom prst="rect">
            <a:avLst/>
          </a:prstGeom>
          <a:noFill/>
          <a:ln/>
        </p:spPr>
        <p:txBody>
          <a:bodyPr wrap="square" lIns="0" tIns="0" rIns="0" bIns="0" rtlCol="0" anchor="ctr"/>
          <a:lstStyle/>
          <a:p>
            <a:pPr indent="0" marL="0">
              <a:buNone/>
            </a:pPr>
            <a:r>
              <a:rPr lang="en-US" sz="1400" dirty="0">
                <a:solidFill>
                  <a:srgbClr val="5B6584"/>
                </a:solidFill>
                <a:latin typeface="Calibri" pitchFamily="34" charset="0"/>
                <a:ea typeface="Calibri" pitchFamily="34" charset="-122"/>
                <a:cs typeface="Calibri" pitchFamily="34" charset="-120"/>
              </a:rPr>
              <a:t>Three pieces of backend work that make AI results usable downstream</a:t>
            </a:r>
            <a:endParaRPr lang="en-US" sz="1400" dirty="0"/>
          </a:p>
        </p:txBody>
      </p:sp>
      <p:sp>
        <p:nvSpPr>
          <p:cNvPr id="4" name="Shape 2"/>
          <p:cNvSpPr/>
          <p:nvPr/>
        </p:nvSpPr>
        <p:spPr>
          <a:xfrm>
            <a:off x="640080" y="1874520"/>
            <a:ext cx="3429000" cy="4023360"/>
          </a:xfrm>
          <a:prstGeom prst="roundRect">
            <a:avLst>
              <a:gd name="adj" fmla="val 3200"/>
            </a:avLst>
          </a:prstGeom>
          <a:solidFill>
            <a:srgbClr val="F4F6FC"/>
          </a:solidFill>
          <a:ln/>
        </p:spPr>
      </p:sp>
      <p:sp>
        <p:nvSpPr>
          <p:cNvPr id="5" name="Shape 3"/>
          <p:cNvSpPr/>
          <p:nvPr/>
        </p:nvSpPr>
        <p:spPr>
          <a:xfrm>
            <a:off x="960120" y="2194560"/>
            <a:ext cx="640080" cy="640080"/>
          </a:xfrm>
          <a:prstGeom prst="ellipse">
            <a:avLst/>
          </a:prstGeom>
          <a:solidFill>
            <a:srgbClr val="1E2761"/>
          </a:solidFill>
          <a:ln/>
        </p:spPr>
      </p:sp>
      <p:sp>
        <p:nvSpPr>
          <p:cNvPr id="6" name="Text 4"/>
          <p:cNvSpPr/>
          <p:nvPr/>
        </p:nvSpPr>
        <p:spPr>
          <a:xfrm>
            <a:off x="960120" y="2194560"/>
            <a:ext cx="640080" cy="640080"/>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a:t>
            </a:r>
            <a:endParaRPr lang="en-US" sz="2100" dirty="0"/>
          </a:p>
        </p:txBody>
      </p:sp>
      <p:sp>
        <p:nvSpPr>
          <p:cNvPr id="7" name="Text 5"/>
          <p:cNvSpPr/>
          <p:nvPr/>
        </p:nvSpPr>
        <p:spPr>
          <a:xfrm>
            <a:off x="914400" y="3017520"/>
            <a:ext cx="2880360" cy="548640"/>
          </a:xfrm>
          <a:prstGeom prst="rect">
            <a:avLst/>
          </a:prstGeom>
          <a:noFill/>
          <a:ln/>
        </p:spPr>
        <p:txBody>
          <a:bodyPr wrap="square" lIns="0" tIns="0" rIns="0" bIns="0" rtlCol="0" anchor="ctr"/>
          <a:lstStyle/>
          <a:p>
            <a:pPr indent="0" marL="0">
              <a:buNone/>
            </a:pPr>
            <a:r>
              <a:rPr lang="en-US" sz="1600" b="1" dirty="0">
                <a:solidFill>
                  <a:srgbClr val="1B1F3B"/>
                </a:solidFill>
                <a:latin typeface="Calibri" pitchFamily="34" charset="0"/>
                <a:ea typeface="Calibri" pitchFamily="34" charset="-122"/>
                <a:cs typeface="Calibri" pitchFamily="34" charset="-120"/>
              </a:rPr>
              <a:t>AI Endpoint Integration</a:t>
            </a:r>
            <a:endParaRPr lang="en-US" sz="1600" dirty="0"/>
          </a:p>
        </p:txBody>
      </p:sp>
      <p:sp>
        <p:nvSpPr>
          <p:cNvPr id="8" name="Text 6"/>
          <p:cNvSpPr/>
          <p:nvPr/>
        </p:nvSpPr>
        <p:spPr>
          <a:xfrm>
            <a:off x="914400" y="3611880"/>
            <a:ext cx="2880360" cy="2011680"/>
          </a:xfrm>
          <a:prstGeom prst="rect">
            <a:avLst/>
          </a:prstGeom>
          <a:noFill/>
          <a:ln/>
        </p:spPr>
        <p:txBody>
          <a:bodyPr wrap="square" lIns="0" tIns="0" rIns="0" bIns="0" rtlCol="0" anchor="ctr"/>
          <a:lstStyle/>
          <a:p>
            <a:pPr indent="0" marL="0">
              <a:lnSpc>
                <a:spcPct val="125000"/>
              </a:lnSpc>
              <a:buNone/>
            </a:pPr>
            <a:r>
              <a:rPr lang="en-US" sz="1250" dirty="0">
                <a:solidFill>
                  <a:srgbClr val="5B6584"/>
                </a:solidFill>
                <a:latin typeface="Calibri" pitchFamily="34" charset="0"/>
                <a:ea typeface="Calibri" pitchFamily="34" charset="-122"/>
                <a:cs typeface="Calibri" pitchFamily="34" charset="-120"/>
              </a:rPr>
              <a:t>Connected backend with the AI qualification service. Sent lead and company information for analysis.</a:t>
            </a:r>
            <a:endParaRPr lang="en-US" sz="1250" dirty="0"/>
          </a:p>
        </p:txBody>
      </p:sp>
      <p:sp>
        <p:nvSpPr>
          <p:cNvPr id="9" name="Shape 7"/>
          <p:cNvSpPr/>
          <p:nvPr/>
        </p:nvSpPr>
        <p:spPr>
          <a:xfrm>
            <a:off x="4389120" y="1874520"/>
            <a:ext cx="3429000" cy="4023360"/>
          </a:xfrm>
          <a:prstGeom prst="roundRect">
            <a:avLst>
              <a:gd name="adj" fmla="val 3200"/>
            </a:avLst>
          </a:prstGeom>
          <a:solidFill>
            <a:srgbClr val="F4F6FC"/>
          </a:solidFill>
          <a:ln/>
        </p:spPr>
      </p:sp>
      <p:sp>
        <p:nvSpPr>
          <p:cNvPr id="10" name="Shape 8"/>
          <p:cNvSpPr/>
          <p:nvPr/>
        </p:nvSpPr>
        <p:spPr>
          <a:xfrm>
            <a:off x="4709160" y="2194560"/>
            <a:ext cx="640080" cy="640080"/>
          </a:xfrm>
          <a:prstGeom prst="ellipse">
            <a:avLst/>
          </a:prstGeom>
          <a:solidFill>
            <a:srgbClr val="1E2761"/>
          </a:solidFill>
          <a:ln/>
        </p:spPr>
      </p:sp>
      <p:sp>
        <p:nvSpPr>
          <p:cNvPr id="11" name="Text 9"/>
          <p:cNvSpPr/>
          <p:nvPr/>
        </p:nvSpPr>
        <p:spPr>
          <a:xfrm>
            <a:off x="4709160" y="2194560"/>
            <a:ext cx="640080" cy="640080"/>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 }</a:t>
            </a:r>
            <a:endParaRPr lang="en-US" sz="2100" dirty="0"/>
          </a:p>
        </p:txBody>
      </p:sp>
      <p:sp>
        <p:nvSpPr>
          <p:cNvPr id="12" name="Text 10"/>
          <p:cNvSpPr/>
          <p:nvPr/>
        </p:nvSpPr>
        <p:spPr>
          <a:xfrm>
            <a:off x="4663440" y="3017520"/>
            <a:ext cx="2880360" cy="548640"/>
          </a:xfrm>
          <a:prstGeom prst="rect">
            <a:avLst/>
          </a:prstGeom>
          <a:noFill/>
          <a:ln/>
        </p:spPr>
        <p:txBody>
          <a:bodyPr wrap="square" lIns="0" tIns="0" rIns="0" bIns="0" rtlCol="0" anchor="ctr"/>
          <a:lstStyle/>
          <a:p>
            <a:pPr indent="0" marL="0">
              <a:buNone/>
            </a:pPr>
            <a:r>
              <a:rPr lang="en-US" sz="1600" b="1" dirty="0">
                <a:solidFill>
                  <a:srgbClr val="1B1F3B"/>
                </a:solidFill>
                <a:latin typeface="Calibri" pitchFamily="34" charset="0"/>
                <a:ea typeface="Calibri" pitchFamily="34" charset="-122"/>
                <a:cs typeface="Calibri" pitchFamily="34" charset="-120"/>
              </a:rPr>
              <a:t>Response Model</a:t>
            </a:r>
            <a:endParaRPr lang="en-US" sz="1600" dirty="0"/>
          </a:p>
        </p:txBody>
      </p:sp>
      <p:sp>
        <p:nvSpPr>
          <p:cNvPr id="13" name="Text 11"/>
          <p:cNvSpPr/>
          <p:nvPr/>
        </p:nvSpPr>
        <p:spPr>
          <a:xfrm>
            <a:off x="4663440" y="3611880"/>
            <a:ext cx="2880360" cy="2011680"/>
          </a:xfrm>
          <a:prstGeom prst="rect">
            <a:avLst/>
          </a:prstGeom>
          <a:noFill/>
          <a:ln/>
        </p:spPr>
        <p:txBody>
          <a:bodyPr wrap="square" lIns="0" tIns="0" rIns="0" bIns="0" rtlCol="0" anchor="ctr"/>
          <a:lstStyle/>
          <a:p>
            <a:pPr indent="0" marL="0">
              <a:lnSpc>
                <a:spcPct val="125000"/>
              </a:lnSpc>
              <a:buNone/>
            </a:pPr>
            <a:r>
              <a:rPr lang="en-US" sz="1250" dirty="0">
                <a:solidFill>
                  <a:srgbClr val="5B6584"/>
                </a:solidFill>
                <a:latin typeface="Calibri" pitchFamily="34" charset="0"/>
                <a:ea typeface="Calibri" pitchFamily="34" charset="-122"/>
                <a:cs typeface="Calibri" pitchFamily="34" charset="-120"/>
              </a:rPr>
              <a:t>Backend receives and returns:</a:t>
            </a:r>
            <a:endParaRPr lang="en-US" sz="1250" dirty="0"/>
          </a:p>
          <a:p>
            <a:pPr indent="0" marL="0">
              <a:lnSpc>
                <a:spcPct val="125000"/>
              </a:lnSpc>
              <a:buNone/>
            </a:pPr>
            <a:r>
              <a:rPr lang="en-US" sz="1250" dirty="0">
                <a:solidFill>
                  <a:srgbClr val="5B6584"/>
                </a:solidFill>
                <a:latin typeface="Calibri" pitchFamily="34" charset="0"/>
                <a:ea typeface="Calibri" pitchFamily="34" charset="-122"/>
                <a:cs typeface="Calibri" pitchFamily="34" charset="-120"/>
              </a:rPr>
              <a:t>Lead Score · Grade · Priority · AI Summary</a:t>
            </a:r>
            <a:endParaRPr lang="en-US" sz="1250" dirty="0"/>
          </a:p>
        </p:txBody>
      </p:sp>
      <p:sp>
        <p:nvSpPr>
          <p:cNvPr id="14" name="Shape 12"/>
          <p:cNvSpPr/>
          <p:nvPr/>
        </p:nvSpPr>
        <p:spPr>
          <a:xfrm>
            <a:off x="8138160" y="1874520"/>
            <a:ext cx="3429000" cy="4023360"/>
          </a:xfrm>
          <a:prstGeom prst="roundRect">
            <a:avLst>
              <a:gd name="adj" fmla="val 3200"/>
            </a:avLst>
          </a:prstGeom>
          <a:solidFill>
            <a:srgbClr val="F4F6FC"/>
          </a:solidFill>
          <a:ln/>
        </p:spPr>
      </p:sp>
      <p:sp>
        <p:nvSpPr>
          <p:cNvPr id="15" name="Shape 13"/>
          <p:cNvSpPr/>
          <p:nvPr/>
        </p:nvSpPr>
        <p:spPr>
          <a:xfrm>
            <a:off x="8458200" y="2194560"/>
            <a:ext cx="640080" cy="640080"/>
          </a:xfrm>
          <a:prstGeom prst="ellipse">
            <a:avLst/>
          </a:prstGeom>
          <a:solidFill>
            <a:srgbClr val="1E2761"/>
          </a:solidFill>
          <a:ln/>
        </p:spPr>
      </p:sp>
      <p:sp>
        <p:nvSpPr>
          <p:cNvPr id="16" name="Text 14"/>
          <p:cNvSpPr/>
          <p:nvPr/>
        </p:nvSpPr>
        <p:spPr>
          <a:xfrm>
            <a:off x="8458200" y="2194560"/>
            <a:ext cx="640080" cy="640080"/>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a:t>
            </a:r>
            <a:endParaRPr lang="en-US" sz="2100" dirty="0"/>
          </a:p>
        </p:txBody>
      </p:sp>
      <p:sp>
        <p:nvSpPr>
          <p:cNvPr id="17" name="Text 15"/>
          <p:cNvSpPr/>
          <p:nvPr/>
        </p:nvSpPr>
        <p:spPr>
          <a:xfrm>
            <a:off x="8412480" y="3017520"/>
            <a:ext cx="2880360" cy="548640"/>
          </a:xfrm>
          <a:prstGeom prst="rect">
            <a:avLst/>
          </a:prstGeom>
          <a:noFill/>
          <a:ln/>
        </p:spPr>
        <p:txBody>
          <a:bodyPr wrap="square" lIns="0" tIns="0" rIns="0" bIns="0" rtlCol="0" anchor="ctr"/>
          <a:lstStyle/>
          <a:p>
            <a:pPr indent="0" marL="0">
              <a:buNone/>
            </a:pPr>
            <a:r>
              <a:rPr lang="en-US" sz="1600" b="1" dirty="0">
                <a:solidFill>
                  <a:srgbClr val="1B1F3B"/>
                </a:solidFill>
                <a:latin typeface="Calibri" pitchFamily="34" charset="0"/>
                <a:ea typeface="Calibri" pitchFamily="34" charset="-122"/>
                <a:cs typeface="Calibri" pitchFamily="34" charset="-120"/>
              </a:rPr>
              <a:t>API Integration</a:t>
            </a:r>
            <a:endParaRPr lang="en-US" sz="1600" dirty="0"/>
          </a:p>
        </p:txBody>
      </p:sp>
      <p:sp>
        <p:nvSpPr>
          <p:cNvPr id="18" name="Text 16"/>
          <p:cNvSpPr/>
          <p:nvPr/>
        </p:nvSpPr>
        <p:spPr>
          <a:xfrm>
            <a:off x="8412480" y="3611880"/>
            <a:ext cx="2880360" cy="2011680"/>
          </a:xfrm>
          <a:prstGeom prst="rect">
            <a:avLst/>
          </a:prstGeom>
          <a:noFill/>
          <a:ln/>
        </p:spPr>
        <p:txBody>
          <a:bodyPr wrap="square" lIns="0" tIns="0" rIns="0" bIns="0" rtlCol="0" anchor="ctr"/>
          <a:lstStyle/>
          <a:p>
            <a:pPr indent="0" marL="0">
              <a:lnSpc>
                <a:spcPct val="125000"/>
              </a:lnSpc>
              <a:buNone/>
            </a:pPr>
            <a:r>
              <a:rPr lang="en-US" sz="1250" dirty="0">
                <a:solidFill>
                  <a:srgbClr val="5B6584"/>
                </a:solidFill>
                <a:latin typeface="Calibri" pitchFamily="34" charset="0"/>
                <a:ea typeface="Calibri" pitchFamily="34" charset="-122"/>
                <a:cs typeface="Calibri" pitchFamily="34" charset="-120"/>
              </a:rPr>
              <a:t>Standardized the API response format. Ensured smooth communication between AI, backend, and frontend.</a:t>
            </a:r>
            <a:endParaRPr lang="en-US" sz="1250" dirty="0"/>
          </a:p>
        </p:txBody>
      </p:sp>
      <p:sp>
        <p:nvSpPr>
          <p:cNvPr id="19" name="Text 17"/>
          <p:cNvSpPr/>
          <p:nvPr/>
        </p:nvSpPr>
        <p:spPr>
          <a:xfrm>
            <a:off x="457200" y="6537960"/>
            <a:ext cx="5486400" cy="274320"/>
          </a:xfrm>
          <a:prstGeom prst="rect">
            <a:avLst/>
          </a:prstGeom>
          <a:noFill/>
          <a:ln/>
        </p:spPr>
        <p:txBody>
          <a:bodyPr wrap="square" lIns="0" tIns="0" rIns="0" bIns="0" rtlCol="0" anchor="ctr"/>
          <a:lstStyle/>
          <a:p>
            <a:pPr algn="l" indent="0" marL="0">
              <a:buNone/>
            </a:pPr>
            <a:r>
              <a:rPr lang="en-US" sz="1000" dirty="0">
                <a:solidFill>
                  <a:srgbClr val="5B6584"/>
                </a:solidFill>
                <a:latin typeface="Calibri" pitchFamily="34" charset="0"/>
                <a:ea typeface="Calibri" pitchFamily="34" charset="-122"/>
                <a:cs typeface="Calibri" pitchFamily="34" charset="-120"/>
              </a:rPr>
              <a:t>Day 11 · Qualification Engine</a:t>
            </a:r>
            <a:endParaRPr lang="en-US" sz="1000" dirty="0"/>
          </a:p>
        </p:txBody>
      </p:sp>
      <p:sp>
        <p:nvSpPr>
          <p:cNvPr id="20" name="Text 18"/>
          <p:cNvSpPr/>
          <p:nvPr/>
        </p:nvSpPr>
        <p:spPr>
          <a:xfrm>
            <a:off x="11274552" y="6537960"/>
            <a:ext cx="457200" cy="274320"/>
          </a:xfrm>
          <a:prstGeom prst="rect">
            <a:avLst/>
          </a:prstGeom>
          <a:noFill/>
          <a:ln/>
        </p:spPr>
        <p:txBody>
          <a:bodyPr wrap="square" lIns="0" tIns="0" rIns="0" bIns="0" rtlCol="0" anchor="ctr"/>
          <a:lstStyle/>
          <a:p>
            <a:pPr algn="r" indent="0" marL="0">
              <a:buNone/>
            </a:pPr>
            <a:r>
              <a:rPr lang="en-US" sz="1000" dirty="0">
                <a:solidFill>
                  <a:srgbClr val="5B658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41148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System Workflow</a:t>
            </a:r>
            <a:endParaRPr lang="en-US" sz="3000" dirty="0"/>
          </a:p>
        </p:txBody>
      </p:sp>
      <p:sp>
        <p:nvSpPr>
          <p:cNvPr id="3" name="Text 1"/>
          <p:cNvSpPr/>
          <p:nvPr/>
        </p:nvSpPr>
        <p:spPr>
          <a:xfrm>
            <a:off x="640080" y="1005840"/>
            <a:ext cx="731520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From lead data to a dashboard-ready recommendation</a:t>
            </a:r>
            <a:endParaRPr lang="en-US" sz="1400" dirty="0"/>
          </a:p>
        </p:txBody>
      </p:sp>
      <p:sp>
        <p:nvSpPr>
          <p:cNvPr id="4" name="Shape 2"/>
          <p:cNvSpPr/>
          <p:nvPr/>
        </p:nvSpPr>
        <p:spPr>
          <a:xfrm>
            <a:off x="640080" y="1691640"/>
            <a:ext cx="7863840" cy="713232"/>
          </a:xfrm>
          <a:prstGeom prst="roundRect">
            <a:avLst>
              <a:gd name="adj" fmla="val 12821"/>
            </a:avLst>
          </a:prstGeom>
          <a:solidFill>
            <a:srgbClr val="26326B"/>
          </a:solidFill>
          <a:ln/>
        </p:spPr>
      </p:sp>
      <p:sp>
        <p:nvSpPr>
          <p:cNvPr id="5" name="Text 3"/>
          <p:cNvSpPr/>
          <p:nvPr/>
        </p:nvSpPr>
        <p:spPr>
          <a:xfrm>
            <a:off x="777240" y="1691640"/>
            <a:ext cx="502920" cy="713232"/>
          </a:xfrm>
          <a:prstGeom prst="rect">
            <a:avLst/>
          </a:prstGeom>
          <a:noFill/>
          <a:ln/>
        </p:spPr>
        <p:txBody>
          <a:bodyPr wrap="square" lIns="0" tIns="0" rIns="0" bIns="0" rtlCol="0" anchor="ctr"/>
          <a:lstStyle/>
          <a:p>
            <a:pPr algn="ctr" indent="0" marL="0">
              <a:buNone/>
            </a:pPr>
            <a:r>
              <a:rPr lang="en-US" sz="1800" b="1" dirty="0">
                <a:solidFill>
                  <a:srgbClr val="CADCFC"/>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417320" y="1746504"/>
            <a:ext cx="51206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Lead Information</a:t>
            </a:r>
            <a:endParaRPr lang="en-US" sz="1500" dirty="0"/>
          </a:p>
        </p:txBody>
      </p:sp>
      <p:sp>
        <p:nvSpPr>
          <p:cNvPr id="7" name="Text 5"/>
          <p:cNvSpPr/>
          <p:nvPr/>
        </p:nvSpPr>
        <p:spPr>
          <a:xfrm>
            <a:off x="1417320" y="2075688"/>
            <a:ext cx="6858000" cy="292608"/>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Raw lead + company data</a:t>
            </a:r>
            <a:endParaRPr lang="en-US" sz="1150" dirty="0"/>
          </a:p>
        </p:txBody>
      </p:sp>
      <p:sp>
        <p:nvSpPr>
          <p:cNvPr id="8" name="Text 6"/>
          <p:cNvSpPr/>
          <p:nvPr/>
        </p:nvSpPr>
        <p:spPr>
          <a:xfrm>
            <a:off x="896112" y="2404872"/>
            <a:ext cx="365760" cy="182880"/>
          </a:xfrm>
          <a:prstGeom prst="rect">
            <a:avLst/>
          </a:prstGeom>
          <a:noFill/>
          <a:ln/>
        </p:spPr>
        <p:txBody>
          <a:bodyPr wrap="square" lIns="0" tIns="0" rIns="0" bIns="0" rtlCol="0" anchor="ctr"/>
          <a:lstStyle/>
          <a:p>
            <a:pPr algn="ctr" indent="0" marL="0">
              <a:buNone/>
            </a:pPr>
            <a:r>
              <a:rPr lang="en-US" sz="1600" dirty="0">
                <a:solidFill>
                  <a:srgbClr val="CADCFC"/>
                </a:solidFill>
                <a:latin typeface="Arial" pitchFamily="34" charset="0"/>
                <a:ea typeface="Arial" pitchFamily="34" charset="-122"/>
                <a:cs typeface="Arial" pitchFamily="34" charset="-120"/>
              </a:rPr>
              <a:t>↓</a:t>
            </a:r>
            <a:endParaRPr lang="en-US" sz="1600" dirty="0"/>
          </a:p>
        </p:txBody>
      </p:sp>
      <p:sp>
        <p:nvSpPr>
          <p:cNvPr id="9" name="Shape 7"/>
          <p:cNvSpPr/>
          <p:nvPr/>
        </p:nvSpPr>
        <p:spPr>
          <a:xfrm>
            <a:off x="640080" y="2587752"/>
            <a:ext cx="7863840" cy="713232"/>
          </a:xfrm>
          <a:prstGeom prst="roundRect">
            <a:avLst>
              <a:gd name="adj" fmla="val 12821"/>
            </a:avLst>
          </a:prstGeom>
          <a:solidFill>
            <a:srgbClr val="26326B"/>
          </a:solidFill>
          <a:ln/>
        </p:spPr>
      </p:sp>
      <p:sp>
        <p:nvSpPr>
          <p:cNvPr id="10" name="Text 8"/>
          <p:cNvSpPr/>
          <p:nvPr/>
        </p:nvSpPr>
        <p:spPr>
          <a:xfrm>
            <a:off x="777240" y="2587752"/>
            <a:ext cx="502920" cy="713232"/>
          </a:xfrm>
          <a:prstGeom prst="rect">
            <a:avLst/>
          </a:prstGeom>
          <a:noFill/>
          <a:ln/>
        </p:spPr>
        <p:txBody>
          <a:bodyPr wrap="square" lIns="0" tIns="0" rIns="0" bIns="0" rtlCol="0" anchor="ctr"/>
          <a:lstStyle/>
          <a:p>
            <a:pPr algn="ctr" indent="0" marL="0">
              <a:buNone/>
            </a:pPr>
            <a:r>
              <a:rPr lang="en-US" sz="1800" b="1" dirty="0">
                <a:solidFill>
                  <a:srgbClr val="CADCFC"/>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1417320" y="2642616"/>
            <a:ext cx="51206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Qualification API</a:t>
            </a:r>
            <a:endParaRPr lang="en-US" sz="1500" dirty="0"/>
          </a:p>
        </p:txBody>
      </p:sp>
      <p:sp>
        <p:nvSpPr>
          <p:cNvPr id="12" name="Text 10"/>
          <p:cNvSpPr/>
          <p:nvPr/>
        </p:nvSpPr>
        <p:spPr>
          <a:xfrm>
            <a:off x="1417320" y="2971800"/>
            <a:ext cx="6858000" cy="292608"/>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Backend receives request</a:t>
            </a:r>
            <a:endParaRPr lang="en-US" sz="1150" dirty="0"/>
          </a:p>
        </p:txBody>
      </p:sp>
      <p:sp>
        <p:nvSpPr>
          <p:cNvPr id="13" name="Text 11"/>
          <p:cNvSpPr/>
          <p:nvPr/>
        </p:nvSpPr>
        <p:spPr>
          <a:xfrm>
            <a:off x="896112" y="3300984"/>
            <a:ext cx="365760" cy="182880"/>
          </a:xfrm>
          <a:prstGeom prst="rect">
            <a:avLst/>
          </a:prstGeom>
          <a:noFill/>
          <a:ln/>
        </p:spPr>
        <p:txBody>
          <a:bodyPr wrap="square" lIns="0" tIns="0" rIns="0" bIns="0" rtlCol="0" anchor="ctr"/>
          <a:lstStyle/>
          <a:p>
            <a:pPr algn="ctr" indent="0" marL="0">
              <a:buNone/>
            </a:pPr>
            <a:r>
              <a:rPr lang="en-US" sz="1600" dirty="0">
                <a:solidFill>
                  <a:srgbClr val="CADCFC"/>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640080" y="3483864"/>
            <a:ext cx="7863840" cy="713232"/>
          </a:xfrm>
          <a:prstGeom prst="roundRect">
            <a:avLst>
              <a:gd name="adj" fmla="val 12821"/>
            </a:avLst>
          </a:prstGeom>
          <a:solidFill>
            <a:srgbClr val="3E5CDB"/>
          </a:solidFill>
          <a:ln/>
        </p:spPr>
      </p:sp>
      <p:sp>
        <p:nvSpPr>
          <p:cNvPr id="15" name="Text 13"/>
          <p:cNvSpPr/>
          <p:nvPr/>
        </p:nvSpPr>
        <p:spPr>
          <a:xfrm>
            <a:off x="777240" y="3483864"/>
            <a:ext cx="502920" cy="71323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1417320" y="3538728"/>
            <a:ext cx="51206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Gemini AI Analysis</a:t>
            </a:r>
            <a:endParaRPr lang="en-US" sz="1500" dirty="0"/>
          </a:p>
        </p:txBody>
      </p:sp>
      <p:sp>
        <p:nvSpPr>
          <p:cNvPr id="17" name="Text 15"/>
          <p:cNvSpPr/>
          <p:nvPr/>
        </p:nvSpPr>
        <p:spPr>
          <a:xfrm>
            <a:off x="1417320" y="3867912"/>
            <a:ext cx="6858000" cy="292608"/>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AI evaluates the lead</a:t>
            </a:r>
            <a:endParaRPr lang="en-US" sz="1150" dirty="0"/>
          </a:p>
        </p:txBody>
      </p:sp>
      <p:sp>
        <p:nvSpPr>
          <p:cNvPr id="18" name="Text 16"/>
          <p:cNvSpPr/>
          <p:nvPr/>
        </p:nvSpPr>
        <p:spPr>
          <a:xfrm>
            <a:off x="896112" y="4197096"/>
            <a:ext cx="365760" cy="182880"/>
          </a:xfrm>
          <a:prstGeom prst="rect">
            <a:avLst/>
          </a:prstGeom>
          <a:noFill/>
          <a:ln/>
        </p:spPr>
        <p:txBody>
          <a:bodyPr wrap="square" lIns="0" tIns="0" rIns="0" bIns="0" rtlCol="0" anchor="ctr"/>
          <a:lstStyle/>
          <a:p>
            <a:pPr algn="ctr" indent="0" marL="0">
              <a:buNone/>
            </a:pPr>
            <a:r>
              <a:rPr lang="en-US" sz="1600" dirty="0">
                <a:solidFill>
                  <a:srgbClr val="CADCFC"/>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640080" y="4379976"/>
            <a:ext cx="7863840" cy="713232"/>
          </a:xfrm>
          <a:prstGeom prst="roundRect">
            <a:avLst>
              <a:gd name="adj" fmla="val 12821"/>
            </a:avLst>
          </a:prstGeom>
          <a:solidFill>
            <a:srgbClr val="26326B"/>
          </a:solidFill>
          <a:ln/>
        </p:spPr>
      </p:sp>
      <p:sp>
        <p:nvSpPr>
          <p:cNvPr id="20" name="Text 18"/>
          <p:cNvSpPr/>
          <p:nvPr/>
        </p:nvSpPr>
        <p:spPr>
          <a:xfrm>
            <a:off x="777240" y="4379976"/>
            <a:ext cx="502920" cy="713232"/>
          </a:xfrm>
          <a:prstGeom prst="rect">
            <a:avLst/>
          </a:prstGeom>
          <a:noFill/>
          <a:ln/>
        </p:spPr>
        <p:txBody>
          <a:bodyPr wrap="square" lIns="0" tIns="0" rIns="0" bIns="0" rtlCol="0" anchor="ctr"/>
          <a:lstStyle/>
          <a:p>
            <a:pPr algn="ctr" indent="0" marL="0">
              <a:buNone/>
            </a:pPr>
            <a:r>
              <a:rPr lang="en-US" sz="1800" b="1" dirty="0">
                <a:solidFill>
                  <a:srgbClr val="CADCFC"/>
                </a:solidFill>
                <a:latin typeface="Calibri" pitchFamily="34" charset="0"/>
                <a:ea typeface="Calibri" pitchFamily="34" charset="-122"/>
                <a:cs typeface="Calibri" pitchFamily="34" charset="-120"/>
              </a:rPr>
              <a:t>4</a:t>
            </a:r>
            <a:endParaRPr lang="en-US" sz="1800" dirty="0"/>
          </a:p>
        </p:txBody>
      </p:sp>
      <p:sp>
        <p:nvSpPr>
          <p:cNvPr id="21" name="Text 19"/>
          <p:cNvSpPr/>
          <p:nvPr/>
        </p:nvSpPr>
        <p:spPr>
          <a:xfrm>
            <a:off x="1417320" y="4434840"/>
            <a:ext cx="51206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Backend Response Model</a:t>
            </a:r>
            <a:endParaRPr lang="en-US" sz="1500" dirty="0"/>
          </a:p>
        </p:txBody>
      </p:sp>
      <p:sp>
        <p:nvSpPr>
          <p:cNvPr id="22" name="Text 20"/>
          <p:cNvSpPr/>
          <p:nvPr/>
        </p:nvSpPr>
        <p:spPr>
          <a:xfrm>
            <a:off x="1417320" y="4764024"/>
            <a:ext cx="6858000" cy="292608"/>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Score · Grade · Priority · Summary</a:t>
            </a:r>
            <a:endParaRPr lang="en-US" sz="1150" dirty="0"/>
          </a:p>
        </p:txBody>
      </p:sp>
      <p:sp>
        <p:nvSpPr>
          <p:cNvPr id="23" name="Text 21"/>
          <p:cNvSpPr/>
          <p:nvPr/>
        </p:nvSpPr>
        <p:spPr>
          <a:xfrm>
            <a:off x="896112" y="5093208"/>
            <a:ext cx="365760" cy="182880"/>
          </a:xfrm>
          <a:prstGeom prst="rect">
            <a:avLst/>
          </a:prstGeom>
          <a:noFill/>
          <a:ln/>
        </p:spPr>
        <p:txBody>
          <a:bodyPr wrap="square" lIns="0" tIns="0" rIns="0" bIns="0" rtlCol="0" anchor="ctr"/>
          <a:lstStyle/>
          <a:p>
            <a:pPr algn="ctr" indent="0" marL="0">
              <a:buNone/>
            </a:pPr>
            <a:r>
              <a:rPr lang="en-US" sz="1600" dirty="0">
                <a:solidFill>
                  <a:srgbClr val="CADCFC"/>
                </a:solidFill>
                <a:latin typeface="Arial" pitchFamily="34" charset="0"/>
                <a:ea typeface="Arial" pitchFamily="34" charset="-122"/>
                <a:cs typeface="Arial" pitchFamily="34" charset="-120"/>
              </a:rPr>
              <a:t>↓</a:t>
            </a:r>
            <a:endParaRPr lang="en-US" sz="1600" dirty="0"/>
          </a:p>
        </p:txBody>
      </p:sp>
      <p:sp>
        <p:nvSpPr>
          <p:cNvPr id="24" name="Shape 22"/>
          <p:cNvSpPr/>
          <p:nvPr/>
        </p:nvSpPr>
        <p:spPr>
          <a:xfrm>
            <a:off x="640080" y="5276088"/>
            <a:ext cx="7863840" cy="713232"/>
          </a:xfrm>
          <a:prstGeom prst="roundRect">
            <a:avLst>
              <a:gd name="adj" fmla="val 12821"/>
            </a:avLst>
          </a:prstGeom>
          <a:solidFill>
            <a:srgbClr val="26326B"/>
          </a:solidFill>
          <a:ln/>
        </p:spPr>
      </p:sp>
      <p:sp>
        <p:nvSpPr>
          <p:cNvPr id="25" name="Text 23"/>
          <p:cNvSpPr/>
          <p:nvPr/>
        </p:nvSpPr>
        <p:spPr>
          <a:xfrm>
            <a:off x="777240" y="5276088"/>
            <a:ext cx="502920" cy="713232"/>
          </a:xfrm>
          <a:prstGeom prst="rect">
            <a:avLst/>
          </a:prstGeom>
          <a:noFill/>
          <a:ln/>
        </p:spPr>
        <p:txBody>
          <a:bodyPr wrap="square" lIns="0" tIns="0" rIns="0" bIns="0" rtlCol="0" anchor="ctr"/>
          <a:lstStyle/>
          <a:p>
            <a:pPr algn="ctr" indent="0" marL="0">
              <a:buNone/>
            </a:pPr>
            <a:r>
              <a:rPr lang="en-US" sz="1800" b="1" dirty="0">
                <a:solidFill>
                  <a:srgbClr val="CADCFC"/>
                </a:solidFill>
                <a:latin typeface="Calibri" pitchFamily="34" charset="0"/>
                <a:ea typeface="Calibri" pitchFamily="34" charset="-122"/>
                <a:cs typeface="Calibri" pitchFamily="34" charset="-120"/>
              </a:rPr>
              <a:t>5</a:t>
            </a:r>
            <a:endParaRPr lang="en-US" sz="1800" dirty="0"/>
          </a:p>
        </p:txBody>
      </p:sp>
      <p:sp>
        <p:nvSpPr>
          <p:cNvPr id="26" name="Text 24"/>
          <p:cNvSpPr/>
          <p:nvPr/>
        </p:nvSpPr>
        <p:spPr>
          <a:xfrm>
            <a:off x="1417320" y="5330952"/>
            <a:ext cx="51206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Frontend Dashboard</a:t>
            </a:r>
            <a:endParaRPr lang="en-US" sz="1500" dirty="0"/>
          </a:p>
        </p:txBody>
      </p:sp>
      <p:sp>
        <p:nvSpPr>
          <p:cNvPr id="27" name="Text 25"/>
          <p:cNvSpPr/>
          <p:nvPr/>
        </p:nvSpPr>
        <p:spPr>
          <a:xfrm>
            <a:off x="1417320" y="5660136"/>
            <a:ext cx="6858000" cy="292608"/>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Sales team sees results</a:t>
            </a:r>
            <a:endParaRPr lang="en-US" sz="1150" dirty="0"/>
          </a:p>
        </p:txBody>
      </p:sp>
      <p:sp>
        <p:nvSpPr>
          <p:cNvPr id="28" name="Shape 26"/>
          <p:cNvSpPr/>
          <p:nvPr/>
        </p:nvSpPr>
        <p:spPr>
          <a:xfrm>
            <a:off x="8915400" y="1691640"/>
            <a:ext cx="2651760" cy="4297680"/>
          </a:xfrm>
          <a:prstGeom prst="roundRect">
            <a:avLst>
              <a:gd name="adj" fmla="val 4138"/>
            </a:avLst>
          </a:prstGeom>
          <a:solidFill>
            <a:srgbClr val="26326B"/>
          </a:solidFill>
          <a:ln/>
        </p:spPr>
      </p:sp>
      <p:sp>
        <p:nvSpPr>
          <p:cNvPr id="29" name="Text 27"/>
          <p:cNvSpPr/>
          <p:nvPr/>
        </p:nvSpPr>
        <p:spPr>
          <a:xfrm>
            <a:off x="9189720" y="1920240"/>
            <a:ext cx="214884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Response Model Output</a:t>
            </a:r>
            <a:endParaRPr lang="en-US" sz="1300" dirty="0"/>
          </a:p>
        </p:txBody>
      </p:sp>
      <p:sp>
        <p:nvSpPr>
          <p:cNvPr id="30" name="Shape 28"/>
          <p:cNvSpPr/>
          <p:nvPr/>
        </p:nvSpPr>
        <p:spPr>
          <a:xfrm>
            <a:off x="9189720" y="2560320"/>
            <a:ext cx="128016" cy="128016"/>
          </a:xfrm>
          <a:prstGeom prst="ellipse">
            <a:avLst/>
          </a:prstGeom>
          <a:solidFill>
            <a:srgbClr val="CADCFC"/>
          </a:solidFill>
          <a:ln/>
        </p:spPr>
      </p:sp>
      <p:sp>
        <p:nvSpPr>
          <p:cNvPr id="31" name="Text 29"/>
          <p:cNvSpPr/>
          <p:nvPr/>
        </p:nvSpPr>
        <p:spPr>
          <a:xfrm>
            <a:off x="9418320" y="2441448"/>
            <a:ext cx="201168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Lead Score</a:t>
            </a:r>
            <a:endParaRPr lang="en-US" sz="1300" dirty="0"/>
          </a:p>
        </p:txBody>
      </p:sp>
      <p:sp>
        <p:nvSpPr>
          <p:cNvPr id="32" name="Shape 30"/>
          <p:cNvSpPr/>
          <p:nvPr/>
        </p:nvSpPr>
        <p:spPr>
          <a:xfrm>
            <a:off x="9189720" y="3337560"/>
            <a:ext cx="128016" cy="128016"/>
          </a:xfrm>
          <a:prstGeom prst="ellipse">
            <a:avLst/>
          </a:prstGeom>
          <a:solidFill>
            <a:srgbClr val="CADCFC"/>
          </a:solidFill>
          <a:ln/>
        </p:spPr>
      </p:sp>
      <p:sp>
        <p:nvSpPr>
          <p:cNvPr id="33" name="Text 31"/>
          <p:cNvSpPr/>
          <p:nvPr/>
        </p:nvSpPr>
        <p:spPr>
          <a:xfrm>
            <a:off x="9418320" y="3218688"/>
            <a:ext cx="201168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Grade</a:t>
            </a:r>
            <a:endParaRPr lang="en-US" sz="1300" dirty="0"/>
          </a:p>
        </p:txBody>
      </p:sp>
      <p:sp>
        <p:nvSpPr>
          <p:cNvPr id="34" name="Shape 32"/>
          <p:cNvSpPr/>
          <p:nvPr/>
        </p:nvSpPr>
        <p:spPr>
          <a:xfrm>
            <a:off x="9189720" y="4114800"/>
            <a:ext cx="128016" cy="128016"/>
          </a:xfrm>
          <a:prstGeom prst="ellipse">
            <a:avLst/>
          </a:prstGeom>
          <a:solidFill>
            <a:srgbClr val="CADCFC"/>
          </a:solidFill>
          <a:ln/>
        </p:spPr>
      </p:sp>
      <p:sp>
        <p:nvSpPr>
          <p:cNvPr id="35" name="Text 33"/>
          <p:cNvSpPr/>
          <p:nvPr/>
        </p:nvSpPr>
        <p:spPr>
          <a:xfrm>
            <a:off x="9418320" y="3995928"/>
            <a:ext cx="201168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Priority</a:t>
            </a:r>
            <a:endParaRPr lang="en-US" sz="1300" dirty="0"/>
          </a:p>
        </p:txBody>
      </p:sp>
      <p:sp>
        <p:nvSpPr>
          <p:cNvPr id="36" name="Shape 34"/>
          <p:cNvSpPr/>
          <p:nvPr/>
        </p:nvSpPr>
        <p:spPr>
          <a:xfrm>
            <a:off x="9189720" y="4892040"/>
            <a:ext cx="128016" cy="128016"/>
          </a:xfrm>
          <a:prstGeom prst="ellipse">
            <a:avLst/>
          </a:prstGeom>
          <a:solidFill>
            <a:srgbClr val="CADCFC"/>
          </a:solidFill>
          <a:ln/>
        </p:spPr>
      </p:sp>
      <p:sp>
        <p:nvSpPr>
          <p:cNvPr id="37" name="Text 35"/>
          <p:cNvSpPr/>
          <p:nvPr/>
        </p:nvSpPr>
        <p:spPr>
          <a:xfrm>
            <a:off x="9418320" y="4773168"/>
            <a:ext cx="201168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AI Summary</a:t>
            </a:r>
            <a:endParaRPr lang="en-US" sz="1300" dirty="0"/>
          </a:p>
        </p:txBody>
      </p:sp>
      <p:sp>
        <p:nvSpPr>
          <p:cNvPr id="38" name="Text 36"/>
          <p:cNvSpPr/>
          <p:nvPr/>
        </p:nvSpPr>
        <p:spPr>
          <a:xfrm>
            <a:off x="457200" y="6537960"/>
            <a:ext cx="5486400" cy="274320"/>
          </a:xfrm>
          <a:prstGeom prst="rect">
            <a:avLst/>
          </a:prstGeom>
          <a:noFill/>
          <a:ln/>
        </p:spPr>
        <p:txBody>
          <a:bodyPr wrap="square" lIns="0" tIns="0" rIns="0" bIns="0" rtlCol="0" anchor="ctr"/>
          <a:lstStyle/>
          <a:p>
            <a:pPr algn="l" indent="0" marL="0">
              <a:buNone/>
            </a:pPr>
            <a:r>
              <a:rPr lang="en-US" sz="1000" dirty="0">
                <a:solidFill>
                  <a:srgbClr val="5B6584"/>
                </a:solidFill>
                <a:latin typeface="Calibri" pitchFamily="34" charset="0"/>
                <a:ea typeface="Calibri" pitchFamily="34" charset="-122"/>
                <a:cs typeface="Calibri" pitchFamily="34" charset="-120"/>
              </a:rPr>
              <a:t>Day 11 · Qualification Engine</a:t>
            </a:r>
            <a:endParaRPr lang="en-US" sz="1000" dirty="0"/>
          </a:p>
        </p:txBody>
      </p:sp>
      <p:sp>
        <p:nvSpPr>
          <p:cNvPr id="39" name="Text 37"/>
          <p:cNvSpPr/>
          <p:nvPr/>
        </p:nvSpPr>
        <p:spPr>
          <a:xfrm>
            <a:off x="11274552" y="6537960"/>
            <a:ext cx="457200" cy="274320"/>
          </a:xfrm>
          <a:prstGeom prst="rect">
            <a:avLst/>
          </a:prstGeom>
          <a:noFill/>
          <a:ln/>
        </p:spPr>
        <p:txBody>
          <a:bodyPr wrap="square" lIns="0" tIns="0" rIns="0" bIns="0" rtlCol="0" anchor="ctr"/>
          <a:lstStyle/>
          <a:p>
            <a:pPr algn="r" indent="0" marL="0">
              <a:buNone/>
            </a:pPr>
            <a:r>
              <a:rPr lang="en-US" sz="1000" dirty="0">
                <a:solidFill>
                  <a:srgbClr val="5B658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058400" cy="64008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Team Contributions</a:t>
            </a:r>
            <a:endParaRPr lang="en-US" sz="3000" dirty="0"/>
          </a:p>
        </p:txBody>
      </p:sp>
      <p:sp>
        <p:nvSpPr>
          <p:cNvPr id="3" name="Text 1"/>
          <p:cNvSpPr/>
          <p:nvPr/>
        </p:nvSpPr>
        <p:spPr>
          <a:xfrm>
            <a:off x="640080" y="1051560"/>
            <a:ext cx="10058400" cy="365760"/>
          </a:xfrm>
          <a:prstGeom prst="rect">
            <a:avLst/>
          </a:prstGeom>
          <a:noFill/>
          <a:ln/>
        </p:spPr>
        <p:txBody>
          <a:bodyPr wrap="square" lIns="0" tIns="0" rIns="0" bIns="0" rtlCol="0" anchor="ctr"/>
          <a:lstStyle/>
          <a:p>
            <a:pPr indent="0" marL="0">
              <a:buNone/>
            </a:pPr>
            <a:r>
              <a:rPr lang="en-US" sz="1400" dirty="0">
                <a:solidFill>
                  <a:srgbClr val="5B6584"/>
                </a:solidFill>
                <a:latin typeface="Calibri" pitchFamily="34" charset="0"/>
                <a:ea typeface="Calibri" pitchFamily="34" charset="-122"/>
                <a:cs typeface="Calibri" pitchFamily="34" charset="-120"/>
              </a:rPr>
              <a:t>Day 11 was a cross-functional effort</a:t>
            </a:r>
            <a:endParaRPr lang="en-US" sz="1400" dirty="0"/>
          </a:p>
        </p:txBody>
      </p:sp>
      <p:sp>
        <p:nvSpPr>
          <p:cNvPr id="4" name="Shape 2"/>
          <p:cNvSpPr/>
          <p:nvPr/>
        </p:nvSpPr>
        <p:spPr>
          <a:xfrm>
            <a:off x="640080" y="1874520"/>
            <a:ext cx="2514600" cy="4023360"/>
          </a:xfrm>
          <a:prstGeom prst="roundRect">
            <a:avLst>
              <a:gd name="adj" fmla="val 4364"/>
            </a:avLst>
          </a:prstGeom>
          <a:solidFill>
            <a:srgbClr val="1E2761"/>
          </a:solidFill>
          <a:ln/>
        </p:spPr>
      </p:sp>
      <p:sp>
        <p:nvSpPr>
          <p:cNvPr id="5" name="Shape 3"/>
          <p:cNvSpPr/>
          <p:nvPr/>
        </p:nvSpPr>
        <p:spPr>
          <a:xfrm>
            <a:off x="914400" y="2167128"/>
            <a:ext cx="502920" cy="502920"/>
          </a:xfrm>
          <a:prstGeom prst="ellipse">
            <a:avLst/>
          </a:prstGeom>
          <a:solidFill>
            <a:srgbClr val="3E5CDB"/>
          </a:solidFill>
          <a:ln/>
        </p:spPr>
      </p:sp>
      <p:sp>
        <p:nvSpPr>
          <p:cNvPr id="6" name="Text 4"/>
          <p:cNvSpPr/>
          <p:nvPr/>
        </p:nvSpPr>
        <p:spPr>
          <a:xfrm>
            <a:off x="914400" y="2167128"/>
            <a:ext cx="502920"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Arial" pitchFamily="34" charset="0"/>
                <a:ea typeface="Arial" pitchFamily="34" charset="-122"/>
                <a:cs typeface="Arial" pitchFamily="34" charset="-120"/>
              </a:rPr>
              <a:t>B</a:t>
            </a:r>
            <a:endParaRPr lang="en-US" sz="1650" dirty="0"/>
          </a:p>
        </p:txBody>
      </p:sp>
      <p:sp>
        <p:nvSpPr>
          <p:cNvPr id="7" name="Text 5"/>
          <p:cNvSpPr/>
          <p:nvPr/>
        </p:nvSpPr>
        <p:spPr>
          <a:xfrm>
            <a:off x="868680" y="2834640"/>
            <a:ext cx="2057400" cy="5486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Backend (My Work)</a:t>
            </a:r>
            <a:endParaRPr lang="en-US" sz="1400" dirty="0"/>
          </a:p>
        </p:txBody>
      </p:sp>
      <p:sp>
        <p:nvSpPr>
          <p:cNvPr id="8" name="Text 6"/>
          <p:cNvSpPr/>
          <p:nvPr/>
        </p:nvSpPr>
        <p:spPr>
          <a:xfrm>
            <a:off x="868680" y="3429000"/>
            <a:ext cx="2057400" cy="219456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100" dirty="0">
                <a:solidFill>
                  <a:srgbClr val="CADCFC"/>
                </a:solidFill>
                <a:latin typeface="Calibri" pitchFamily="34" charset="0"/>
                <a:ea typeface="Calibri" pitchFamily="34" charset="-122"/>
                <a:cs typeface="Calibri" pitchFamily="34" charset="-120"/>
              </a:rPr>
              <a:t>Connected AI Score Endpoint</a:t>
            </a:r>
            <a:endParaRPr lang="en-US" sz="1100" dirty="0"/>
          </a:p>
          <a:p>
            <a:pPr marL="342900" indent="-342900">
              <a:lnSpc>
                <a:spcPct val="120000"/>
              </a:lnSpc>
              <a:spcAft>
                <a:spcPts val="800"/>
              </a:spcAft>
              <a:buSzPct val="100000"/>
              <a:buChar char="•"/>
            </a:pPr>
            <a:r>
              <a:rPr lang="en-US" sz="1100" dirty="0">
                <a:solidFill>
                  <a:srgbClr val="CADCFC"/>
                </a:solidFill>
                <a:latin typeface="Calibri" pitchFamily="34" charset="0"/>
                <a:ea typeface="Calibri" pitchFamily="34" charset="-122"/>
                <a:cs typeface="Calibri" pitchFamily="34" charset="-120"/>
              </a:rPr>
              <a:t>Designed Response Model</a:t>
            </a:r>
            <a:endParaRPr lang="en-US" sz="1100" dirty="0"/>
          </a:p>
          <a:p>
            <a:pPr marL="342900" indent="-342900">
              <a:lnSpc>
                <a:spcPct val="120000"/>
              </a:lnSpc>
              <a:spcAft>
                <a:spcPts val="800"/>
              </a:spcAft>
              <a:buSzPct val="100000"/>
              <a:buChar char="•"/>
            </a:pPr>
            <a:r>
              <a:rPr lang="en-US" sz="1100" dirty="0">
                <a:solidFill>
                  <a:srgbClr val="CADCFC"/>
                </a:solidFill>
                <a:latin typeface="Calibri" pitchFamily="34" charset="0"/>
                <a:ea typeface="Calibri" pitchFamily="34" charset="-122"/>
                <a:cs typeface="Calibri" pitchFamily="34" charset="-120"/>
              </a:rPr>
              <a:t>Integrated Qualification API</a:t>
            </a:r>
            <a:endParaRPr lang="en-US" sz="1100" dirty="0"/>
          </a:p>
        </p:txBody>
      </p:sp>
      <p:sp>
        <p:nvSpPr>
          <p:cNvPr id="9" name="Shape 7"/>
          <p:cNvSpPr/>
          <p:nvPr/>
        </p:nvSpPr>
        <p:spPr>
          <a:xfrm>
            <a:off x="3410712" y="1874520"/>
            <a:ext cx="2514600" cy="4023360"/>
          </a:xfrm>
          <a:prstGeom prst="roundRect">
            <a:avLst>
              <a:gd name="adj" fmla="val 4364"/>
            </a:avLst>
          </a:prstGeom>
          <a:solidFill>
            <a:srgbClr val="F4F6FC"/>
          </a:solidFill>
          <a:ln/>
        </p:spPr>
      </p:sp>
      <p:sp>
        <p:nvSpPr>
          <p:cNvPr id="10" name="Shape 8"/>
          <p:cNvSpPr/>
          <p:nvPr/>
        </p:nvSpPr>
        <p:spPr>
          <a:xfrm>
            <a:off x="3685032" y="2167128"/>
            <a:ext cx="502920" cy="502920"/>
          </a:xfrm>
          <a:prstGeom prst="ellipse">
            <a:avLst/>
          </a:prstGeom>
          <a:solidFill>
            <a:srgbClr val="1E2761"/>
          </a:solidFill>
          <a:ln/>
        </p:spPr>
      </p:sp>
      <p:sp>
        <p:nvSpPr>
          <p:cNvPr id="11" name="Text 9"/>
          <p:cNvSpPr/>
          <p:nvPr/>
        </p:nvSpPr>
        <p:spPr>
          <a:xfrm>
            <a:off x="3685032" y="2167128"/>
            <a:ext cx="502920"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Arial" pitchFamily="34" charset="0"/>
                <a:ea typeface="Arial" pitchFamily="34" charset="-122"/>
                <a:cs typeface="Arial" pitchFamily="34" charset="-120"/>
              </a:rPr>
              <a:t>AI</a:t>
            </a:r>
            <a:endParaRPr lang="en-US" sz="1650" dirty="0"/>
          </a:p>
        </p:txBody>
      </p:sp>
      <p:sp>
        <p:nvSpPr>
          <p:cNvPr id="12" name="Text 10"/>
          <p:cNvSpPr/>
          <p:nvPr/>
        </p:nvSpPr>
        <p:spPr>
          <a:xfrm>
            <a:off x="3639312" y="2834640"/>
            <a:ext cx="2057400" cy="548640"/>
          </a:xfrm>
          <a:prstGeom prst="rect">
            <a:avLst/>
          </a:prstGeom>
          <a:noFill/>
          <a:ln/>
        </p:spPr>
        <p:txBody>
          <a:bodyPr wrap="square" lIns="0" tIns="0" rIns="0" bIns="0" rtlCol="0" anchor="ctr"/>
          <a:lstStyle/>
          <a:p>
            <a:pPr indent="0" marL="0">
              <a:buNone/>
            </a:pPr>
            <a:r>
              <a:rPr lang="en-US" sz="1400" b="1" dirty="0">
                <a:solidFill>
                  <a:srgbClr val="1B1F3B"/>
                </a:solidFill>
                <a:latin typeface="Calibri" pitchFamily="34" charset="0"/>
                <a:ea typeface="Calibri" pitchFamily="34" charset="-122"/>
                <a:cs typeface="Calibri" pitchFamily="34" charset="-120"/>
              </a:rPr>
              <a:t>AI Team</a:t>
            </a:r>
            <a:endParaRPr lang="en-US" sz="1400" dirty="0"/>
          </a:p>
        </p:txBody>
      </p:sp>
      <p:sp>
        <p:nvSpPr>
          <p:cNvPr id="13" name="Text 11"/>
          <p:cNvSpPr/>
          <p:nvPr/>
        </p:nvSpPr>
        <p:spPr>
          <a:xfrm>
            <a:off x="3639312" y="3429000"/>
            <a:ext cx="2057400" cy="219456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100" dirty="0">
                <a:solidFill>
                  <a:srgbClr val="5B6584"/>
                </a:solidFill>
                <a:latin typeface="Calibri" pitchFamily="34" charset="0"/>
                <a:ea typeface="Calibri" pitchFamily="34" charset="-122"/>
                <a:cs typeface="Calibri" pitchFamily="34" charset="-120"/>
              </a:rPr>
              <a:t>Developed Qualification Prompt</a:t>
            </a:r>
            <a:endParaRPr lang="en-US" sz="1100" dirty="0"/>
          </a:p>
          <a:p>
            <a:pPr marL="342900" indent="-342900">
              <a:lnSpc>
                <a:spcPct val="120000"/>
              </a:lnSpc>
              <a:spcAft>
                <a:spcPts val="800"/>
              </a:spcAft>
              <a:buSzPct val="100000"/>
              <a:buChar char="•"/>
            </a:pPr>
            <a:r>
              <a:rPr lang="en-US" sz="1100" dirty="0">
                <a:solidFill>
                  <a:srgbClr val="5B6584"/>
                </a:solidFill>
                <a:latin typeface="Calibri" pitchFamily="34" charset="0"/>
                <a:ea typeface="Calibri" pitchFamily="34" charset="-122"/>
                <a:cs typeface="Calibri" pitchFamily="34" charset="-120"/>
              </a:rPr>
              <a:t>Generated Score, Grade, Priority, Summary</a:t>
            </a:r>
            <a:endParaRPr lang="en-US" sz="1100" dirty="0"/>
          </a:p>
        </p:txBody>
      </p:sp>
      <p:sp>
        <p:nvSpPr>
          <p:cNvPr id="14" name="Shape 12"/>
          <p:cNvSpPr/>
          <p:nvPr/>
        </p:nvSpPr>
        <p:spPr>
          <a:xfrm>
            <a:off x="6181344" y="1874520"/>
            <a:ext cx="2514600" cy="4023360"/>
          </a:xfrm>
          <a:prstGeom prst="roundRect">
            <a:avLst>
              <a:gd name="adj" fmla="val 4364"/>
            </a:avLst>
          </a:prstGeom>
          <a:solidFill>
            <a:srgbClr val="F4F6FC"/>
          </a:solidFill>
          <a:ln/>
        </p:spPr>
      </p:sp>
      <p:sp>
        <p:nvSpPr>
          <p:cNvPr id="15" name="Shape 13"/>
          <p:cNvSpPr/>
          <p:nvPr/>
        </p:nvSpPr>
        <p:spPr>
          <a:xfrm>
            <a:off x="6455664" y="2167128"/>
            <a:ext cx="502920" cy="502920"/>
          </a:xfrm>
          <a:prstGeom prst="ellipse">
            <a:avLst/>
          </a:prstGeom>
          <a:solidFill>
            <a:srgbClr val="1E2761"/>
          </a:solidFill>
          <a:ln/>
        </p:spPr>
      </p:sp>
      <p:sp>
        <p:nvSpPr>
          <p:cNvPr id="16" name="Text 14"/>
          <p:cNvSpPr/>
          <p:nvPr/>
        </p:nvSpPr>
        <p:spPr>
          <a:xfrm>
            <a:off x="6455664" y="2167128"/>
            <a:ext cx="502920"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Arial" pitchFamily="34" charset="0"/>
                <a:ea typeface="Arial" pitchFamily="34" charset="-122"/>
                <a:cs typeface="Arial" pitchFamily="34" charset="-120"/>
              </a:rPr>
              <a:t>F</a:t>
            </a:r>
            <a:endParaRPr lang="en-US" sz="1650" dirty="0"/>
          </a:p>
        </p:txBody>
      </p:sp>
      <p:sp>
        <p:nvSpPr>
          <p:cNvPr id="17" name="Text 15"/>
          <p:cNvSpPr/>
          <p:nvPr/>
        </p:nvSpPr>
        <p:spPr>
          <a:xfrm>
            <a:off x="6409944" y="2834640"/>
            <a:ext cx="2057400" cy="548640"/>
          </a:xfrm>
          <a:prstGeom prst="rect">
            <a:avLst/>
          </a:prstGeom>
          <a:noFill/>
          <a:ln/>
        </p:spPr>
        <p:txBody>
          <a:bodyPr wrap="square" lIns="0" tIns="0" rIns="0" bIns="0" rtlCol="0" anchor="ctr"/>
          <a:lstStyle/>
          <a:p>
            <a:pPr indent="0" marL="0">
              <a:buNone/>
            </a:pPr>
            <a:r>
              <a:rPr lang="en-US" sz="1400" b="1" dirty="0">
                <a:solidFill>
                  <a:srgbClr val="1B1F3B"/>
                </a:solidFill>
                <a:latin typeface="Calibri" pitchFamily="34" charset="0"/>
                <a:ea typeface="Calibri" pitchFamily="34" charset="-122"/>
                <a:cs typeface="Calibri" pitchFamily="34" charset="-120"/>
              </a:rPr>
              <a:t>Frontend</a:t>
            </a:r>
            <a:endParaRPr lang="en-US" sz="1400" dirty="0"/>
          </a:p>
        </p:txBody>
      </p:sp>
      <p:sp>
        <p:nvSpPr>
          <p:cNvPr id="18" name="Text 16"/>
          <p:cNvSpPr/>
          <p:nvPr/>
        </p:nvSpPr>
        <p:spPr>
          <a:xfrm>
            <a:off x="6409944" y="3429000"/>
            <a:ext cx="2057400" cy="219456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100" dirty="0">
                <a:solidFill>
                  <a:srgbClr val="5B6584"/>
                </a:solidFill>
                <a:latin typeface="Calibri" pitchFamily="34" charset="0"/>
                <a:ea typeface="Calibri" pitchFamily="34" charset="-122"/>
                <a:cs typeface="Calibri" pitchFamily="34" charset="-120"/>
              </a:rPr>
              <a:t>Designed AI Result Cards</a:t>
            </a:r>
            <a:endParaRPr lang="en-US" sz="1100" dirty="0"/>
          </a:p>
          <a:p>
            <a:pPr marL="342900" indent="-342900">
              <a:lnSpc>
                <a:spcPct val="120000"/>
              </a:lnSpc>
              <a:spcAft>
                <a:spcPts val="800"/>
              </a:spcAft>
              <a:buSzPct val="100000"/>
              <a:buChar char="•"/>
            </a:pPr>
            <a:r>
              <a:rPr lang="en-US" sz="1100" dirty="0">
                <a:solidFill>
                  <a:srgbClr val="5B6584"/>
                </a:solidFill>
                <a:latin typeface="Calibri" pitchFamily="34" charset="0"/>
                <a:ea typeface="Calibri" pitchFamily="34" charset="-122"/>
                <a:cs typeface="Calibri" pitchFamily="34" charset="-120"/>
              </a:rPr>
              <a:t>Displayed qualification results</a:t>
            </a:r>
            <a:endParaRPr lang="en-US" sz="1100" dirty="0"/>
          </a:p>
        </p:txBody>
      </p:sp>
      <p:sp>
        <p:nvSpPr>
          <p:cNvPr id="19" name="Shape 17"/>
          <p:cNvSpPr/>
          <p:nvPr/>
        </p:nvSpPr>
        <p:spPr>
          <a:xfrm>
            <a:off x="8951976" y="1874520"/>
            <a:ext cx="2514600" cy="4023360"/>
          </a:xfrm>
          <a:prstGeom prst="roundRect">
            <a:avLst>
              <a:gd name="adj" fmla="val 4364"/>
            </a:avLst>
          </a:prstGeom>
          <a:solidFill>
            <a:srgbClr val="F4F6FC"/>
          </a:solidFill>
          <a:ln/>
        </p:spPr>
      </p:sp>
      <p:sp>
        <p:nvSpPr>
          <p:cNvPr id="20" name="Shape 18"/>
          <p:cNvSpPr/>
          <p:nvPr/>
        </p:nvSpPr>
        <p:spPr>
          <a:xfrm>
            <a:off x="9226296" y="2167128"/>
            <a:ext cx="502920" cy="502920"/>
          </a:xfrm>
          <a:prstGeom prst="ellipse">
            <a:avLst/>
          </a:prstGeom>
          <a:solidFill>
            <a:srgbClr val="1E2761"/>
          </a:solidFill>
          <a:ln/>
        </p:spPr>
      </p:sp>
      <p:sp>
        <p:nvSpPr>
          <p:cNvPr id="21" name="Text 19"/>
          <p:cNvSpPr/>
          <p:nvPr/>
        </p:nvSpPr>
        <p:spPr>
          <a:xfrm>
            <a:off x="9226296" y="2167128"/>
            <a:ext cx="502920"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Arial" pitchFamily="34" charset="0"/>
                <a:ea typeface="Arial" pitchFamily="34" charset="-122"/>
                <a:cs typeface="Arial" pitchFamily="34" charset="-120"/>
              </a:rPr>
              <a:t>Q</a:t>
            </a:r>
            <a:endParaRPr lang="en-US" sz="1650" dirty="0"/>
          </a:p>
        </p:txBody>
      </p:sp>
      <p:sp>
        <p:nvSpPr>
          <p:cNvPr id="22" name="Text 20"/>
          <p:cNvSpPr/>
          <p:nvPr/>
        </p:nvSpPr>
        <p:spPr>
          <a:xfrm>
            <a:off x="9180576" y="2834640"/>
            <a:ext cx="2057400" cy="548640"/>
          </a:xfrm>
          <a:prstGeom prst="rect">
            <a:avLst/>
          </a:prstGeom>
          <a:noFill/>
          <a:ln/>
        </p:spPr>
        <p:txBody>
          <a:bodyPr wrap="square" lIns="0" tIns="0" rIns="0" bIns="0" rtlCol="0" anchor="ctr"/>
          <a:lstStyle/>
          <a:p>
            <a:pPr indent="0" marL="0">
              <a:buNone/>
            </a:pPr>
            <a:r>
              <a:rPr lang="en-US" sz="1400" b="1" dirty="0">
                <a:solidFill>
                  <a:srgbClr val="1B1F3B"/>
                </a:solidFill>
                <a:latin typeface="Calibri" pitchFamily="34" charset="0"/>
                <a:ea typeface="Calibri" pitchFamily="34" charset="-122"/>
                <a:cs typeface="Calibri" pitchFamily="34" charset="-120"/>
              </a:rPr>
              <a:t>QA</a:t>
            </a:r>
            <a:endParaRPr lang="en-US" sz="1400" dirty="0"/>
          </a:p>
        </p:txBody>
      </p:sp>
      <p:sp>
        <p:nvSpPr>
          <p:cNvPr id="23" name="Text 21"/>
          <p:cNvSpPr/>
          <p:nvPr/>
        </p:nvSpPr>
        <p:spPr>
          <a:xfrm>
            <a:off x="9180576" y="3429000"/>
            <a:ext cx="2057400" cy="219456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100" dirty="0">
                <a:solidFill>
                  <a:srgbClr val="5B6584"/>
                </a:solidFill>
                <a:latin typeface="Calibri" pitchFamily="34" charset="0"/>
                <a:ea typeface="Calibri" pitchFamily="34" charset="-122"/>
                <a:cs typeface="Calibri" pitchFamily="34" charset="-120"/>
              </a:rPr>
              <a:t>Verified API responses</a:t>
            </a:r>
            <a:endParaRPr lang="en-US" sz="1100" dirty="0"/>
          </a:p>
          <a:p>
            <a:pPr marL="342900" indent="-342900">
              <a:lnSpc>
                <a:spcPct val="120000"/>
              </a:lnSpc>
              <a:spcAft>
                <a:spcPts val="800"/>
              </a:spcAft>
              <a:buSzPct val="100000"/>
              <a:buChar char="•"/>
            </a:pPr>
            <a:r>
              <a:rPr lang="en-US" sz="1100" dirty="0">
                <a:solidFill>
                  <a:srgbClr val="5B6584"/>
                </a:solidFill>
                <a:latin typeface="Calibri" pitchFamily="34" charset="0"/>
                <a:ea typeface="Calibri" pitchFamily="34" charset="-122"/>
                <a:cs typeface="Calibri" pitchFamily="34" charset="-120"/>
              </a:rPr>
              <a:t>Tested AI output accuracy</a:t>
            </a:r>
            <a:endParaRPr lang="en-US" sz="1100" dirty="0"/>
          </a:p>
        </p:txBody>
      </p:sp>
      <p:sp>
        <p:nvSpPr>
          <p:cNvPr id="24" name="Text 22"/>
          <p:cNvSpPr/>
          <p:nvPr/>
        </p:nvSpPr>
        <p:spPr>
          <a:xfrm>
            <a:off x="457200" y="6537960"/>
            <a:ext cx="5486400" cy="274320"/>
          </a:xfrm>
          <a:prstGeom prst="rect">
            <a:avLst/>
          </a:prstGeom>
          <a:noFill/>
          <a:ln/>
        </p:spPr>
        <p:txBody>
          <a:bodyPr wrap="square" lIns="0" tIns="0" rIns="0" bIns="0" rtlCol="0" anchor="ctr"/>
          <a:lstStyle/>
          <a:p>
            <a:pPr algn="l" indent="0" marL="0">
              <a:buNone/>
            </a:pPr>
            <a:r>
              <a:rPr lang="en-US" sz="1000" dirty="0">
                <a:solidFill>
                  <a:srgbClr val="5B6584"/>
                </a:solidFill>
                <a:latin typeface="Calibri" pitchFamily="34" charset="0"/>
                <a:ea typeface="Calibri" pitchFamily="34" charset="-122"/>
                <a:cs typeface="Calibri" pitchFamily="34" charset="-120"/>
              </a:rPr>
              <a:t>Day 11 · Qualification Engine</a:t>
            </a:r>
            <a:endParaRPr lang="en-US" sz="1000" dirty="0"/>
          </a:p>
        </p:txBody>
      </p:sp>
      <p:sp>
        <p:nvSpPr>
          <p:cNvPr id="25" name="Text 23"/>
          <p:cNvSpPr/>
          <p:nvPr/>
        </p:nvSpPr>
        <p:spPr>
          <a:xfrm>
            <a:off x="11274552" y="6537960"/>
            <a:ext cx="457200" cy="274320"/>
          </a:xfrm>
          <a:prstGeom prst="rect">
            <a:avLst/>
          </a:prstGeom>
          <a:noFill/>
          <a:ln/>
        </p:spPr>
        <p:txBody>
          <a:bodyPr wrap="square" lIns="0" tIns="0" rIns="0" bIns="0" rtlCol="0" anchor="ctr"/>
          <a:lstStyle/>
          <a:p>
            <a:pPr algn="r" indent="0" marL="0">
              <a:buNone/>
            </a:pPr>
            <a:r>
              <a:rPr lang="en-US" sz="1000" dirty="0">
                <a:solidFill>
                  <a:srgbClr val="5B658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