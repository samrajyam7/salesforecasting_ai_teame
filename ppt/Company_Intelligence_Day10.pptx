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80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6043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Today I'm presenting our progress for Day 10: Company Intelligence. Manual prospect research is one of the biggest time sinks for B2B sales teams. Today, we successfully built and integrated the end-to-end Company Intelligence Engine powered by Google Gemini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great cross-functional effort: our AI team tuned the system prompts for maximum accuracy, our Frontend team built a sleek Streamlit interface to display these insights cleanly, and our QA team rigorously tested the pipeline, validating structured outputs and confirming our fallback mechanisms gracefully handle edge cases or network dropouts.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backend, I created the /analyze-company FastAPI endpoint and wired it up directly to Google Gemini 2.5 Flash. Why did we build this? Because our Streamlit frontend required quick, structured AI responses to give sales reps instant context on any prospect without forcing them to manually browse external websites. How did we achieve this? We engineered strict JSON prompt formats that enforce Gemini to return normalized fields, and implemented database persistence so any researched company profile is automatically cached into PostgreSQL.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request lifecycle behind /analyze-company: input intake from the Streamlit form, prompt assembly with our enforced JSON schema, Gemini 2.5 Flash inference, schema validation with graceful fallback on rate limits, and finally persistence plus instant rendering in the UI. That's how we get from a rep's click to a rendered intelligence card in under three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Gemini response is normalized into four enforced JSON fields: lead_score, company_summary, sales_opportunity, and recommended_sales_approach. This structured format is what lets the Streamlit UI render metric cards instantly with zero manual parsing, and the same schema powers our fallback path so the UI never breaks even during API rate limits.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Day 10 complete, we shipped a functional /analyze-company endpoint, a dynamic intelligence card inside Streamlit, and fully validated fallback and error-handling pipelines. The headline number: we've reduced prospect research time from roughly 15 minutes down to under 3 seconds per lead.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SalesGenie AI can now evaluate any B2B company profile in under three seconds. This sets us up perfectly for seamless outreach automation in our upcoming milestones. Thanks, and I'm open to any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92640" y="-1280160"/>
            <a:ext cx="3840480" cy="3840480"/>
          </a:xfrm>
          <a:prstGeom prst="ellipse">
            <a:avLst/>
          </a:prstGeom>
          <a:solidFill>
            <a:srgbClr val="065A82">
              <a:alpha val="45000"/>
            </a:srgbClr>
          </a:solidFill>
          <a:ln/>
        </p:spPr>
      </p:sp>
      <p:sp>
        <p:nvSpPr>
          <p:cNvPr id="3" name="Shape 1"/>
          <p:cNvSpPr/>
          <p:nvPr/>
        </p:nvSpPr>
        <p:spPr>
          <a:xfrm>
            <a:off x="10881360" y="4937760"/>
            <a:ext cx="2377440" cy="2377440"/>
          </a:xfrm>
          <a:prstGeom prst="ellipse">
            <a:avLst/>
          </a:prstGeom>
          <a:solidFill>
            <a:srgbClr val="1C7293">
              <a:alpha val="55000"/>
            </a:srgbClr>
          </a:solidFill>
          <a:ln/>
        </p:spPr>
      </p:sp>
      <p:sp>
        <p:nvSpPr>
          <p:cNvPr id="4" name="Shape 2"/>
          <p:cNvSpPr/>
          <p:nvPr/>
        </p:nvSpPr>
        <p:spPr>
          <a:xfrm>
            <a:off x="822960" y="777240"/>
            <a:ext cx="822960" cy="822960"/>
          </a:xfrm>
          <a:prstGeom prst="ellipse">
            <a:avLst/>
          </a:prstGeom>
          <a:solidFill>
            <a:srgbClr val="065A82"/>
          </a:solidFill>
          <a:ln/>
        </p:spPr>
      </p:sp>
      <p:pic>
        <p:nvPicPr>
          <p:cNvPr id="5" name="Image 0" descr="/home/claude/proj/icons/brain.png"/>
          <p:cNvPicPr>
            <a:picLocks noChangeAspect="1"/>
          </p:cNvPicPr>
          <p:nvPr/>
        </p:nvPicPr>
        <p:blipFill>
          <a:blip r:embed="rId3"/>
          <a:stretch>
            <a:fillRect/>
          </a:stretch>
        </p:blipFill>
        <p:spPr>
          <a:xfrm>
            <a:off x="1053389" y="1007669"/>
            <a:ext cx="362102" cy="362102"/>
          </a:xfrm>
          <a:prstGeom prst="rect">
            <a:avLst/>
          </a:prstGeom>
        </p:spPr>
      </p:pic>
      <p:sp>
        <p:nvSpPr>
          <p:cNvPr id="6" name="Text 3"/>
          <p:cNvSpPr/>
          <p:nvPr/>
        </p:nvSpPr>
        <p:spPr>
          <a:xfrm>
            <a:off x="822960" y="2331720"/>
            <a:ext cx="8229600" cy="365760"/>
          </a:xfrm>
          <a:prstGeom prst="rect">
            <a:avLst/>
          </a:prstGeom>
          <a:noFill/>
          <a:ln/>
        </p:spPr>
        <p:txBody>
          <a:bodyPr wrap="square" rtlCol="0" anchor="ctr"/>
          <a:lstStyle/>
          <a:p>
            <a:pPr marL="0" indent="0">
              <a:buNone/>
            </a:pPr>
            <a:r>
              <a:rPr lang="en-US" sz="1400" b="1" kern="0" spc="200" dirty="0">
                <a:solidFill>
                  <a:srgbClr val="E8A33D"/>
                </a:solidFill>
                <a:latin typeface="Calibri" pitchFamily="34" charset="0"/>
                <a:ea typeface="Calibri" pitchFamily="34" charset="-122"/>
                <a:cs typeface="Calibri" pitchFamily="34" charset="-120"/>
              </a:rPr>
              <a:t>DAY 10 STANDUP &amp; DEMO</a:t>
            </a:r>
            <a:endParaRPr lang="en-US" sz="1400" dirty="0"/>
          </a:p>
        </p:txBody>
      </p:sp>
      <p:sp>
        <p:nvSpPr>
          <p:cNvPr id="7" name="Text 4"/>
          <p:cNvSpPr/>
          <p:nvPr/>
        </p:nvSpPr>
        <p:spPr>
          <a:xfrm>
            <a:off x="822960" y="269748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Company Intelligence Engine</a:t>
            </a:r>
            <a:endParaRPr lang="en-US" sz="4400" dirty="0"/>
          </a:p>
        </p:txBody>
      </p:sp>
      <p:sp>
        <p:nvSpPr>
          <p:cNvPr id="8" name="Text 5"/>
          <p:cNvSpPr/>
          <p:nvPr/>
        </p:nvSpPr>
        <p:spPr>
          <a:xfrm>
            <a:off x="822960" y="3794760"/>
            <a:ext cx="8961120" cy="640080"/>
          </a:xfrm>
          <a:prstGeom prst="rect">
            <a:avLst/>
          </a:prstGeom>
          <a:noFill/>
          <a:ln/>
        </p:spPr>
        <p:txBody>
          <a:bodyPr wrap="square" rtlCol="0" anchor="ctr"/>
          <a:lstStyle/>
          <a:p>
            <a:pPr marL="0" indent="0">
              <a:buNone/>
            </a:pPr>
            <a:r>
              <a:rPr lang="en-US" sz="1700" dirty="0">
                <a:solidFill>
                  <a:srgbClr val="CADCFC"/>
                </a:solidFill>
                <a:latin typeface="Calibri" pitchFamily="34" charset="0"/>
                <a:ea typeface="Calibri" pitchFamily="34" charset="-122"/>
                <a:cs typeface="Calibri" pitchFamily="34" charset="-120"/>
              </a:rPr>
              <a:t>AI-Powered Prospect Research, Live Web Analysis &amp; Instant Lead Scoring with Google Gemini 2.5</a:t>
            </a:r>
            <a:endParaRPr lang="en-US" sz="1700" dirty="0"/>
          </a:p>
        </p:txBody>
      </p:sp>
      <p:sp>
        <p:nvSpPr>
          <p:cNvPr id="9" name="Text 6"/>
          <p:cNvSpPr/>
          <p:nvPr/>
        </p:nvSpPr>
        <p:spPr>
          <a:xfrm>
            <a:off x="822960" y="5989320"/>
            <a:ext cx="7315200" cy="320040"/>
          </a:xfrm>
          <a:prstGeom prst="rect">
            <a:avLst/>
          </a:prstGeom>
          <a:noFill/>
          <a:ln/>
        </p:spPr>
        <p:txBody>
          <a:bodyPr wrap="square" rtlCol="0" anchor="ctr"/>
          <a:lstStyle/>
          <a:p>
            <a:pPr marL="0" indent="0">
              <a:buNone/>
            </a:pPr>
            <a:r>
              <a:rPr lang="en-US" sz="1200" dirty="0">
                <a:solidFill>
                  <a:srgbClr val="8FA8C4"/>
                </a:solidFill>
                <a:latin typeface="Calibri" pitchFamily="34" charset="0"/>
                <a:ea typeface="Calibri" pitchFamily="34" charset="-122"/>
                <a:cs typeface="Calibri" pitchFamily="34" charset="-120"/>
              </a:rPr>
              <a:t>SalesGenie AI  ·  Company Intelligence &amp; AI Profile Analysis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Overview &amp; Achievements</a:t>
            </a:r>
            <a:endParaRPr lang="en-US" sz="3200" dirty="0"/>
          </a:p>
        </p:txBody>
      </p:sp>
      <p:sp>
        <p:nvSpPr>
          <p:cNvPr id="3" name="Text 1"/>
          <p:cNvSpPr/>
          <p:nvPr/>
        </p:nvSpPr>
        <p:spPr>
          <a:xfrm>
            <a:off x="548640" y="987552"/>
            <a:ext cx="8229600" cy="320040"/>
          </a:xfrm>
          <a:prstGeom prst="rect">
            <a:avLst/>
          </a:prstGeom>
          <a:noFill/>
          <a:ln/>
        </p:spPr>
        <p:txBody>
          <a:bodyPr wrap="square" rtlCol="0" anchor="ctr"/>
          <a:lstStyle/>
          <a:p>
            <a:pPr marL="0" indent="0">
              <a:buNone/>
            </a:pPr>
            <a:r>
              <a:rPr lang="en-US" sz="1400" i="1" dirty="0">
                <a:solidFill>
                  <a:srgbClr val="1C7293"/>
                </a:solidFill>
                <a:latin typeface="Calibri" pitchFamily="34" charset="0"/>
                <a:ea typeface="Calibri" pitchFamily="34" charset="-122"/>
                <a:cs typeface="Calibri" pitchFamily="34" charset="-120"/>
              </a:rPr>
              <a:t>Focus Area: Company Intelligence &amp; AI Profile Analysis</a:t>
            </a:r>
            <a:endParaRPr lang="en-US" sz="1400" dirty="0"/>
          </a:p>
        </p:txBody>
      </p:sp>
      <p:sp>
        <p:nvSpPr>
          <p:cNvPr id="4" name="Shape 2"/>
          <p:cNvSpPr/>
          <p:nvPr/>
        </p:nvSpPr>
        <p:spPr>
          <a:xfrm>
            <a:off x="548640" y="1600200"/>
            <a:ext cx="566928" cy="566928"/>
          </a:xfrm>
          <a:prstGeom prst="ellipse">
            <a:avLst/>
          </a:prstGeom>
          <a:solidFill>
            <a:srgbClr val="065A82"/>
          </a:solidFill>
          <a:ln/>
        </p:spPr>
      </p:sp>
      <p:pic>
        <p:nvPicPr>
          <p:cNvPr id="5" name="Image 0" descr="/home/claude/proj/icons/code.png"/>
          <p:cNvPicPr>
            <a:picLocks noChangeAspect="1"/>
          </p:cNvPicPr>
          <p:nvPr/>
        </p:nvPicPr>
        <p:blipFill>
          <a:blip r:embed="rId3"/>
          <a:stretch>
            <a:fillRect/>
          </a:stretch>
        </p:blipFill>
        <p:spPr>
          <a:xfrm>
            <a:off x="707380" y="1758940"/>
            <a:ext cx="249448" cy="249448"/>
          </a:xfrm>
          <a:prstGeom prst="rect">
            <a:avLst/>
          </a:prstGeom>
        </p:spPr>
      </p:pic>
      <p:sp>
        <p:nvSpPr>
          <p:cNvPr id="6" name="Text 3"/>
          <p:cNvSpPr/>
          <p:nvPr/>
        </p:nvSpPr>
        <p:spPr>
          <a:xfrm>
            <a:off x="1298448" y="1581912"/>
            <a:ext cx="5486400" cy="320040"/>
          </a:xfrm>
          <a:prstGeom prst="rect">
            <a:avLst/>
          </a:prstGeom>
          <a:noFill/>
          <a:ln/>
        </p:spPr>
        <p:txBody>
          <a:bodyPr wrap="square" rtlCol="0" anchor="ctr"/>
          <a:lstStyle/>
          <a:p>
            <a:pPr marL="0" indent="0">
              <a:buNone/>
            </a:pPr>
            <a:r>
              <a:rPr lang="en-US" sz="1500" b="1" dirty="0">
                <a:solidFill>
                  <a:srgbClr val="1C2733"/>
                </a:solidFill>
                <a:latin typeface="Calibri" pitchFamily="34" charset="0"/>
                <a:ea typeface="Calibri" pitchFamily="34" charset="-122"/>
                <a:cs typeface="Calibri" pitchFamily="34" charset="-120"/>
              </a:rPr>
              <a:t>FastAPI Backend Route</a:t>
            </a:r>
            <a:endParaRPr lang="en-US" sz="1500" dirty="0"/>
          </a:p>
        </p:txBody>
      </p:sp>
      <p:sp>
        <p:nvSpPr>
          <p:cNvPr id="7" name="Text 4"/>
          <p:cNvSpPr/>
          <p:nvPr/>
        </p:nvSpPr>
        <p:spPr>
          <a:xfrm>
            <a:off x="1298448" y="1920240"/>
            <a:ext cx="5577840" cy="594360"/>
          </a:xfrm>
          <a:prstGeom prst="rect">
            <a:avLst/>
          </a:prstGeom>
          <a:noFill/>
          <a:ln/>
        </p:spPr>
        <p:txBody>
          <a:bodyPr wrap="square" rtlCol="0" anchor="t"/>
          <a:lstStyle/>
          <a:p>
            <a:pPr marL="0" indent="0">
              <a:buNone/>
            </a:pPr>
            <a:r>
              <a:rPr lang="en-US" sz="1250" dirty="0">
                <a:solidFill>
                  <a:srgbClr val="5A6B76"/>
                </a:solidFill>
                <a:latin typeface="Calibri" pitchFamily="34" charset="0"/>
                <a:ea typeface="Calibri" pitchFamily="34" charset="-122"/>
                <a:cs typeface="Calibri" pitchFamily="34" charset="-120"/>
              </a:rPr>
              <a:t>Built the /analyze-company endpoint to handle company intelligence requests end-to-end.</a:t>
            </a:r>
            <a:endParaRPr lang="en-US" sz="1250" dirty="0"/>
          </a:p>
        </p:txBody>
      </p:sp>
      <p:sp>
        <p:nvSpPr>
          <p:cNvPr id="8" name="Shape 5"/>
          <p:cNvSpPr/>
          <p:nvPr/>
        </p:nvSpPr>
        <p:spPr>
          <a:xfrm>
            <a:off x="548640" y="2770632"/>
            <a:ext cx="566928" cy="566928"/>
          </a:xfrm>
          <a:prstGeom prst="ellipse">
            <a:avLst/>
          </a:prstGeom>
          <a:solidFill>
            <a:srgbClr val="065A82"/>
          </a:solidFill>
          <a:ln/>
        </p:spPr>
      </p:sp>
      <p:pic>
        <p:nvPicPr>
          <p:cNvPr id="9" name="Image 1" descr="/home/claude/proj/icons/brain.png"/>
          <p:cNvPicPr>
            <a:picLocks noChangeAspect="1"/>
          </p:cNvPicPr>
          <p:nvPr/>
        </p:nvPicPr>
        <p:blipFill>
          <a:blip r:embed="rId4"/>
          <a:stretch>
            <a:fillRect/>
          </a:stretch>
        </p:blipFill>
        <p:spPr>
          <a:xfrm>
            <a:off x="707380" y="2929372"/>
            <a:ext cx="249448" cy="249448"/>
          </a:xfrm>
          <a:prstGeom prst="rect">
            <a:avLst/>
          </a:prstGeom>
        </p:spPr>
      </p:pic>
      <p:sp>
        <p:nvSpPr>
          <p:cNvPr id="10" name="Text 6"/>
          <p:cNvSpPr/>
          <p:nvPr/>
        </p:nvSpPr>
        <p:spPr>
          <a:xfrm>
            <a:off x="1298448" y="2752344"/>
            <a:ext cx="5486400" cy="320040"/>
          </a:xfrm>
          <a:prstGeom prst="rect">
            <a:avLst/>
          </a:prstGeom>
          <a:noFill/>
          <a:ln/>
        </p:spPr>
        <p:txBody>
          <a:bodyPr wrap="square" rtlCol="0" anchor="ctr"/>
          <a:lstStyle/>
          <a:p>
            <a:pPr marL="0" indent="0">
              <a:buNone/>
            </a:pPr>
            <a:r>
              <a:rPr lang="en-US" sz="1500" b="1" dirty="0">
                <a:solidFill>
                  <a:srgbClr val="1C2733"/>
                </a:solidFill>
                <a:latin typeface="Calibri" pitchFamily="34" charset="0"/>
                <a:ea typeface="Calibri" pitchFamily="34" charset="-122"/>
                <a:cs typeface="Calibri" pitchFamily="34" charset="-120"/>
              </a:rPr>
              <a:t>Gemini 2.5 AI Engine</a:t>
            </a:r>
            <a:endParaRPr lang="en-US" sz="1500" dirty="0"/>
          </a:p>
        </p:txBody>
      </p:sp>
      <p:sp>
        <p:nvSpPr>
          <p:cNvPr id="11" name="Text 7"/>
          <p:cNvSpPr/>
          <p:nvPr/>
        </p:nvSpPr>
        <p:spPr>
          <a:xfrm>
            <a:off x="1298448" y="3090672"/>
            <a:ext cx="5577840" cy="594360"/>
          </a:xfrm>
          <a:prstGeom prst="rect">
            <a:avLst/>
          </a:prstGeom>
          <a:noFill/>
          <a:ln/>
        </p:spPr>
        <p:txBody>
          <a:bodyPr wrap="square" rtlCol="0" anchor="t"/>
          <a:lstStyle/>
          <a:p>
            <a:pPr marL="0" indent="0">
              <a:buNone/>
            </a:pPr>
            <a:r>
              <a:rPr lang="en-US" sz="1250" dirty="0">
                <a:solidFill>
                  <a:srgbClr val="5A6B76"/>
                </a:solidFill>
                <a:latin typeface="Calibri" pitchFamily="34" charset="0"/>
                <a:ea typeface="Calibri" pitchFamily="34" charset="-122"/>
                <a:cs typeface="Calibri" pitchFamily="34" charset="-120"/>
              </a:rPr>
              <a:t>Connected Google Gemini to process live web data, company names, and call transcripts.</a:t>
            </a:r>
            <a:endParaRPr lang="en-US" sz="1250" dirty="0"/>
          </a:p>
        </p:txBody>
      </p:sp>
      <p:sp>
        <p:nvSpPr>
          <p:cNvPr id="12" name="Shape 8"/>
          <p:cNvSpPr/>
          <p:nvPr/>
        </p:nvSpPr>
        <p:spPr>
          <a:xfrm>
            <a:off x="548640" y="3941064"/>
            <a:ext cx="566928" cy="566928"/>
          </a:xfrm>
          <a:prstGeom prst="ellipse">
            <a:avLst/>
          </a:prstGeom>
          <a:solidFill>
            <a:srgbClr val="065A82"/>
          </a:solidFill>
          <a:ln/>
        </p:spPr>
      </p:sp>
      <p:pic>
        <p:nvPicPr>
          <p:cNvPr id="13" name="Image 2" descr="/home/claude/proj/icons/chart.png"/>
          <p:cNvPicPr>
            <a:picLocks noChangeAspect="1"/>
          </p:cNvPicPr>
          <p:nvPr/>
        </p:nvPicPr>
        <p:blipFill>
          <a:blip r:embed="rId5"/>
          <a:stretch>
            <a:fillRect/>
          </a:stretch>
        </p:blipFill>
        <p:spPr>
          <a:xfrm>
            <a:off x="707380" y="4099804"/>
            <a:ext cx="249448" cy="249448"/>
          </a:xfrm>
          <a:prstGeom prst="rect">
            <a:avLst/>
          </a:prstGeom>
        </p:spPr>
      </p:pic>
      <p:sp>
        <p:nvSpPr>
          <p:cNvPr id="14" name="Text 9"/>
          <p:cNvSpPr/>
          <p:nvPr/>
        </p:nvSpPr>
        <p:spPr>
          <a:xfrm>
            <a:off x="1298448" y="3922776"/>
            <a:ext cx="5486400" cy="320040"/>
          </a:xfrm>
          <a:prstGeom prst="rect">
            <a:avLst/>
          </a:prstGeom>
          <a:noFill/>
          <a:ln/>
        </p:spPr>
        <p:txBody>
          <a:bodyPr wrap="square" rtlCol="0" anchor="ctr"/>
          <a:lstStyle/>
          <a:p>
            <a:pPr marL="0" indent="0">
              <a:buNone/>
            </a:pPr>
            <a:r>
              <a:rPr lang="en-US" sz="1500" b="1" dirty="0">
                <a:solidFill>
                  <a:srgbClr val="1C2733"/>
                </a:solidFill>
                <a:latin typeface="Calibri" pitchFamily="34" charset="0"/>
                <a:ea typeface="Calibri" pitchFamily="34" charset="-122"/>
                <a:cs typeface="Calibri" pitchFamily="34" charset="-120"/>
              </a:rPr>
              <a:t>Streamlit Intelligence UI</a:t>
            </a:r>
            <a:endParaRPr lang="en-US" sz="1500" dirty="0"/>
          </a:p>
        </p:txBody>
      </p:sp>
      <p:sp>
        <p:nvSpPr>
          <p:cNvPr id="15" name="Text 10"/>
          <p:cNvSpPr/>
          <p:nvPr/>
        </p:nvSpPr>
        <p:spPr>
          <a:xfrm>
            <a:off x="1298448" y="4261104"/>
            <a:ext cx="5577840" cy="594360"/>
          </a:xfrm>
          <a:prstGeom prst="rect">
            <a:avLst/>
          </a:prstGeom>
          <a:noFill/>
          <a:ln/>
        </p:spPr>
        <p:txBody>
          <a:bodyPr wrap="square" rtlCol="0" anchor="t"/>
          <a:lstStyle/>
          <a:p>
            <a:pPr marL="0" indent="0">
              <a:buNone/>
            </a:pPr>
            <a:r>
              <a:rPr lang="en-US" sz="1250" dirty="0">
                <a:solidFill>
                  <a:srgbClr val="5A6B76"/>
                </a:solidFill>
                <a:latin typeface="Calibri" pitchFamily="34" charset="0"/>
                <a:ea typeface="Calibri" pitchFamily="34" charset="-122"/>
                <a:cs typeface="Calibri" pitchFamily="34" charset="-120"/>
              </a:rPr>
              <a:t>Shipped a real-time scoring interface with strategic sales recommendations.</a:t>
            </a:r>
            <a:endParaRPr lang="en-US" sz="1250" dirty="0"/>
          </a:p>
        </p:txBody>
      </p:sp>
      <p:sp>
        <p:nvSpPr>
          <p:cNvPr id="16" name="Shape 11"/>
          <p:cNvSpPr/>
          <p:nvPr/>
        </p:nvSpPr>
        <p:spPr>
          <a:xfrm>
            <a:off x="7360920" y="1600200"/>
            <a:ext cx="4279392" cy="4572000"/>
          </a:xfrm>
          <a:prstGeom prst="roundRect">
            <a:avLst>
              <a:gd name="adj" fmla="val 2564"/>
            </a:avLst>
          </a:prstGeom>
          <a:solidFill>
            <a:srgbClr val="0B2545"/>
          </a:solidFill>
          <a:ln/>
          <a:effectLst>
            <a:outerShdw blurRad="101600" dist="38100" dir="5400000" algn="bl" rotWithShape="0">
              <a:srgbClr val="000000">
                <a:alpha val="25000"/>
              </a:srgbClr>
            </a:outerShdw>
          </a:effectLst>
        </p:spPr>
      </p:sp>
      <p:sp>
        <p:nvSpPr>
          <p:cNvPr id="17" name="Text 12"/>
          <p:cNvSpPr/>
          <p:nvPr/>
        </p:nvSpPr>
        <p:spPr>
          <a:xfrm>
            <a:off x="7680960" y="1810512"/>
            <a:ext cx="3639312"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Team Collaboration</a:t>
            </a:r>
            <a:endParaRPr lang="en-US" sz="1800" dirty="0"/>
          </a:p>
        </p:txBody>
      </p:sp>
      <p:sp>
        <p:nvSpPr>
          <p:cNvPr id="18" name="Shape 13"/>
          <p:cNvSpPr/>
          <p:nvPr/>
        </p:nvSpPr>
        <p:spPr>
          <a:xfrm>
            <a:off x="7680960" y="2423160"/>
            <a:ext cx="502920" cy="502920"/>
          </a:xfrm>
          <a:prstGeom prst="ellipse">
            <a:avLst/>
          </a:prstGeom>
          <a:solidFill>
            <a:srgbClr val="1C7293"/>
          </a:solidFill>
          <a:ln/>
        </p:spPr>
      </p:sp>
      <p:pic>
        <p:nvPicPr>
          <p:cNvPr id="19" name="Image 3" descr="/home/claude/proj/icons/bulb.png"/>
          <p:cNvPicPr>
            <a:picLocks noChangeAspect="1"/>
          </p:cNvPicPr>
          <p:nvPr/>
        </p:nvPicPr>
        <p:blipFill>
          <a:blip r:embed="rId6"/>
          <a:stretch>
            <a:fillRect/>
          </a:stretch>
        </p:blipFill>
        <p:spPr>
          <a:xfrm>
            <a:off x="7821778" y="2563978"/>
            <a:ext cx="221285" cy="221285"/>
          </a:xfrm>
          <a:prstGeom prst="rect">
            <a:avLst/>
          </a:prstGeom>
        </p:spPr>
      </p:pic>
      <p:sp>
        <p:nvSpPr>
          <p:cNvPr id="20" name="Text 14"/>
          <p:cNvSpPr/>
          <p:nvPr/>
        </p:nvSpPr>
        <p:spPr>
          <a:xfrm>
            <a:off x="8366760" y="2395728"/>
            <a:ext cx="2907792" cy="292608"/>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AI Lead</a:t>
            </a:r>
            <a:endParaRPr lang="en-US" sz="1400" dirty="0"/>
          </a:p>
        </p:txBody>
      </p:sp>
      <p:sp>
        <p:nvSpPr>
          <p:cNvPr id="21" name="Text 15"/>
          <p:cNvSpPr/>
          <p:nvPr/>
        </p:nvSpPr>
        <p:spPr>
          <a:xfrm>
            <a:off x="8366760" y="2688336"/>
            <a:ext cx="2907792" cy="54864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Prompt engineering &amp; structured JSON output parsing.</a:t>
            </a:r>
            <a:endParaRPr lang="en-US" sz="1150" dirty="0"/>
          </a:p>
        </p:txBody>
      </p:sp>
      <p:sp>
        <p:nvSpPr>
          <p:cNvPr id="22" name="Shape 16"/>
          <p:cNvSpPr/>
          <p:nvPr/>
        </p:nvSpPr>
        <p:spPr>
          <a:xfrm>
            <a:off x="7680960" y="3474720"/>
            <a:ext cx="502920" cy="502920"/>
          </a:xfrm>
          <a:prstGeom prst="ellipse">
            <a:avLst/>
          </a:prstGeom>
          <a:solidFill>
            <a:srgbClr val="1C7293"/>
          </a:solidFill>
          <a:ln/>
        </p:spPr>
      </p:sp>
      <p:pic>
        <p:nvPicPr>
          <p:cNvPr id="23" name="Image 4" descr="/home/claude/proj/icons/chart.png"/>
          <p:cNvPicPr>
            <a:picLocks noChangeAspect="1"/>
          </p:cNvPicPr>
          <p:nvPr/>
        </p:nvPicPr>
        <p:blipFill>
          <a:blip r:embed="rId5"/>
          <a:stretch>
            <a:fillRect/>
          </a:stretch>
        </p:blipFill>
        <p:spPr>
          <a:xfrm>
            <a:off x="7821778" y="3615538"/>
            <a:ext cx="221285" cy="221285"/>
          </a:xfrm>
          <a:prstGeom prst="rect">
            <a:avLst/>
          </a:prstGeom>
        </p:spPr>
      </p:pic>
      <p:sp>
        <p:nvSpPr>
          <p:cNvPr id="24" name="Text 17"/>
          <p:cNvSpPr/>
          <p:nvPr/>
        </p:nvSpPr>
        <p:spPr>
          <a:xfrm>
            <a:off x="8366760" y="3447288"/>
            <a:ext cx="2907792" cy="292608"/>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Frontend</a:t>
            </a:r>
            <a:endParaRPr lang="en-US" sz="1400" dirty="0"/>
          </a:p>
        </p:txBody>
      </p:sp>
      <p:sp>
        <p:nvSpPr>
          <p:cNvPr id="25" name="Text 18"/>
          <p:cNvSpPr/>
          <p:nvPr/>
        </p:nvSpPr>
        <p:spPr>
          <a:xfrm>
            <a:off x="8366760" y="3739896"/>
            <a:ext cx="2907792" cy="54864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Streamlit interactive forms, metric cards, layout design.</a:t>
            </a:r>
            <a:endParaRPr lang="en-US" sz="1150" dirty="0"/>
          </a:p>
        </p:txBody>
      </p:sp>
      <p:sp>
        <p:nvSpPr>
          <p:cNvPr id="26" name="Shape 19"/>
          <p:cNvSpPr/>
          <p:nvPr/>
        </p:nvSpPr>
        <p:spPr>
          <a:xfrm>
            <a:off x="7680960" y="4526280"/>
            <a:ext cx="502920" cy="502920"/>
          </a:xfrm>
          <a:prstGeom prst="ellipse">
            <a:avLst/>
          </a:prstGeom>
          <a:solidFill>
            <a:srgbClr val="1C7293"/>
          </a:solidFill>
          <a:ln/>
        </p:spPr>
      </p:sp>
      <p:pic>
        <p:nvPicPr>
          <p:cNvPr id="27" name="Image 5" descr="/home/claude/proj/icons/shield.png"/>
          <p:cNvPicPr>
            <a:picLocks noChangeAspect="1"/>
          </p:cNvPicPr>
          <p:nvPr/>
        </p:nvPicPr>
        <p:blipFill>
          <a:blip r:embed="rId7"/>
          <a:stretch>
            <a:fillRect/>
          </a:stretch>
        </p:blipFill>
        <p:spPr>
          <a:xfrm>
            <a:off x="7821778" y="4667098"/>
            <a:ext cx="221285" cy="221285"/>
          </a:xfrm>
          <a:prstGeom prst="rect">
            <a:avLst/>
          </a:prstGeom>
        </p:spPr>
      </p:pic>
      <p:sp>
        <p:nvSpPr>
          <p:cNvPr id="28" name="Text 20"/>
          <p:cNvSpPr/>
          <p:nvPr/>
        </p:nvSpPr>
        <p:spPr>
          <a:xfrm>
            <a:off x="8366760" y="4498848"/>
            <a:ext cx="2907792" cy="292608"/>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QA</a:t>
            </a:r>
            <a:endParaRPr lang="en-US" sz="1400" dirty="0"/>
          </a:p>
        </p:txBody>
      </p:sp>
      <p:sp>
        <p:nvSpPr>
          <p:cNvPr id="29" name="Text 21"/>
          <p:cNvSpPr/>
          <p:nvPr/>
        </p:nvSpPr>
        <p:spPr>
          <a:xfrm>
            <a:off x="8366760" y="4791456"/>
            <a:ext cx="2907792" cy="548640"/>
          </a:xfrm>
          <a:prstGeom prst="rect">
            <a:avLst/>
          </a:prstGeom>
          <a:noFill/>
          <a:ln/>
        </p:spPr>
        <p:txBody>
          <a:bodyPr wrap="square" rtlCol="0" anchor="t"/>
          <a:lstStyle/>
          <a:p>
            <a:pPr marL="0" indent="0">
              <a:buNone/>
            </a:pPr>
            <a:r>
              <a:rPr lang="en-US" sz="1150" dirty="0">
                <a:solidFill>
                  <a:srgbClr val="CADCFC"/>
                </a:solidFill>
                <a:latin typeface="Calibri" pitchFamily="34" charset="0"/>
                <a:ea typeface="Calibri" pitchFamily="34" charset="-122"/>
                <a:cs typeface="Calibri" pitchFamily="34" charset="-120"/>
              </a:rPr>
              <a:t>Output validation &amp; fallback error handling.</a:t>
            </a:r>
            <a:endParaRPr lang="en-US" sz="1150" dirty="0"/>
          </a:p>
        </p:txBody>
      </p:sp>
      <p:sp>
        <p:nvSpPr>
          <p:cNvPr id="30" name="Text 22"/>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B76"/>
                </a:solidFill>
                <a:latin typeface="Calibri" pitchFamily="34" charset="0"/>
                <a:ea typeface="Calibri" pitchFamily="34" charset="-122"/>
                <a:cs typeface="Calibri" pitchFamily="34" charset="-120"/>
              </a:rPr>
              <a:t>Day 10 · Company Intelligence Engine</a:t>
            </a:r>
            <a:endParaRPr lang="en-US" sz="1000" dirty="0"/>
          </a:p>
        </p:txBody>
      </p:sp>
      <p:sp>
        <p:nvSpPr>
          <p:cNvPr id="31" name="Text 23"/>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5A6B7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Technical Architecture — Why &amp; How</a:t>
            </a:r>
            <a:endParaRPr lang="en-US" sz="3000" dirty="0"/>
          </a:p>
        </p:txBody>
      </p:sp>
      <p:sp>
        <p:nvSpPr>
          <p:cNvPr id="3" name="Shape 1"/>
          <p:cNvSpPr/>
          <p:nvPr/>
        </p:nvSpPr>
        <p:spPr>
          <a:xfrm>
            <a:off x="548640" y="1417320"/>
            <a:ext cx="5257800" cy="4709160"/>
          </a:xfrm>
          <a:prstGeom prst="roundRect">
            <a:avLst>
              <a:gd name="adj" fmla="val 2330"/>
            </a:avLst>
          </a:prstGeom>
          <a:solidFill>
            <a:srgbClr val="FFFFFF"/>
          </a:solidFill>
          <a:ln w="12700">
            <a:solidFill>
              <a:srgbClr val="E1E8ED"/>
            </a:solidFill>
            <a:prstDash val="solid"/>
          </a:ln>
        </p:spPr>
      </p:sp>
      <p:sp>
        <p:nvSpPr>
          <p:cNvPr id="4" name="Shape 2"/>
          <p:cNvSpPr/>
          <p:nvPr/>
        </p:nvSpPr>
        <p:spPr>
          <a:xfrm>
            <a:off x="868680" y="1737360"/>
            <a:ext cx="566928" cy="566928"/>
          </a:xfrm>
          <a:prstGeom prst="ellipse">
            <a:avLst/>
          </a:prstGeom>
          <a:solidFill>
            <a:srgbClr val="1C7293"/>
          </a:solidFill>
          <a:ln/>
        </p:spPr>
      </p:sp>
      <p:pic>
        <p:nvPicPr>
          <p:cNvPr id="5" name="Image 0" descr="/home/claude/proj/icons/search.png"/>
          <p:cNvPicPr>
            <a:picLocks noChangeAspect="1"/>
          </p:cNvPicPr>
          <p:nvPr/>
        </p:nvPicPr>
        <p:blipFill>
          <a:blip r:embed="rId3"/>
          <a:stretch>
            <a:fillRect/>
          </a:stretch>
        </p:blipFill>
        <p:spPr>
          <a:xfrm>
            <a:off x="1027420" y="1896100"/>
            <a:ext cx="249448" cy="249448"/>
          </a:xfrm>
          <a:prstGeom prst="rect">
            <a:avLst/>
          </a:prstGeom>
        </p:spPr>
      </p:pic>
      <p:sp>
        <p:nvSpPr>
          <p:cNvPr id="6" name="Text 3"/>
          <p:cNvSpPr/>
          <p:nvPr/>
        </p:nvSpPr>
        <p:spPr>
          <a:xfrm>
            <a:off x="1600200" y="1801368"/>
            <a:ext cx="3977640" cy="457200"/>
          </a:xfrm>
          <a:prstGeom prst="rect">
            <a:avLst/>
          </a:prstGeom>
          <a:noFill/>
          <a:ln/>
        </p:spPr>
        <p:txBody>
          <a:bodyPr wrap="square" rtlCol="0" anchor="ctr"/>
          <a:lstStyle/>
          <a:p>
            <a:pPr marL="0" indent="0">
              <a:buNone/>
            </a:pPr>
            <a:r>
              <a:rPr lang="en-US" sz="1800" b="1" dirty="0">
                <a:solidFill>
                  <a:srgbClr val="1C2733"/>
                </a:solidFill>
                <a:latin typeface="Cambria" pitchFamily="34" charset="0"/>
                <a:ea typeface="Cambria" pitchFamily="34" charset="-122"/>
                <a:cs typeface="Cambria" pitchFamily="34" charset="-120"/>
              </a:rPr>
              <a:t>The Problem (Why)</a:t>
            </a:r>
            <a:endParaRPr lang="en-US" sz="1800" dirty="0"/>
          </a:p>
        </p:txBody>
      </p:sp>
      <p:sp>
        <p:nvSpPr>
          <p:cNvPr id="7" name="Text 4"/>
          <p:cNvSpPr/>
          <p:nvPr/>
        </p:nvSpPr>
        <p:spPr>
          <a:xfrm>
            <a:off x="914400" y="2560320"/>
            <a:ext cx="4526280" cy="3246120"/>
          </a:xfrm>
          <a:prstGeom prst="rect">
            <a:avLst/>
          </a:prstGeom>
          <a:noFill/>
          <a:ln/>
        </p:spPr>
        <p:txBody>
          <a:bodyPr wrap="square" rtlCol="0" anchor="t"/>
          <a:lstStyle/>
          <a:p>
            <a:pPr marL="342900" indent="-342900">
              <a:lnSpc>
                <a:spcPct val="115000"/>
              </a:lnSpc>
              <a:spcAft>
                <a:spcPts val="1400"/>
              </a:spcAft>
              <a:buSzPct val="100000"/>
              <a:buChar char="•"/>
            </a:pPr>
            <a:r>
              <a:rPr lang="en-US" sz="1400" dirty="0">
                <a:solidFill>
                  <a:srgbClr val="1C2733"/>
                </a:solidFill>
                <a:latin typeface="Calibri" pitchFamily="34" charset="0"/>
                <a:ea typeface="Calibri" pitchFamily="34" charset="-122"/>
                <a:cs typeface="Calibri" pitchFamily="34" charset="-120"/>
              </a:rPr>
              <a:t>Sales reps spend hours manually researching target companies before making outreach calls.</a:t>
            </a:r>
            <a:endParaRPr lang="en-US" sz="1400" dirty="0"/>
          </a:p>
          <a:p>
            <a:pPr marL="342900" indent="-342900">
              <a:lnSpc>
                <a:spcPct val="115000"/>
              </a:lnSpc>
              <a:buSzPct val="100000"/>
              <a:buChar char="•"/>
            </a:pPr>
            <a:r>
              <a:rPr lang="en-US" sz="1400" dirty="0">
                <a:solidFill>
                  <a:srgbClr val="1C2733"/>
                </a:solidFill>
                <a:latin typeface="Calibri" pitchFamily="34" charset="0"/>
                <a:ea typeface="Calibri" pitchFamily="34" charset="-122"/>
                <a:cs typeface="Calibri" pitchFamily="34" charset="-120"/>
              </a:rPr>
              <a:t>The frontend needed structured, real-time AI research data to render insights instantly.</a:t>
            </a:r>
            <a:endParaRPr lang="en-US" sz="1400" dirty="0"/>
          </a:p>
        </p:txBody>
      </p:sp>
      <p:sp>
        <p:nvSpPr>
          <p:cNvPr id="8" name="Shape 5"/>
          <p:cNvSpPr/>
          <p:nvPr/>
        </p:nvSpPr>
        <p:spPr>
          <a:xfrm>
            <a:off x="6172200" y="1417320"/>
            <a:ext cx="5257800" cy="4709160"/>
          </a:xfrm>
          <a:prstGeom prst="roundRect">
            <a:avLst>
              <a:gd name="adj" fmla="val 2330"/>
            </a:avLst>
          </a:prstGeom>
          <a:solidFill>
            <a:srgbClr val="065A82"/>
          </a:solidFill>
          <a:ln/>
        </p:spPr>
      </p:sp>
      <p:sp>
        <p:nvSpPr>
          <p:cNvPr id="9" name="Shape 6"/>
          <p:cNvSpPr/>
          <p:nvPr/>
        </p:nvSpPr>
        <p:spPr>
          <a:xfrm>
            <a:off x="6492240" y="1737360"/>
            <a:ext cx="566928" cy="566928"/>
          </a:xfrm>
          <a:prstGeom prst="ellipse">
            <a:avLst/>
          </a:prstGeom>
          <a:solidFill>
            <a:srgbClr val="E8A33D"/>
          </a:solidFill>
          <a:ln/>
        </p:spPr>
      </p:sp>
      <p:pic>
        <p:nvPicPr>
          <p:cNvPr id="10" name="Image 1" descr="/home/claude/proj/icons/bulb.png"/>
          <p:cNvPicPr>
            <a:picLocks noChangeAspect="1"/>
          </p:cNvPicPr>
          <p:nvPr/>
        </p:nvPicPr>
        <p:blipFill>
          <a:blip r:embed="rId4"/>
          <a:stretch>
            <a:fillRect/>
          </a:stretch>
        </p:blipFill>
        <p:spPr>
          <a:xfrm>
            <a:off x="6650980" y="1896100"/>
            <a:ext cx="249448" cy="249448"/>
          </a:xfrm>
          <a:prstGeom prst="rect">
            <a:avLst/>
          </a:prstGeom>
        </p:spPr>
      </p:pic>
      <p:sp>
        <p:nvSpPr>
          <p:cNvPr id="11" name="Text 7"/>
          <p:cNvSpPr/>
          <p:nvPr/>
        </p:nvSpPr>
        <p:spPr>
          <a:xfrm>
            <a:off x="7223760" y="1801368"/>
            <a:ext cx="3977640" cy="45720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Solution (How)</a:t>
            </a:r>
            <a:endParaRPr lang="en-US" sz="1800" dirty="0"/>
          </a:p>
        </p:txBody>
      </p:sp>
      <p:sp>
        <p:nvSpPr>
          <p:cNvPr id="12" name="Text 8"/>
          <p:cNvSpPr/>
          <p:nvPr/>
        </p:nvSpPr>
        <p:spPr>
          <a:xfrm>
            <a:off x="6537960" y="2560320"/>
            <a:ext cx="4526280" cy="3246120"/>
          </a:xfrm>
          <a:prstGeom prst="rect">
            <a:avLst/>
          </a:prstGeom>
          <a:noFill/>
          <a:ln/>
        </p:spPr>
        <p:txBody>
          <a:bodyPr wrap="square" rtlCol="0" anchor="t"/>
          <a:lstStyle/>
          <a:p>
            <a:pPr marL="342900" indent="-342900">
              <a:lnSpc>
                <a:spcPct val="11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Integrated Google Gemini 2.5 Flash with custom system prompts.</a:t>
            </a:r>
            <a:endParaRPr lang="en-US" sz="1300" dirty="0"/>
          </a:p>
          <a:p>
            <a:pPr marL="342900" indent="-342900">
              <a:lnSpc>
                <a:spcPct val="11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Enforced structured JSON output: lead_score, company_summary, sales_opportunity, recommended_sales_approach.</a:t>
            </a:r>
            <a:endParaRPr lang="en-US" sz="1300" dirty="0"/>
          </a:p>
          <a:p>
            <a:pPr marL="342900" indent="-342900">
              <a:lnSpc>
                <a:spcPct val="112000"/>
              </a:lnSpc>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Automatic database persistence (PostgreSQL/SQLite) so researched profiles are saved for future reference.</a:t>
            </a:r>
            <a:endParaRPr lang="en-US" sz="1300" dirty="0"/>
          </a:p>
          <a:p>
            <a:pPr marL="342900" indent="-342900">
              <a:lnSpc>
                <a:spcPct val="112000"/>
              </a:lnSpc>
              <a:buSzPct val="100000"/>
              <a:buChar char="•"/>
            </a:pPr>
            <a:r>
              <a:rPr lang="en-US" sz="1300" dirty="0">
                <a:solidFill>
                  <a:srgbClr val="CADCFC"/>
                </a:solidFill>
                <a:latin typeface="Calibri" pitchFamily="34" charset="0"/>
                <a:ea typeface="Calibri" pitchFamily="34" charset="-122"/>
                <a:cs typeface="Calibri" pitchFamily="34" charset="-120"/>
              </a:rPr>
              <a:t>Structured fallback responses maintain zero-downtime execution during API rate limits.</a:t>
            </a:r>
            <a:endParaRPr lang="en-US" sz="1300" dirty="0"/>
          </a:p>
        </p:txBody>
      </p:sp>
      <p:sp>
        <p:nvSpPr>
          <p:cNvPr id="13" name="Text 9"/>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B76"/>
                </a:solidFill>
                <a:latin typeface="Calibri" pitchFamily="34" charset="0"/>
                <a:ea typeface="Calibri" pitchFamily="34" charset="-122"/>
                <a:cs typeface="Calibri" pitchFamily="34" charset="-120"/>
              </a:rPr>
              <a:t>Day 10 · Company Intelligence Engine</a:t>
            </a:r>
            <a:endParaRPr lang="en-US" sz="1000" dirty="0"/>
          </a:p>
        </p:txBody>
      </p:sp>
      <p:sp>
        <p:nvSpPr>
          <p:cNvPr id="14" name="Text 1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5A6B7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Inside /analyze-company: Request Lifecycle</a:t>
            </a:r>
            <a:endParaRPr lang="en-US" sz="2800" dirty="0"/>
          </a:p>
        </p:txBody>
      </p:sp>
      <p:sp>
        <p:nvSpPr>
          <p:cNvPr id="3" name="Text 1"/>
          <p:cNvSpPr/>
          <p:nvPr/>
        </p:nvSpPr>
        <p:spPr>
          <a:xfrm>
            <a:off x="548640" y="987552"/>
            <a:ext cx="10515600" cy="320040"/>
          </a:xfrm>
          <a:prstGeom prst="rect">
            <a:avLst/>
          </a:prstGeom>
          <a:noFill/>
          <a:ln/>
        </p:spPr>
        <p:txBody>
          <a:bodyPr wrap="square" rtlCol="0" anchor="ctr"/>
          <a:lstStyle/>
          <a:p>
            <a:pPr marL="0" indent="0">
              <a:buNone/>
            </a:pPr>
            <a:r>
              <a:rPr lang="en-US" sz="1350" i="1" dirty="0">
                <a:solidFill>
                  <a:srgbClr val="1C7293"/>
                </a:solidFill>
                <a:latin typeface="Calibri" pitchFamily="34" charset="0"/>
                <a:ea typeface="Calibri" pitchFamily="34" charset="-122"/>
                <a:cs typeface="Calibri" pitchFamily="34" charset="-120"/>
              </a:rPr>
              <a:t>From a rep's request to a rendered intelligence card — in under 3 seconds</a:t>
            </a:r>
            <a:endParaRPr lang="en-US" sz="1350" dirty="0"/>
          </a:p>
        </p:txBody>
      </p:sp>
      <p:sp>
        <p:nvSpPr>
          <p:cNvPr id="4" name="Shape 2"/>
          <p:cNvSpPr/>
          <p:nvPr/>
        </p:nvSpPr>
        <p:spPr>
          <a:xfrm>
            <a:off x="2543687" y="2382012"/>
            <a:ext cx="189400" cy="292608"/>
          </a:xfrm>
          <a:prstGeom prst="chevron">
            <a:avLst/>
          </a:prstGeom>
          <a:solidFill>
            <a:srgbClr val="1C7293"/>
          </a:solidFill>
          <a:ln/>
        </p:spPr>
      </p:sp>
      <p:sp>
        <p:nvSpPr>
          <p:cNvPr id="5" name="Shape 3"/>
          <p:cNvSpPr/>
          <p:nvPr/>
        </p:nvSpPr>
        <p:spPr>
          <a:xfrm>
            <a:off x="548640" y="2011680"/>
            <a:ext cx="1874520" cy="3200400"/>
          </a:xfrm>
          <a:prstGeom prst="roundRect">
            <a:avLst>
              <a:gd name="adj" fmla="val 4878"/>
            </a:avLst>
          </a:prstGeom>
          <a:solidFill>
            <a:srgbClr val="FFFFFF"/>
          </a:solidFill>
          <a:ln w="12700">
            <a:solidFill>
              <a:srgbClr val="E1E8ED"/>
            </a:solidFill>
            <a:prstDash val="solid"/>
          </a:ln>
          <a:effectLst>
            <a:outerShdw blurRad="76200" dist="25400" dir="5400000" algn="bl" rotWithShape="0">
              <a:srgbClr val="1B2733">
                <a:alpha val="12000"/>
              </a:srgbClr>
            </a:outerShdw>
          </a:effectLst>
        </p:spPr>
      </p:sp>
      <p:sp>
        <p:nvSpPr>
          <p:cNvPr id="6" name="Shape 4"/>
          <p:cNvSpPr/>
          <p:nvPr/>
        </p:nvSpPr>
        <p:spPr>
          <a:xfrm>
            <a:off x="1097280" y="2286000"/>
            <a:ext cx="777240" cy="777240"/>
          </a:xfrm>
          <a:prstGeom prst="ellipse">
            <a:avLst/>
          </a:prstGeom>
          <a:solidFill>
            <a:srgbClr val="065A82"/>
          </a:solidFill>
          <a:ln/>
        </p:spPr>
      </p:sp>
      <p:pic>
        <p:nvPicPr>
          <p:cNvPr id="7" name="Image 0" descr="/home/claude/proj/icons/search.png"/>
          <p:cNvPicPr>
            <a:picLocks noChangeAspect="1"/>
          </p:cNvPicPr>
          <p:nvPr/>
        </p:nvPicPr>
        <p:blipFill>
          <a:blip r:embed="rId3"/>
          <a:stretch>
            <a:fillRect/>
          </a:stretch>
        </p:blipFill>
        <p:spPr>
          <a:xfrm>
            <a:off x="1314907" y="2503627"/>
            <a:ext cx="341986" cy="341986"/>
          </a:xfrm>
          <a:prstGeom prst="rect">
            <a:avLst/>
          </a:prstGeom>
        </p:spPr>
      </p:pic>
      <p:sp>
        <p:nvSpPr>
          <p:cNvPr id="8" name="Text 5"/>
          <p:cNvSpPr/>
          <p:nvPr/>
        </p:nvSpPr>
        <p:spPr>
          <a:xfrm>
            <a:off x="658368" y="3172968"/>
            <a:ext cx="1655064" cy="457200"/>
          </a:xfrm>
          <a:prstGeom prst="rect">
            <a:avLst/>
          </a:prstGeom>
          <a:noFill/>
          <a:ln/>
        </p:spPr>
        <p:txBody>
          <a:bodyPr wrap="square" rtlCol="0" anchor="t"/>
          <a:lstStyle/>
          <a:p>
            <a:pPr marL="0" indent="0" algn="ctr">
              <a:buNone/>
            </a:pPr>
            <a:r>
              <a:rPr lang="en-US" sz="1250" b="1" dirty="0">
                <a:solidFill>
                  <a:srgbClr val="1C2733"/>
                </a:solidFill>
                <a:latin typeface="Calibri" pitchFamily="34" charset="0"/>
                <a:ea typeface="Calibri" pitchFamily="34" charset="-122"/>
                <a:cs typeface="Calibri" pitchFamily="34" charset="-120"/>
              </a:rPr>
              <a:t>1. Input Received</a:t>
            </a:r>
            <a:endParaRPr lang="en-US" sz="1250" dirty="0"/>
          </a:p>
        </p:txBody>
      </p:sp>
      <p:sp>
        <p:nvSpPr>
          <p:cNvPr id="9" name="Text 6"/>
          <p:cNvSpPr/>
          <p:nvPr/>
        </p:nvSpPr>
        <p:spPr>
          <a:xfrm>
            <a:off x="676656" y="3630168"/>
            <a:ext cx="1618488" cy="1444752"/>
          </a:xfrm>
          <a:prstGeom prst="rect">
            <a:avLst/>
          </a:prstGeom>
          <a:noFill/>
          <a:ln/>
        </p:spPr>
        <p:txBody>
          <a:bodyPr wrap="square" rtlCol="0" anchor="t"/>
          <a:lstStyle/>
          <a:p>
            <a:pPr marL="0" indent="0" algn="ctr">
              <a:lnSpc>
                <a:spcPct val="105000"/>
              </a:lnSpc>
              <a:buNone/>
            </a:pPr>
            <a:r>
              <a:rPr lang="en-US" sz="1000" dirty="0">
                <a:solidFill>
                  <a:srgbClr val="5A6B76"/>
                </a:solidFill>
                <a:latin typeface="Calibri" pitchFamily="34" charset="0"/>
                <a:ea typeface="Calibri" pitchFamily="34" charset="-122"/>
                <a:cs typeface="Calibri" pitchFamily="34" charset="-120"/>
              </a:rPr>
              <a:t>Company name, live web data &amp; call transcripts submitted via the Streamlit form.</a:t>
            </a:r>
            <a:endParaRPr lang="en-US" sz="1000" dirty="0"/>
          </a:p>
        </p:txBody>
      </p:sp>
      <p:sp>
        <p:nvSpPr>
          <p:cNvPr id="10" name="Shape 7"/>
          <p:cNvSpPr/>
          <p:nvPr/>
        </p:nvSpPr>
        <p:spPr>
          <a:xfrm>
            <a:off x="4848661" y="2382012"/>
            <a:ext cx="189400" cy="292608"/>
          </a:xfrm>
          <a:prstGeom prst="chevron">
            <a:avLst/>
          </a:prstGeom>
          <a:solidFill>
            <a:srgbClr val="1C7293"/>
          </a:solidFill>
          <a:ln/>
        </p:spPr>
      </p:sp>
      <p:sp>
        <p:nvSpPr>
          <p:cNvPr id="11" name="Shape 8"/>
          <p:cNvSpPr/>
          <p:nvPr/>
        </p:nvSpPr>
        <p:spPr>
          <a:xfrm>
            <a:off x="2853614" y="2011680"/>
            <a:ext cx="1874520" cy="3200400"/>
          </a:xfrm>
          <a:prstGeom prst="roundRect">
            <a:avLst>
              <a:gd name="adj" fmla="val 4878"/>
            </a:avLst>
          </a:prstGeom>
          <a:solidFill>
            <a:srgbClr val="FFFFFF"/>
          </a:solidFill>
          <a:ln w="12700">
            <a:solidFill>
              <a:srgbClr val="E1E8ED"/>
            </a:solidFill>
            <a:prstDash val="solid"/>
          </a:ln>
          <a:effectLst>
            <a:outerShdw blurRad="76200" dist="25400" dir="5400000" algn="bl" rotWithShape="0">
              <a:srgbClr val="1B2733">
                <a:alpha val="12000"/>
              </a:srgbClr>
            </a:outerShdw>
          </a:effectLst>
        </p:spPr>
      </p:sp>
      <p:sp>
        <p:nvSpPr>
          <p:cNvPr id="12" name="Shape 9"/>
          <p:cNvSpPr/>
          <p:nvPr/>
        </p:nvSpPr>
        <p:spPr>
          <a:xfrm>
            <a:off x="3402254" y="2286000"/>
            <a:ext cx="777240" cy="777240"/>
          </a:xfrm>
          <a:prstGeom prst="ellipse">
            <a:avLst/>
          </a:prstGeom>
          <a:solidFill>
            <a:srgbClr val="065A82"/>
          </a:solidFill>
          <a:ln/>
        </p:spPr>
      </p:sp>
      <p:pic>
        <p:nvPicPr>
          <p:cNvPr id="13" name="Image 1" descr="/home/claude/proj/icons/cogs.png"/>
          <p:cNvPicPr>
            <a:picLocks noChangeAspect="1"/>
          </p:cNvPicPr>
          <p:nvPr/>
        </p:nvPicPr>
        <p:blipFill>
          <a:blip r:embed="rId4"/>
          <a:stretch>
            <a:fillRect/>
          </a:stretch>
        </p:blipFill>
        <p:spPr>
          <a:xfrm>
            <a:off x="3619881" y="2503627"/>
            <a:ext cx="341986" cy="341986"/>
          </a:xfrm>
          <a:prstGeom prst="rect">
            <a:avLst/>
          </a:prstGeom>
        </p:spPr>
      </p:pic>
      <p:sp>
        <p:nvSpPr>
          <p:cNvPr id="14" name="Text 10"/>
          <p:cNvSpPr/>
          <p:nvPr/>
        </p:nvSpPr>
        <p:spPr>
          <a:xfrm>
            <a:off x="2963342" y="3172968"/>
            <a:ext cx="1655064" cy="457200"/>
          </a:xfrm>
          <a:prstGeom prst="rect">
            <a:avLst/>
          </a:prstGeom>
          <a:noFill/>
          <a:ln/>
        </p:spPr>
        <p:txBody>
          <a:bodyPr wrap="square" rtlCol="0" anchor="t"/>
          <a:lstStyle/>
          <a:p>
            <a:pPr marL="0" indent="0" algn="ctr">
              <a:buNone/>
            </a:pPr>
            <a:r>
              <a:rPr lang="en-US" sz="1250" b="1" dirty="0">
                <a:solidFill>
                  <a:srgbClr val="1C2733"/>
                </a:solidFill>
                <a:latin typeface="Calibri" pitchFamily="34" charset="0"/>
                <a:ea typeface="Calibri" pitchFamily="34" charset="-122"/>
                <a:cs typeface="Calibri" pitchFamily="34" charset="-120"/>
              </a:rPr>
              <a:t>2. Prompt Assembly</a:t>
            </a:r>
            <a:endParaRPr lang="en-US" sz="1250" dirty="0"/>
          </a:p>
        </p:txBody>
      </p:sp>
      <p:sp>
        <p:nvSpPr>
          <p:cNvPr id="15" name="Text 11"/>
          <p:cNvSpPr/>
          <p:nvPr/>
        </p:nvSpPr>
        <p:spPr>
          <a:xfrm>
            <a:off x="2981630" y="3630168"/>
            <a:ext cx="1618488" cy="1444752"/>
          </a:xfrm>
          <a:prstGeom prst="rect">
            <a:avLst/>
          </a:prstGeom>
          <a:noFill/>
          <a:ln/>
        </p:spPr>
        <p:txBody>
          <a:bodyPr wrap="square" rtlCol="0" anchor="t"/>
          <a:lstStyle/>
          <a:p>
            <a:pPr marL="0" indent="0" algn="ctr">
              <a:lnSpc>
                <a:spcPct val="105000"/>
              </a:lnSpc>
              <a:buNone/>
            </a:pPr>
            <a:r>
              <a:rPr lang="en-US" sz="1000" dirty="0">
                <a:solidFill>
                  <a:srgbClr val="5A6B76"/>
                </a:solidFill>
                <a:latin typeface="Calibri" pitchFamily="34" charset="0"/>
                <a:ea typeface="Calibri" pitchFamily="34" charset="-122"/>
                <a:cs typeface="Calibri" pitchFamily="34" charset="-120"/>
              </a:rPr>
              <a:t>System prompt injects context and enforces a strict JSON response schema.</a:t>
            </a:r>
            <a:endParaRPr lang="en-US" sz="1000" dirty="0"/>
          </a:p>
        </p:txBody>
      </p:sp>
      <p:sp>
        <p:nvSpPr>
          <p:cNvPr id="16" name="Shape 12"/>
          <p:cNvSpPr/>
          <p:nvPr/>
        </p:nvSpPr>
        <p:spPr>
          <a:xfrm>
            <a:off x="7153635" y="2382012"/>
            <a:ext cx="189400" cy="292608"/>
          </a:xfrm>
          <a:prstGeom prst="chevron">
            <a:avLst/>
          </a:prstGeom>
          <a:solidFill>
            <a:srgbClr val="1C7293"/>
          </a:solidFill>
          <a:ln/>
        </p:spPr>
      </p:sp>
      <p:sp>
        <p:nvSpPr>
          <p:cNvPr id="17" name="Shape 13"/>
          <p:cNvSpPr/>
          <p:nvPr/>
        </p:nvSpPr>
        <p:spPr>
          <a:xfrm>
            <a:off x="5158588" y="2011680"/>
            <a:ext cx="1874520" cy="3200400"/>
          </a:xfrm>
          <a:prstGeom prst="roundRect">
            <a:avLst>
              <a:gd name="adj" fmla="val 4878"/>
            </a:avLst>
          </a:prstGeom>
          <a:solidFill>
            <a:srgbClr val="FFFFFF"/>
          </a:solidFill>
          <a:ln w="12700">
            <a:solidFill>
              <a:srgbClr val="E1E8ED"/>
            </a:solidFill>
            <a:prstDash val="solid"/>
          </a:ln>
          <a:effectLst>
            <a:outerShdw blurRad="76200" dist="25400" dir="5400000" algn="bl" rotWithShape="0">
              <a:srgbClr val="1B2733">
                <a:alpha val="12000"/>
              </a:srgbClr>
            </a:outerShdw>
          </a:effectLst>
        </p:spPr>
      </p:sp>
      <p:sp>
        <p:nvSpPr>
          <p:cNvPr id="18" name="Shape 14"/>
          <p:cNvSpPr/>
          <p:nvPr/>
        </p:nvSpPr>
        <p:spPr>
          <a:xfrm>
            <a:off x="5707228" y="2286000"/>
            <a:ext cx="777240" cy="777240"/>
          </a:xfrm>
          <a:prstGeom prst="ellipse">
            <a:avLst/>
          </a:prstGeom>
          <a:solidFill>
            <a:srgbClr val="E8A33D"/>
          </a:solidFill>
          <a:ln/>
        </p:spPr>
      </p:sp>
      <p:pic>
        <p:nvPicPr>
          <p:cNvPr id="19" name="Image 2" descr="/home/claude/proj/icons/brain.png"/>
          <p:cNvPicPr>
            <a:picLocks noChangeAspect="1"/>
          </p:cNvPicPr>
          <p:nvPr/>
        </p:nvPicPr>
        <p:blipFill>
          <a:blip r:embed="rId5"/>
          <a:stretch>
            <a:fillRect/>
          </a:stretch>
        </p:blipFill>
        <p:spPr>
          <a:xfrm>
            <a:off x="5924855" y="2503627"/>
            <a:ext cx="341986" cy="341986"/>
          </a:xfrm>
          <a:prstGeom prst="rect">
            <a:avLst/>
          </a:prstGeom>
        </p:spPr>
      </p:pic>
      <p:sp>
        <p:nvSpPr>
          <p:cNvPr id="20" name="Text 15"/>
          <p:cNvSpPr/>
          <p:nvPr/>
        </p:nvSpPr>
        <p:spPr>
          <a:xfrm>
            <a:off x="5268316" y="3172968"/>
            <a:ext cx="1655064" cy="457200"/>
          </a:xfrm>
          <a:prstGeom prst="rect">
            <a:avLst/>
          </a:prstGeom>
          <a:noFill/>
          <a:ln/>
        </p:spPr>
        <p:txBody>
          <a:bodyPr wrap="square" rtlCol="0" anchor="t"/>
          <a:lstStyle/>
          <a:p>
            <a:pPr marL="0" indent="0" algn="ctr">
              <a:buNone/>
            </a:pPr>
            <a:r>
              <a:rPr lang="en-US" sz="1250" b="1" dirty="0">
                <a:solidFill>
                  <a:srgbClr val="1C2733"/>
                </a:solidFill>
                <a:latin typeface="Calibri" pitchFamily="34" charset="0"/>
                <a:ea typeface="Calibri" pitchFamily="34" charset="-122"/>
                <a:cs typeface="Calibri" pitchFamily="34" charset="-120"/>
              </a:rPr>
              <a:t>3. Gemini 2.5 Flash</a:t>
            </a:r>
            <a:endParaRPr lang="en-US" sz="1250" dirty="0"/>
          </a:p>
        </p:txBody>
      </p:sp>
      <p:sp>
        <p:nvSpPr>
          <p:cNvPr id="21" name="Text 16"/>
          <p:cNvSpPr/>
          <p:nvPr/>
        </p:nvSpPr>
        <p:spPr>
          <a:xfrm>
            <a:off x="5286604" y="3630168"/>
            <a:ext cx="1618488" cy="1444752"/>
          </a:xfrm>
          <a:prstGeom prst="rect">
            <a:avLst/>
          </a:prstGeom>
          <a:noFill/>
          <a:ln/>
        </p:spPr>
        <p:txBody>
          <a:bodyPr wrap="square" rtlCol="0" anchor="t"/>
          <a:lstStyle/>
          <a:p>
            <a:pPr marL="0" indent="0" algn="ctr">
              <a:lnSpc>
                <a:spcPct val="105000"/>
              </a:lnSpc>
              <a:buNone/>
            </a:pPr>
            <a:r>
              <a:rPr lang="en-US" sz="1000" dirty="0">
                <a:solidFill>
                  <a:srgbClr val="5A6B76"/>
                </a:solidFill>
                <a:latin typeface="Calibri" pitchFamily="34" charset="0"/>
                <a:ea typeface="Calibri" pitchFamily="34" charset="-122"/>
                <a:cs typeface="Calibri" pitchFamily="34" charset="-120"/>
              </a:rPr>
              <a:t>Model reasons over the inputs and drafts structured company intelligence.</a:t>
            </a:r>
            <a:endParaRPr lang="en-US" sz="1000" dirty="0"/>
          </a:p>
        </p:txBody>
      </p:sp>
      <p:sp>
        <p:nvSpPr>
          <p:cNvPr id="22" name="Shape 17"/>
          <p:cNvSpPr/>
          <p:nvPr/>
        </p:nvSpPr>
        <p:spPr>
          <a:xfrm>
            <a:off x="9458608" y="2382012"/>
            <a:ext cx="189400" cy="292608"/>
          </a:xfrm>
          <a:prstGeom prst="chevron">
            <a:avLst/>
          </a:prstGeom>
          <a:solidFill>
            <a:srgbClr val="1C7293"/>
          </a:solidFill>
          <a:ln/>
        </p:spPr>
      </p:sp>
      <p:sp>
        <p:nvSpPr>
          <p:cNvPr id="23" name="Shape 18"/>
          <p:cNvSpPr/>
          <p:nvPr/>
        </p:nvSpPr>
        <p:spPr>
          <a:xfrm>
            <a:off x="7463561" y="2011680"/>
            <a:ext cx="1874520" cy="3200400"/>
          </a:xfrm>
          <a:prstGeom prst="roundRect">
            <a:avLst>
              <a:gd name="adj" fmla="val 4878"/>
            </a:avLst>
          </a:prstGeom>
          <a:solidFill>
            <a:srgbClr val="FFFFFF"/>
          </a:solidFill>
          <a:ln w="12700">
            <a:solidFill>
              <a:srgbClr val="E1E8ED"/>
            </a:solidFill>
            <a:prstDash val="solid"/>
          </a:ln>
          <a:effectLst>
            <a:outerShdw blurRad="76200" dist="25400" dir="5400000" algn="bl" rotWithShape="0">
              <a:srgbClr val="1B2733">
                <a:alpha val="12000"/>
              </a:srgbClr>
            </a:outerShdw>
          </a:effectLst>
        </p:spPr>
      </p:sp>
      <p:sp>
        <p:nvSpPr>
          <p:cNvPr id="24" name="Shape 19"/>
          <p:cNvSpPr/>
          <p:nvPr/>
        </p:nvSpPr>
        <p:spPr>
          <a:xfrm>
            <a:off x="8012201" y="2286000"/>
            <a:ext cx="777240" cy="777240"/>
          </a:xfrm>
          <a:prstGeom prst="ellipse">
            <a:avLst/>
          </a:prstGeom>
          <a:solidFill>
            <a:srgbClr val="065A82"/>
          </a:solidFill>
          <a:ln/>
        </p:spPr>
      </p:sp>
      <p:pic>
        <p:nvPicPr>
          <p:cNvPr id="25" name="Image 3" descr="/home/claude/proj/icons/shield.png"/>
          <p:cNvPicPr>
            <a:picLocks noChangeAspect="1"/>
          </p:cNvPicPr>
          <p:nvPr/>
        </p:nvPicPr>
        <p:blipFill>
          <a:blip r:embed="rId6"/>
          <a:stretch>
            <a:fillRect/>
          </a:stretch>
        </p:blipFill>
        <p:spPr>
          <a:xfrm>
            <a:off x="8229829" y="2503627"/>
            <a:ext cx="341986" cy="341986"/>
          </a:xfrm>
          <a:prstGeom prst="rect">
            <a:avLst/>
          </a:prstGeom>
        </p:spPr>
      </p:pic>
      <p:sp>
        <p:nvSpPr>
          <p:cNvPr id="26" name="Text 20"/>
          <p:cNvSpPr/>
          <p:nvPr/>
        </p:nvSpPr>
        <p:spPr>
          <a:xfrm>
            <a:off x="7573289" y="3172968"/>
            <a:ext cx="1655064" cy="457200"/>
          </a:xfrm>
          <a:prstGeom prst="rect">
            <a:avLst/>
          </a:prstGeom>
          <a:noFill/>
          <a:ln/>
        </p:spPr>
        <p:txBody>
          <a:bodyPr wrap="square" rtlCol="0" anchor="t"/>
          <a:lstStyle/>
          <a:p>
            <a:pPr marL="0" indent="0" algn="ctr">
              <a:buNone/>
            </a:pPr>
            <a:r>
              <a:rPr lang="en-US" sz="1250" b="1" dirty="0">
                <a:solidFill>
                  <a:srgbClr val="1C2733"/>
                </a:solidFill>
                <a:latin typeface="Calibri" pitchFamily="34" charset="0"/>
                <a:ea typeface="Calibri" pitchFamily="34" charset="-122"/>
                <a:cs typeface="Calibri" pitchFamily="34" charset="-120"/>
              </a:rPr>
              <a:t>4. Validate &amp; Fallback</a:t>
            </a:r>
            <a:endParaRPr lang="en-US" sz="1250" dirty="0"/>
          </a:p>
        </p:txBody>
      </p:sp>
      <p:sp>
        <p:nvSpPr>
          <p:cNvPr id="27" name="Text 21"/>
          <p:cNvSpPr/>
          <p:nvPr/>
        </p:nvSpPr>
        <p:spPr>
          <a:xfrm>
            <a:off x="7591577" y="3630168"/>
            <a:ext cx="1618488" cy="1444752"/>
          </a:xfrm>
          <a:prstGeom prst="rect">
            <a:avLst/>
          </a:prstGeom>
          <a:noFill/>
          <a:ln/>
        </p:spPr>
        <p:txBody>
          <a:bodyPr wrap="square" rtlCol="0" anchor="t"/>
          <a:lstStyle/>
          <a:p>
            <a:pPr marL="0" indent="0" algn="ctr">
              <a:lnSpc>
                <a:spcPct val="105000"/>
              </a:lnSpc>
              <a:buNone/>
            </a:pPr>
            <a:r>
              <a:rPr lang="en-US" sz="1000" dirty="0">
                <a:solidFill>
                  <a:srgbClr val="5A6B76"/>
                </a:solidFill>
                <a:latin typeface="Calibri" pitchFamily="34" charset="0"/>
                <a:ea typeface="Calibri" pitchFamily="34" charset="-122"/>
                <a:cs typeface="Calibri" pitchFamily="34" charset="-120"/>
              </a:rPr>
              <a:t>Schema is checked; graceful fallback triggers on timeouts or rate limits.</a:t>
            </a:r>
            <a:endParaRPr lang="en-US" sz="1000" dirty="0"/>
          </a:p>
        </p:txBody>
      </p:sp>
      <p:sp>
        <p:nvSpPr>
          <p:cNvPr id="28" name="Shape 22"/>
          <p:cNvSpPr/>
          <p:nvPr/>
        </p:nvSpPr>
        <p:spPr>
          <a:xfrm>
            <a:off x="9768535" y="2011680"/>
            <a:ext cx="1874520" cy="3200400"/>
          </a:xfrm>
          <a:prstGeom prst="roundRect">
            <a:avLst>
              <a:gd name="adj" fmla="val 4878"/>
            </a:avLst>
          </a:prstGeom>
          <a:solidFill>
            <a:srgbClr val="FFFFFF"/>
          </a:solidFill>
          <a:ln w="12700">
            <a:solidFill>
              <a:srgbClr val="E1E8ED"/>
            </a:solidFill>
            <a:prstDash val="solid"/>
          </a:ln>
          <a:effectLst>
            <a:outerShdw blurRad="76200" dist="25400" dir="5400000" algn="bl" rotWithShape="0">
              <a:srgbClr val="1B2733">
                <a:alpha val="12000"/>
              </a:srgbClr>
            </a:outerShdw>
          </a:effectLst>
        </p:spPr>
      </p:sp>
      <p:sp>
        <p:nvSpPr>
          <p:cNvPr id="29" name="Shape 23"/>
          <p:cNvSpPr/>
          <p:nvPr/>
        </p:nvSpPr>
        <p:spPr>
          <a:xfrm>
            <a:off x="10317175" y="2286000"/>
            <a:ext cx="777240" cy="777240"/>
          </a:xfrm>
          <a:prstGeom prst="ellipse">
            <a:avLst/>
          </a:prstGeom>
          <a:solidFill>
            <a:srgbClr val="065A82"/>
          </a:solidFill>
          <a:ln/>
        </p:spPr>
      </p:sp>
      <p:pic>
        <p:nvPicPr>
          <p:cNvPr id="30" name="Image 4" descr="/home/claude/proj/icons/database.png"/>
          <p:cNvPicPr>
            <a:picLocks noChangeAspect="1"/>
          </p:cNvPicPr>
          <p:nvPr/>
        </p:nvPicPr>
        <p:blipFill>
          <a:blip r:embed="rId7"/>
          <a:stretch>
            <a:fillRect/>
          </a:stretch>
        </p:blipFill>
        <p:spPr>
          <a:xfrm>
            <a:off x="10534802" y="2503627"/>
            <a:ext cx="341986" cy="341986"/>
          </a:xfrm>
          <a:prstGeom prst="rect">
            <a:avLst/>
          </a:prstGeom>
        </p:spPr>
      </p:pic>
      <p:sp>
        <p:nvSpPr>
          <p:cNvPr id="31" name="Text 24"/>
          <p:cNvSpPr/>
          <p:nvPr/>
        </p:nvSpPr>
        <p:spPr>
          <a:xfrm>
            <a:off x="9878263" y="3172968"/>
            <a:ext cx="1655064" cy="457200"/>
          </a:xfrm>
          <a:prstGeom prst="rect">
            <a:avLst/>
          </a:prstGeom>
          <a:noFill/>
          <a:ln/>
        </p:spPr>
        <p:txBody>
          <a:bodyPr wrap="square" rtlCol="0" anchor="t"/>
          <a:lstStyle/>
          <a:p>
            <a:pPr marL="0" indent="0" algn="ctr">
              <a:buNone/>
            </a:pPr>
            <a:r>
              <a:rPr lang="en-US" sz="1250" b="1" dirty="0">
                <a:solidFill>
                  <a:srgbClr val="1C2733"/>
                </a:solidFill>
                <a:latin typeface="Calibri" pitchFamily="34" charset="0"/>
                <a:ea typeface="Calibri" pitchFamily="34" charset="-122"/>
                <a:cs typeface="Calibri" pitchFamily="34" charset="-120"/>
              </a:rPr>
              <a:t>5. Persist &amp; Render</a:t>
            </a:r>
            <a:endParaRPr lang="en-US" sz="1250" dirty="0"/>
          </a:p>
        </p:txBody>
      </p:sp>
      <p:sp>
        <p:nvSpPr>
          <p:cNvPr id="32" name="Text 25"/>
          <p:cNvSpPr/>
          <p:nvPr/>
        </p:nvSpPr>
        <p:spPr>
          <a:xfrm>
            <a:off x="9896551" y="3630168"/>
            <a:ext cx="1618488" cy="1444752"/>
          </a:xfrm>
          <a:prstGeom prst="rect">
            <a:avLst/>
          </a:prstGeom>
          <a:noFill/>
          <a:ln/>
        </p:spPr>
        <p:txBody>
          <a:bodyPr wrap="square" rtlCol="0" anchor="t"/>
          <a:lstStyle/>
          <a:p>
            <a:pPr marL="0" indent="0" algn="ctr">
              <a:lnSpc>
                <a:spcPct val="105000"/>
              </a:lnSpc>
              <a:buNone/>
            </a:pPr>
            <a:r>
              <a:rPr lang="en-US" sz="1000" dirty="0">
                <a:solidFill>
                  <a:srgbClr val="5A6B76"/>
                </a:solidFill>
                <a:latin typeface="Calibri" pitchFamily="34" charset="0"/>
                <a:ea typeface="Calibri" pitchFamily="34" charset="-122"/>
                <a:cs typeface="Calibri" pitchFamily="34" charset="-120"/>
              </a:rPr>
              <a:t>Profile is saved to PostgreSQL/SQLite and rendered instantly in the UI.</a:t>
            </a:r>
            <a:endParaRPr lang="en-US" sz="1000" dirty="0"/>
          </a:p>
        </p:txBody>
      </p:sp>
      <p:sp>
        <p:nvSpPr>
          <p:cNvPr id="33" name="Shape 26"/>
          <p:cNvSpPr/>
          <p:nvPr/>
        </p:nvSpPr>
        <p:spPr>
          <a:xfrm>
            <a:off x="548640" y="5532120"/>
            <a:ext cx="11094415" cy="777240"/>
          </a:xfrm>
          <a:prstGeom prst="roundRect">
            <a:avLst>
              <a:gd name="adj" fmla="val 11765"/>
            </a:avLst>
          </a:prstGeom>
          <a:solidFill>
            <a:srgbClr val="0B2545"/>
          </a:solidFill>
          <a:ln/>
        </p:spPr>
      </p:sp>
      <p:sp>
        <p:nvSpPr>
          <p:cNvPr id="34" name="Shape 27"/>
          <p:cNvSpPr/>
          <p:nvPr/>
        </p:nvSpPr>
        <p:spPr>
          <a:xfrm>
            <a:off x="777240" y="5696712"/>
            <a:ext cx="457200" cy="457200"/>
          </a:xfrm>
          <a:prstGeom prst="ellipse">
            <a:avLst/>
          </a:prstGeom>
          <a:solidFill>
            <a:srgbClr val="E8A33D"/>
          </a:solidFill>
          <a:ln/>
        </p:spPr>
      </p:sp>
      <p:pic>
        <p:nvPicPr>
          <p:cNvPr id="35" name="Image 5" descr="/home/claude/proj/icons/bolt.png"/>
          <p:cNvPicPr>
            <a:picLocks noChangeAspect="1"/>
          </p:cNvPicPr>
          <p:nvPr/>
        </p:nvPicPr>
        <p:blipFill>
          <a:blip r:embed="rId8"/>
          <a:stretch>
            <a:fillRect/>
          </a:stretch>
        </p:blipFill>
        <p:spPr>
          <a:xfrm>
            <a:off x="905256" y="5824728"/>
            <a:ext cx="201168" cy="201168"/>
          </a:xfrm>
          <a:prstGeom prst="rect">
            <a:avLst/>
          </a:prstGeom>
        </p:spPr>
      </p:pic>
      <p:sp>
        <p:nvSpPr>
          <p:cNvPr id="36" name="Text 28"/>
          <p:cNvSpPr/>
          <p:nvPr/>
        </p:nvSpPr>
        <p:spPr>
          <a:xfrm>
            <a:off x="1417320" y="5532120"/>
            <a:ext cx="9997135" cy="77724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The entire loop — request to rendered card — completes in under 3 seconds, even with live web retrieval and structured Gemini reasoning.</a:t>
            </a:r>
            <a:endParaRPr lang="en-US" sz="1250" dirty="0"/>
          </a:p>
        </p:txBody>
      </p:sp>
      <p:sp>
        <p:nvSpPr>
          <p:cNvPr id="37" name="Text 29"/>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B76"/>
                </a:solidFill>
                <a:latin typeface="Calibri" pitchFamily="34" charset="0"/>
                <a:ea typeface="Calibri" pitchFamily="34" charset="-122"/>
                <a:cs typeface="Calibri" pitchFamily="34" charset="-120"/>
              </a:rPr>
              <a:t>Day 10 · Company Intelligence Engine</a:t>
            </a:r>
            <a:endParaRPr lang="en-US" sz="1000" dirty="0"/>
          </a:p>
        </p:txBody>
      </p:sp>
      <p:sp>
        <p:nvSpPr>
          <p:cNvPr id="38" name="Text 3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5A6B7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Structured Output: What Gemini Returns</a:t>
            </a:r>
            <a:endParaRPr lang="en-US" sz="2800" dirty="0"/>
          </a:p>
        </p:txBody>
      </p:sp>
      <p:sp>
        <p:nvSpPr>
          <p:cNvPr id="3" name="Text 1"/>
          <p:cNvSpPr/>
          <p:nvPr/>
        </p:nvSpPr>
        <p:spPr>
          <a:xfrm>
            <a:off x="548640" y="987552"/>
            <a:ext cx="10789920" cy="320040"/>
          </a:xfrm>
          <a:prstGeom prst="rect">
            <a:avLst/>
          </a:prstGeom>
          <a:noFill/>
          <a:ln/>
        </p:spPr>
        <p:txBody>
          <a:bodyPr wrap="square" rtlCol="0" anchor="ctr"/>
          <a:lstStyle/>
          <a:p>
            <a:pPr marL="0" indent="0">
              <a:buNone/>
            </a:pPr>
            <a:r>
              <a:rPr lang="en-US" sz="1350" i="1" dirty="0">
                <a:solidFill>
                  <a:srgbClr val="1C7293"/>
                </a:solidFill>
                <a:latin typeface="Calibri" pitchFamily="34" charset="0"/>
                <a:ea typeface="Calibri" pitchFamily="34" charset="-122"/>
                <a:cs typeface="Calibri" pitchFamily="34" charset="-120"/>
              </a:rPr>
              <a:t>Every response is normalized into four enforced JSON fields — no free text, no parsing guesswork</a:t>
            </a:r>
            <a:endParaRPr lang="en-US" sz="1350" dirty="0"/>
          </a:p>
        </p:txBody>
      </p:sp>
      <p:sp>
        <p:nvSpPr>
          <p:cNvPr id="4" name="Shape 2"/>
          <p:cNvSpPr/>
          <p:nvPr/>
        </p:nvSpPr>
        <p:spPr>
          <a:xfrm>
            <a:off x="548640" y="1600200"/>
            <a:ext cx="5387188" cy="1920240"/>
          </a:xfrm>
          <a:prstGeom prst="roundRect">
            <a:avLst>
              <a:gd name="adj" fmla="val 5714"/>
            </a:avLst>
          </a:prstGeom>
          <a:solidFill>
            <a:srgbClr val="065A82"/>
          </a:solidFill>
          <a:ln/>
          <a:effectLst>
            <a:outerShdw blurRad="76200" dist="25400" dir="5400000" algn="bl" rotWithShape="0">
              <a:srgbClr val="1B2733">
                <a:alpha val="10000"/>
              </a:srgbClr>
            </a:outerShdw>
          </a:effectLst>
        </p:spPr>
      </p:sp>
      <p:sp>
        <p:nvSpPr>
          <p:cNvPr id="5" name="Shape 3"/>
          <p:cNvSpPr/>
          <p:nvPr/>
        </p:nvSpPr>
        <p:spPr>
          <a:xfrm>
            <a:off x="822960" y="1874520"/>
            <a:ext cx="566928" cy="566928"/>
          </a:xfrm>
          <a:prstGeom prst="ellipse">
            <a:avLst/>
          </a:prstGeom>
          <a:solidFill>
            <a:srgbClr val="E8A33D"/>
          </a:solidFill>
          <a:ln/>
        </p:spPr>
      </p:sp>
      <p:pic>
        <p:nvPicPr>
          <p:cNvPr id="6" name="Image 0" descr="/home/claude/proj/icons/bullseye.png"/>
          <p:cNvPicPr>
            <a:picLocks noChangeAspect="1"/>
          </p:cNvPicPr>
          <p:nvPr/>
        </p:nvPicPr>
        <p:blipFill>
          <a:blip r:embed="rId3"/>
          <a:stretch>
            <a:fillRect/>
          </a:stretch>
        </p:blipFill>
        <p:spPr>
          <a:xfrm>
            <a:off x="981700" y="2033260"/>
            <a:ext cx="249448" cy="249448"/>
          </a:xfrm>
          <a:prstGeom prst="rect">
            <a:avLst/>
          </a:prstGeom>
        </p:spPr>
      </p:pic>
      <p:sp>
        <p:nvSpPr>
          <p:cNvPr id="7" name="Text 4"/>
          <p:cNvSpPr/>
          <p:nvPr/>
        </p:nvSpPr>
        <p:spPr>
          <a:xfrm>
            <a:off x="1554480" y="1874520"/>
            <a:ext cx="4107028" cy="411480"/>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lead_score</a:t>
            </a:r>
            <a:endParaRPr lang="en-US" sz="1500" dirty="0"/>
          </a:p>
        </p:txBody>
      </p:sp>
      <p:sp>
        <p:nvSpPr>
          <p:cNvPr id="8" name="Text 5"/>
          <p:cNvSpPr/>
          <p:nvPr/>
        </p:nvSpPr>
        <p:spPr>
          <a:xfrm>
            <a:off x="841248" y="2514600"/>
            <a:ext cx="4801972" cy="822960"/>
          </a:xfrm>
          <a:prstGeom prst="rect">
            <a:avLst/>
          </a:prstGeom>
          <a:noFill/>
          <a:ln/>
        </p:spPr>
        <p:txBody>
          <a:bodyPr wrap="square" rtlCol="0" anchor="t"/>
          <a:lstStyle/>
          <a:p>
            <a:pPr marL="0" indent="0">
              <a:lnSpc>
                <a:spcPct val="112000"/>
              </a:lnSpc>
              <a:buNone/>
            </a:pPr>
            <a:r>
              <a:rPr lang="en-US" sz="1250" dirty="0">
                <a:solidFill>
                  <a:srgbClr val="CADCFC"/>
                </a:solidFill>
                <a:latin typeface="Calibri" pitchFamily="34" charset="0"/>
                <a:ea typeface="Calibri" pitchFamily="34" charset="-122"/>
                <a:cs typeface="Calibri" pitchFamily="34" charset="-120"/>
              </a:rPr>
              <a:t>0–100 composite score weighing growth signals, hiring velocity, tech-stack fit, and buying intent.</a:t>
            </a:r>
            <a:endParaRPr lang="en-US" sz="1250" dirty="0"/>
          </a:p>
        </p:txBody>
      </p:sp>
      <p:sp>
        <p:nvSpPr>
          <p:cNvPr id="9" name="Shape 6"/>
          <p:cNvSpPr/>
          <p:nvPr/>
        </p:nvSpPr>
        <p:spPr>
          <a:xfrm>
            <a:off x="6255868" y="1600200"/>
            <a:ext cx="5387188" cy="1920240"/>
          </a:xfrm>
          <a:prstGeom prst="roundRect">
            <a:avLst>
              <a:gd name="adj" fmla="val 5714"/>
            </a:avLst>
          </a:prstGeom>
          <a:solidFill>
            <a:srgbClr val="FFFFFF"/>
          </a:solidFill>
          <a:ln w="12700">
            <a:solidFill>
              <a:srgbClr val="E1E8ED"/>
            </a:solidFill>
            <a:prstDash val="solid"/>
          </a:ln>
          <a:effectLst>
            <a:outerShdw blurRad="76200" dist="25400" dir="5400000" algn="bl" rotWithShape="0">
              <a:srgbClr val="1B2733">
                <a:alpha val="10000"/>
              </a:srgbClr>
            </a:outerShdw>
          </a:effectLst>
        </p:spPr>
      </p:sp>
      <p:sp>
        <p:nvSpPr>
          <p:cNvPr id="10" name="Shape 7"/>
          <p:cNvSpPr/>
          <p:nvPr/>
        </p:nvSpPr>
        <p:spPr>
          <a:xfrm>
            <a:off x="6530188" y="1874520"/>
            <a:ext cx="566928" cy="566928"/>
          </a:xfrm>
          <a:prstGeom prst="ellipse">
            <a:avLst/>
          </a:prstGeom>
          <a:solidFill>
            <a:srgbClr val="1C7293"/>
          </a:solidFill>
          <a:ln/>
        </p:spPr>
      </p:sp>
      <p:pic>
        <p:nvPicPr>
          <p:cNvPr id="11" name="Image 1" descr="/home/claude/proj/icons/layers.png"/>
          <p:cNvPicPr>
            <a:picLocks noChangeAspect="1"/>
          </p:cNvPicPr>
          <p:nvPr/>
        </p:nvPicPr>
        <p:blipFill>
          <a:blip r:embed="rId4"/>
          <a:stretch>
            <a:fillRect/>
          </a:stretch>
        </p:blipFill>
        <p:spPr>
          <a:xfrm>
            <a:off x="6688927" y="2033260"/>
            <a:ext cx="249448" cy="249448"/>
          </a:xfrm>
          <a:prstGeom prst="rect">
            <a:avLst/>
          </a:prstGeom>
        </p:spPr>
      </p:pic>
      <p:sp>
        <p:nvSpPr>
          <p:cNvPr id="12" name="Text 8"/>
          <p:cNvSpPr/>
          <p:nvPr/>
        </p:nvSpPr>
        <p:spPr>
          <a:xfrm>
            <a:off x="7261708" y="1874520"/>
            <a:ext cx="4107028" cy="411480"/>
          </a:xfrm>
          <a:prstGeom prst="rect">
            <a:avLst/>
          </a:prstGeom>
          <a:noFill/>
          <a:ln/>
        </p:spPr>
        <p:txBody>
          <a:bodyPr wrap="square" rtlCol="0" anchor="ctr"/>
          <a:lstStyle/>
          <a:p>
            <a:pPr marL="0" indent="0">
              <a:buNone/>
            </a:pPr>
            <a:r>
              <a:rPr lang="en-US" sz="1500" b="1" dirty="0">
                <a:solidFill>
                  <a:srgbClr val="1C2733"/>
                </a:solidFill>
                <a:latin typeface="Courier New" pitchFamily="34" charset="0"/>
                <a:ea typeface="Courier New" pitchFamily="34" charset="-122"/>
                <a:cs typeface="Courier New" pitchFamily="34" charset="-120"/>
              </a:rPr>
              <a:t>company_summary</a:t>
            </a:r>
            <a:endParaRPr lang="en-US" sz="1500" dirty="0"/>
          </a:p>
        </p:txBody>
      </p:sp>
      <p:sp>
        <p:nvSpPr>
          <p:cNvPr id="13" name="Text 9"/>
          <p:cNvSpPr/>
          <p:nvPr/>
        </p:nvSpPr>
        <p:spPr>
          <a:xfrm>
            <a:off x="6548476" y="2514600"/>
            <a:ext cx="4801972" cy="822960"/>
          </a:xfrm>
          <a:prstGeom prst="rect">
            <a:avLst/>
          </a:prstGeom>
          <a:noFill/>
          <a:ln/>
        </p:spPr>
        <p:txBody>
          <a:bodyPr wrap="square" rtlCol="0" anchor="t"/>
          <a:lstStyle/>
          <a:p>
            <a:pPr marL="0" indent="0">
              <a:lnSpc>
                <a:spcPct val="112000"/>
              </a:lnSpc>
              <a:buNone/>
            </a:pPr>
            <a:r>
              <a:rPr lang="en-US" sz="1250" dirty="0">
                <a:solidFill>
                  <a:srgbClr val="5A6B76"/>
                </a:solidFill>
                <a:latin typeface="Calibri" pitchFamily="34" charset="0"/>
                <a:ea typeface="Calibri" pitchFamily="34" charset="-122"/>
                <a:cs typeface="Calibri" pitchFamily="34" charset="-120"/>
              </a:rPr>
              <a:t>Concise profile covering industry, size, funding stage, and recent notable news.</a:t>
            </a:r>
            <a:endParaRPr lang="en-US" sz="1250" dirty="0"/>
          </a:p>
        </p:txBody>
      </p:sp>
      <p:sp>
        <p:nvSpPr>
          <p:cNvPr id="14" name="Shape 10"/>
          <p:cNvSpPr/>
          <p:nvPr/>
        </p:nvSpPr>
        <p:spPr>
          <a:xfrm>
            <a:off x="548640" y="3840480"/>
            <a:ext cx="5387188" cy="1920240"/>
          </a:xfrm>
          <a:prstGeom prst="roundRect">
            <a:avLst>
              <a:gd name="adj" fmla="val 5714"/>
            </a:avLst>
          </a:prstGeom>
          <a:solidFill>
            <a:srgbClr val="FFFFFF"/>
          </a:solidFill>
          <a:ln w="12700">
            <a:solidFill>
              <a:srgbClr val="E1E8ED"/>
            </a:solidFill>
            <a:prstDash val="solid"/>
          </a:ln>
          <a:effectLst>
            <a:outerShdw blurRad="76200" dist="25400" dir="5400000" algn="bl" rotWithShape="0">
              <a:srgbClr val="1B2733">
                <a:alpha val="10000"/>
              </a:srgbClr>
            </a:outerShdw>
          </a:effectLst>
        </p:spPr>
      </p:sp>
      <p:sp>
        <p:nvSpPr>
          <p:cNvPr id="15" name="Shape 11"/>
          <p:cNvSpPr/>
          <p:nvPr/>
        </p:nvSpPr>
        <p:spPr>
          <a:xfrm>
            <a:off x="822960" y="4114800"/>
            <a:ext cx="566928" cy="566928"/>
          </a:xfrm>
          <a:prstGeom prst="ellipse">
            <a:avLst/>
          </a:prstGeom>
          <a:solidFill>
            <a:srgbClr val="1C7293"/>
          </a:solidFill>
          <a:ln/>
        </p:spPr>
      </p:sp>
      <p:pic>
        <p:nvPicPr>
          <p:cNvPr id="16" name="Image 2" descr="/home/claude/proj/icons/chart.png"/>
          <p:cNvPicPr>
            <a:picLocks noChangeAspect="1"/>
          </p:cNvPicPr>
          <p:nvPr/>
        </p:nvPicPr>
        <p:blipFill>
          <a:blip r:embed="rId5"/>
          <a:stretch>
            <a:fillRect/>
          </a:stretch>
        </p:blipFill>
        <p:spPr>
          <a:xfrm>
            <a:off x="981700" y="4273540"/>
            <a:ext cx="249448" cy="249448"/>
          </a:xfrm>
          <a:prstGeom prst="rect">
            <a:avLst/>
          </a:prstGeom>
        </p:spPr>
      </p:pic>
      <p:sp>
        <p:nvSpPr>
          <p:cNvPr id="17" name="Text 12"/>
          <p:cNvSpPr/>
          <p:nvPr/>
        </p:nvSpPr>
        <p:spPr>
          <a:xfrm>
            <a:off x="1554480" y="4114800"/>
            <a:ext cx="4107028" cy="411480"/>
          </a:xfrm>
          <a:prstGeom prst="rect">
            <a:avLst/>
          </a:prstGeom>
          <a:noFill/>
          <a:ln/>
        </p:spPr>
        <p:txBody>
          <a:bodyPr wrap="square" rtlCol="0" anchor="ctr"/>
          <a:lstStyle/>
          <a:p>
            <a:pPr marL="0" indent="0">
              <a:buNone/>
            </a:pPr>
            <a:r>
              <a:rPr lang="en-US" sz="1500" b="1" dirty="0">
                <a:solidFill>
                  <a:srgbClr val="1C2733"/>
                </a:solidFill>
                <a:latin typeface="Courier New" pitchFamily="34" charset="0"/>
                <a:ea typeface="Courier New" pitchFamily="34" charset="-122"/>
                <a:cs typeface="Courier New" pitchFamily="34" charset="-120"/>
              </a:rPr>
              <a:t>sales_opportunity</a:t>
            </a:r>
            <a:endParaRPr lang="en-US" sz="1500" dirty="0"/>
          </a:p>
        </p:txBody>
      </p:sp>
      <p:sp>
        <p:nvSpPr>
          <p:cNvPr id="18" name="Text 13"/>
          <p:cNvSpPr/>
          <p:nvPr/>
        </p:nvSpPr>
        <p:spPr>
          <a:xfrm>
            <a:off x="841248" y="4754880"/>
            <a:ext cx="4801972" cy="822960"/>
          </a:xfrm>
          <a:prstGeom prst="rect">
            <a:avLst/>
          </a:prstGeom>
          <a:noFill/>
          <a:ln/>
        </p:spPr>
        <p:txBody>
          <a:bodyPr wrap="square" rtlCol="0" anchor="t"/>
          <a:lstStyle/>
          <a:p>
            <a:pPr marL="0" indent="0">
              <a:lnSpc>
                <a:spcPct val="112000"/>
              </a:lnSpc>
              <a:buNone/>
            </a:pPr>
            <a:r>
              <a:rPr lang="en-US" sz="1250" dirty="0">
                <a:solidFill>
                  <a:srgbClr val="5A6B76"/>
                </a:solidFill>
                <a:latin typeface="Calibri" pitchFamily="34" charset="0"/>
                <a:ea typeface="Calibri" pitchFamily="34" charset="-122"/>
                <a:cs typeface="Calibri" pitchFamily="34" charset="-120"/>
              </a:rPr>
              <a:t>Identified pain points and product-market fit signals relevant to outreach.</a:t>
            </a:r>
            <a:endParaRPr lang="en-US" sz="1250" dirty="0"/>
          </a:p>
        </p:txBody>
      </p:sp>
      <p:sp>
        <p:nvSpPr>
          <p:cNvPr id="19" name="Shape 14"/>
          <p:cNvSpPr/>
          <p:nvPr/>
        </p:nvSpPr>
        <p:spPr>
          <a:xfrm>
            <a:off x="6255868" y="3840480"/>
            <a:ext cx="5387188" cy="1920240"/>
          </a:xfrm>
          <a:prstGeom prst="roundRect">
            <a:avLst>
              <a:gd name="adj" fmla="val 5714"/>
            </a:avLst>
          </a:prstGeom>
          <a:solidFill>
            <a:srgbClr val="FFFFFF"/>
          </a:solidFill>
          <a:ln w="12700">
            <a:solidFill>
              <a:srgbClr val="E1E8ED"/>
            </a:solidFill>
            <a:prstDash val="solid"/>
          </a:ln>
          <a:effectLst>
            <a:outerShdw blurRad="76200" dist="25400" dir="5400000" algn="bl" rotWithShape="0">
              <a:srgbClr val="1B2733">
                <a:alpha val="10000"/>
              </a:srgbClr>
            </a:outerShdw>
          </a:effectLst>
        </p:spPr>
      </p:sp>
      <p:sp>
        <p:nvSpPr>
          <p:cNvPr id="20" name="Shape 15"/>
          <p:cNvSpPr/>
          <p:nvPr/>
        </p:nvSpPr>
        <p:spPr>
          <a:xfrm>
            <a:off x="6530188" y="4114800"/>
            <a:ext cx="566928" cy="566928"/>
          </a:xfrm>
          <a:prstGeom prst="ellipse">
            <a:avLst/>
          </a:prstGeom>
          <a:solidFill>
            <a:srgbClr val="1C7293"/>
          </a:solidFill>
          <a:ln/>
        </p:spPr>
      </p:sp>
      <p:pic>
        <p:nvPicPr>
          <p:cNvPr id="21" name="Image 3" descr="/home/claude/proj/icons/exchange.png"/>
          <p:cNvPicPr>
            <a:picLocks noChangeAspect="1"/>
          </p:cNvPicPr>
          <p:nvPr/>
        </p:nvPicPr>
        <p:blipFill>
          <a:blip r:embed="rId6"/>
          <a:stretch>
            <a:fillRect/>
          </a:stretch>
        </p:blipFill>
        <p:spPr>
          <a:xfrm>
            <a:off x="6688927" y="4273540"/>
            <a:ext cx="249448" cy="249448"/>
          </a:xfrm>
          <a:prstGeom prst="rect">
            <a:avLst/>
          </a:prstGeom>
        </p:spPr>
      </p:pic>
      <p:sp>
        <p:nvSpPr>
          <p:cNvPr id="22" name="Text 16"/>
          <p:cNvSpPr/>
          <p:nvPr/>
        </p:nvSpPr>
        <p:spPr>
          <a:xfrm>
            <a:off x="7261708" y="4114800"/>
            <a:ext cx="4107028" cy="411480"/>
          </a:xfrm>
          <a:prstGeom prst="rect">
            <a:avLst/>
          </a:prstGeom>
          <a:noFill/>
          <a:ln/>
        </p:spPr>
        <p:txBody>
          <a:bodyPr wrap="square" rtlCol="0" anchor="ctr"/>
          <a:lstStyle/>
          <a:p>
            <a:pPr marL="0" indent="0">
              <a:buNone/>
            </a:pPr>
            <a:r>
              <a:rPr lang="en-US" sz="1500" b="1" dirty="0">
                <a:solidFill>
                  <a:srgbClr val="1C2733"/>
                </a:solidFill>
                <a:latin typeface="Courier New" pitchFamily="34" charset="0"/>
                <a:ea typeface="Courier New" pitchFamily="34" charset="-122"/>
                <a:cs typeface="Courier New" pitchFamily="34" charset="-120"/>
              </a:rPr>
              <a:t>recommended_sales_approach</a:t>
            </a:r>
            <a:endParaRPr lang="en-US" sz="1500" dirty="0"/>
          </a:p>
        </p:txBody>
      </p:sp>
      <p:sp>
        <p:nvSpPr>
          <p:cNvPr id="23" name="Text 17"/>
          <p:cNvSpPr/>
          <p:nvPr/>
        </p:nvSpPr>
        <p:spPr>
          <a:xfrm>
            <a:off x="6548476" y="4754880"/>
            <a:ext cx="4801972" cy="822960"/>
          </a:xfrm>
          <a:prstGeom prst="rect">
            <a:avLst/>
          </a:prstGeom>
          <a:noFill/>
          <a:ln/>
        </p:spPr>
        <p:txBody>
          <a:bodyPr wrap="square" rtlCol="0" anchor="t"/>
          <a:lstStyle/>
          <a:p>
            <a:pPr marL="0" indent="0">
              <a:lnSpc>
                <a:spcPct val="112000"/>
              </a:lnSpc>
              <a:buNone/>
            </a:pPr>
            <a:r>
              <a:rPr lang="en-US" sz="1250" dirty="0">
                <a:solidFill>
                  <a:srgbClr val="5A6B76"/>
                </a:solidFill>
                <a:latin typeface="Calibri" pitchFamily="34" charset="0"/>
                <a:ea typeface="Calibri" pitchFamily="34" charset="-122"/>
                <a:cs typeface="Calibri" pitchFamily="34" charset="-120"/>
              </a:rPr>
              <a:t>Suggested messaging angle, ideal contact persona, and best outreach channel.</a:t>
            </a:r>
            <a:endParaRPr lang="en-US" sz="1250" dirty="0"/>
          </a:p>
        </p:txBody>
      </p:sp>
      <p:sp>
        <p:nvSpPr>
          <p:cNvPr id="24" name="Text 18"/>
          <p:cNvSpPr/>
          <p:nvPr/>
        </p:nvSpPr>
        <p:spPr>
          <a:xfrm>
            <a:off x="548640" y="6126480"/>
            <a:ext cx="11094415" cy="365760"/>
          </a:xfrm>
          <a:prstGeom prst="rect">
            <a:avLst/>
          </a:prstGeom>
          <a:noFill/>
          <a:ln/>
        </p:spPr>
        <p:txBody>
          <a:bodyPr wrap="square" rtlCol="0" anchor="ctr"/>
          <a:lstStyle/>
          <a:p>
            <a:pPr marL="0" indent="0">
              <a:buNone/>
            </a:pPr>
            <a:r>
              <a:rPr lang="en-US" sz="1200" i="1" dirty="0">
                <a:solidFill>
                  <a:srgbClr val="5A6B76"/>
                </a:solidFill>
                <a:latin typeface="Calibri" pitchFamily="34" charset="0"/>
                <a:ea typeface="Calibri" pitchFamily="34" charset="-122"/>
                <a:cs typeface="Calibri" pitchFamily="34" charset="-120"/>
              </a:rPr>
              <a:t>Fallback mode returns the identical schema with neutral default values — the UI never breaks, even during API rate limits.</a:t>
            </a:r>
            <a:endParaRPr lang="en-US" sz="1200" dirty="0"/>
          </a:p>
        </p:txBody>
      </p:sp>
      <p:sp>
        <p:nvSpPr>
          <p:cNvPr id="25" name="Text 19"/>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B76"/>
                </a:solidFill>
                <a:latin typeface="Calibri" pitchFamily="34" charset="0"/>
                <a:ea typeface="Calibri" pitchFamily="34" charset="-122"/>
                <a:cs typeface="Calibri" pitchFamily="34" charset="-120"/>
              </a:rPr>
              <a:t>Day 10 · Company Intelligence Engine</a:t>
            </a:r>
            <a:endParaRPr lang="en-US" sz="1000" dirty="0"/>
          </a:p>
        </p:txBody>
      </p:sp>
      <p:sp>
        <p:nvSpPr>
          <p:cNvPr id="26" name="Text 20"/>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5A6B7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Deliverables &amp; Business Impact</a:t>
            </a:r>
            <a:endParaRPr lang="en-US" sz="3000" dirty="0"/>
          </a:p>
        </p:txBody>
      </p:sp>
      <p:sp>
        <p:nvSpPr>
          <p:cNvPr id="3" name="Text 1"/>
          <p:cNvSpPr/>
          <p:nvPr/>
        </p:nvSpPr>
        <p:spPr>
          <a:xfrm>
            <a:off x="548640" y="1417320"/>
            <a:ext cx="6035040" cy="365760"/>
          </a:xfrm>
          <a:prstGeom prst="rect">
            <a:avLst/>
          </a:prstGeom>
          <a:noFill/>
          <a:ln/>
        </p:spPr>
        <p:txBody>
          <a:bodyPr wrap="square" rtlCol="0" anchor="ctr"/>
          <a:lstStyle/>
          <a:p>
            <a:pPr marL="0" indent="0">
              <a:buNone/>
            </a:pPr>
            <a:r>
              <a:rPr lang="en-US" sz="1800" b="1" dirty="0">
                <a:solidFill>
                  <a:srgbClr val="1C2733"/>
                </a:solidFill>
                <a:latin typeface="Cambria" pitchFamily="34" charset="0"/>
                <a:ea typeface="Cambria" pitchFamily="34" charset="-122"/>
                <a:cs typeface="Cambria" pitchFamily="34" charset="-120"/>
              </a:rPr>
              <a:t>Core Deliverables Shipped</a:t>
            </a:r>
            <a:endParaRPr lang="en-US" sz="1800" dirty="0"/>
          </a:p>
        </p:txBody>
      </p:sp>
      <p:sp>
        <p:nvSpPr>
          <p:cNvPr id="4" name="Shape 2"/>
          <p:cNvSpPr/>
          <p:nvPr/>
        </p:nvSpPr>
        <p:spPr>
          <a:xfrm>
            <a:off x="548640" y="2057400"/>
            <a:ext cx="438912" cy="438912"/>
          </a:xfrm>
          <a:prstGeom prst="ellipse">
            <a:avLst/>
          </a:prstGeom>
          <a:solidFill>
            <a:srgbClr val="1C7293"/>
          </a:solidFill>
          <a:ln/>
        </p:spPr>
      </p:sp>
      <p:pic>
        <p:nvPicPr>
          <p:cNvPr id="5" name="Image 0" descr="/home/claude/proj/icons/check.png"/>
          <p:cNvPicPr>
            <a:picLocks noChangeAspect="1"/>
          </p:cNvPicPr>
          <p:nvPr/>
        </p:nvPicPr>
        <p:blipFill>
          <a:blip r:embed="rId3"/>
          <a:stretch>
            <a:fillRect/>
          </a:stretch>
        </p:blipFill>
        <p:spPr>
          <a:xfrm>
            <a:off x="671535" y="2180295"/>
            <a:ext cx="193121" cy="193121"/>
          </a:xfrm>
          <a:prstGeom prst="rect">
            <a:avLst/>
          </a:prstGeom>
        </p:spPr>
      </p:pic>
      <p:sp>
        <p:nvSpPr>
          <p:cNvPr id="6" name="Text 3"/>
          <p:cNvSpPr/>
          <p:nvPr/>
        </p:nvSpPr>
        <p:spPr>
          <a:xfrm>
            <a:off x="1170432" y="2057400"/>
            <a:ext cx="5413248" cy="502920"/>
          </a:xfrm>
          <a:prstGeom prst="rect">
            <a:avLst/>
          </a:prstGeom>
          <a:noFill/>
          <a:ln/>
        </p:spPr>
        <p:txBody>
          <a:bodyPr wrap="square" rtlCol="0" anchor="ctr"/>
          <a:lstStyle/>
          <a:p>
            <a:pPr marL="0" indent="0">
              <a:buNone/>
            </a:pPr>
            <a:r>
              <a:rPr lang="en-US" sz="1400" dirty="0">
                <a:solidFill>
                  <a:srgbClr val="1C2733"/>
                </a:solidFill>
                <a:latin typeface="Calibri" pitchFamily="34" charset="0"/>
                <a:ea typeface="Calibri" pitchFamily="34" charset="-122"/>
                <a:cs typeface="Calibri" pitchFamily="34" charset="-120"/>
              </a:rPr>
              <a:t>Functional /analyze-company FastAPI endpoint.</a:t>
            </a:r>
            <a:endParaRPr lang="en-US" sz="1400" dirty="0"/>
          </a:p>
        </p:txBody>
      </p:sp>
      <p:sp>
        <p:nvSpPr>
          <p:cNvPr id="7" name="Shape 4"/>
          <p:cNvSpPr/>
          <p:nvPr/>
        </p:nvSpPr>
        <p:spPr>
          <a:xfrm>
            <a:off x="548640" y="2834640"/>
            <a:ext cx="438912" cy="438912"/>
          </a:xfrm>
          <a:prstGeom prst="ellipse">
            <a:avLst/>
          </a:prstGeom>
          <a:solidFill>
            <a:srgbClr val="1C7293"/>
          </a:solidFill>
          <a:ln/>
        </p:spPr>
      </p:sp>
      <p:pic>
        <p:nvPicPr>
          <p:cNvPr id="8" name="Image 1" descr="/home/claude/proj/icons/check.png"/>
          <p:cNvPicPr>
            <a:picLocks noChangeAspect="1"/>
          </p:cNvPicPr>
          <p:nvPr/>
        </p:nvPicPr>
        <p:blipFill>
          <a:blip r:embed="rId3"/>
          <a:stretch>
            <a:fillRect/>
          </a:stretch>
        </p:blipFill>
        <p:spPr>
          <a:xfrm>
            <a:off x="671535" y="2957535"/>
            <a:ext cx="193121" cy="193121"/>
          </a:xfrm>
          <a:prstGeom prst="rect">
            <a:avLst/>
          </a:prstGeom>
        </p:spPr>
      </p:pic>
      <p:sp>
        <p:nvSpPr>
          <p:cNvPr id="9" name="Text 5"/>
          <p:cNvSpPr/>
          <p:nvPr/>
        </p:nvSpPr>
        <p:spPr>
          <a:xfrm>
            <a:off x="1170432" y="2834640"/>
            <a:ext cx="5413248" cy="502920"/>
          </a:xfrm>
          <a:prstGeom prst="rect">
            <a:avLst/>
          </a:prstGeom>
          <a:noFill/>
          <a:ln/>
        </p:spPr>
        <p:txBody>
          <a:bodyPr wrap="square" rtlCol="0" anchor="ctr"/>
          <a:lstStyle/>
          <a:p>
            <a:pPr marL="0" indent="0">
              <a:buNone/>
            </a:pPr>
            <a:r>
              <a:rPr lang="en-US" sz="1400" dirty="0">
                <a:solidFill>
                  <a:srgbClr val="1C2733"/>
                </a:solidFill>
                <a:latin typeface="Calibri" pitchFamily="34" charset="0"/>
                <a:ea typeface="Calibri" pitchFamily="34" charset="-122"/>
                <a:cs typeface="Calibri" pitchFamily="34" charset="-120"/>
              </a:rPr>
              <a:t>Dynamic company intelligence card inside Streamlit.</a:t>
            </a:r>
            <a:endParaRPr lang="en-US" sz="1400" dirty="0"/>
          </a:p>
        </p:txBody>
      </p:sp>
      <p:sp>
        <p:nvSpPr>
          <p:cNvPr id="10" name="Shape 6"/>
          <p:cNvSpPr/>
          <p:nvPr/>
        </p:nvSpPr>
        <p:spPr>
          <a:xfrm>
            <a:off x="548640" y="3611880"/>
            <a:ext cx="438912" cy="438912"/>
          </a:xfrm>
          <a:prstGeom prst="ellipse">
            <a:avLst/>
          </a:prstGeom>
          <a:solidFill>
            <a:srgbClr val="1C7293"/>
          </a:solidFill>
          <a:ln/>
        </p:spPr>
      </p:sp>
      <p:pic>
        <p:nvPicPr>
          <p:cNvPr id="11" name="Image 2" descr="/home/claude/proj/icons/check.png"/>
          <p:cNvPicPr>
            <a:picLocks noChangeAspect="1"/>
          </p:cNvPicPr>
          <p:nvPr/>
        </p:nvPicPr>
        <p:blipFill>
          <a:blip r:embed="rId3"/>
          <a:stretch>
            <a:fillRect/>
          </a:stretch>
        </p:blipFill>
        <p:spPr>
          <a:xfrm>
            <a:off x="671535" y="3734775"/>
            <a:ext cx="193121" cy="193121"/>
          </a:xfrm>
          <a:prstGeom prst="rect">
            <a:avLst/>
          </a:prstGeom>
        </p:spPr>
      </p:pic>
      <p:sp>
        <p:nvSpPr>
          <p:cNvPr id="12" name="Text 7"/>
          <p:cNvSpPr/>
          <p:nvPr/>
        </p:nvSpPr>
        <p:spPr>
          <a:xfrm>
            <a:off x="1170432" y="3611880"/>
            <a:ext cx="5413248" cy="502920"/>
          </a:xfrm>
          <a:prstGeom prst="rect">
            <a:avLst/>
          </a:prstGeom>
          <a:noFill/>
          <a:ln/>
        </p:spPr>
        <p:txBody>
          <a:bodyPr wrap="square" rtlCol="0" anchor="ctr"/>
          <a:lstStyle/>
          <a:p>
            <a:pPr marL="0" indent="0">
              <a:buNone/>
            </a:pPr>
            <a:r>
              <a:rPr lang="en-US" sz="1400" dirty="0">
                <a:solidFill>
                  <a:srgbClr val="1C2733"/>
                </a:solidFill>
                <a:latin typeface="Calibri" pitchFamily="34" charset="0"/>
                <a:ea typeface="Calibri" pitchFamily="34" charset="-122"/>
                <a:cs typeface="Calibri" pitchFamily="34" charset="-120"/>
              </a:rPr>
              <a:t>Fully validated fallback and error-handling pipelines.</a:t>
            </a:r>
            <a:endParaRPr lang="en-US" sz="1400" dirty="0"/>
          </a:p>
        </p:txBody>
      </p:sp>
      <p:sp>
        <p:nvSpPr>
          <p:cNvPr id="13" name="Shape 8"/>
          <p:cNvSpPr/>
          <p:nvPr/>
        </p:nvSpPr>
        <p:spPr>
          <a:xfrm>
            <a:off x="6949440" y="1417320"/>
            <a:ext cx="4690872" cy="4709160"/>
          </a:xfrm>
          <a:prstGeom prst="roundRect">
            <a:avLst>
              <a:gd name="adj" fmla="val 2729"/>
            </a:avLst>
          </a:prstGeom>
          <a:solidFill>
            <a:srgbClr val="0B2545"/>
          </a:solidFill>
          <a:ln/>
        </p:spPr>
      </p:sp>
      <p:sp>
        <p:nvSpPr>
          <p:cNvPr id="14" name="Shape 9"/>
          <p:cNvSpPr/>
          <p:nvPr/>
        </p:nvSpPr>
        <p:spPr>
          <a:xfrm>
            <a:off x="8974836" y="1783080"/>
            <a:ext cx="640080" cy="640080"/>
          </a:xfrm>
          <a:prstGeom prst="ellipse">
            <a:avLst/>
          </a:prstGeom>
          <a:solidFill>
            <a:srgbClr val="E8A33D"/>
          </a:solidFill>
          <a:ln/>
        </p:spPr>
      </p:sp>
      <p:pic>
        <p:nvPicPr>
          <p:cNvPr id="15" name="Image 3" descr="/home/claude/proj/icons/clock.png"/>
          <p:cNvPicPr>
            <a:picLocks noChangeAspect="1"/>
          </p:cNvPicPr>
          <p:nvPr/>
        </p:nvPicPr>
        <p:blipFill>
          <a:blip r:embed="rId4"/>
          <a:stretch>
            <a:fillRect/>
          </a:stretch>
        </p:blipFill>
        <p:spPr>
          <a:xfrm>
            <a:off x="9154058" y="1962302"/>
            <a:ext cx="281635" cy="281635"/>
          </a:xfrm>
          <a:prstGeom prst="rect">
            <a:avLst/>
          </a:prstGeom>
        </p:spPr>
      </p:pic>
      <p:sp>
        <p:nvSpPr>
          <p:cNvPr id="16" name="Text 10"/>
          <p:cNvSpPr/>
          <p:nvPr/>
        </p:nvSpPr>
        <p:spPr>
          <a:xfrm>
            <a:off x="7223760" y="2651760"/>
            <a:ext cx="4142232" cy="320040"/>
          </a:xfrm>
          <a:prstGeom prst="rect">
            <a:avLst/>
          </a:prstGeom>
          <a:noFill/>
          <a:ln/>
        </p:spPr>
        <p:txBody>
          <a:bodyPr wrap="square" rtlCol="0" anchor="ctr"/>
          <a:lstStyle/>
          <a:p>
            <a:pPr marL="0" indent="0" algn="ctr">
              <a:buNone/>
            </a:pPr>
            <a:r>
              <a:rPr lang="en-US" sz="1200" b="1" kern="0" spc="150" dirty="0">
                <a:solidFill>
                  <a:srgbClr val="CADCFC"/>
                </a:solidFill>
                <a:latin typeface="Calibri" pitchFamily="34" charset="0"/>
                <a:ea typeface="Calibri" pitchFamily="34" charset="-122"/>
                <a:cs typeface="Calibri" pitchFamily="34" charset="-120"/>
              </a:rPr>
              <a:t>PROSPECT RESEARCH TIME</a:t>
            </a:r>
            <a:endParaRPr lang="en-US" sz="1200" dirty="0"/>
          </a:p>
        </p:txBody>
      </p:sp>
      <p:sp>
        <p:nvSpPr>
          <p:cNvPr id="17" name="Text 11"/>
          <p:cNvSpPr/>
          <p:nvPr/>
        </p:nvSpPr>
        <p:spPr>
          <a:xfrm>
            <a:off x="7223760" y="3017520"/>
            <a:ext cx="4142232" cy="640080"/>
          </a:xfrm>
          <a:prstGeom prst="rect">
            <a:avLst/>
          </a:prstGeom>
          <a:noFill/>
          <a:ln/>
        </p:spPr>
        <p:txBody>
          <a:bodyPr wrap="square" rtlCol="0" anchor="ctr"/>
          <a:lstStyle/>
          <a:p>
            <a:pPr marL="0" indent="0" algn="ctr">
              <a:buNone/>
            </a:pPr>
            <a:r>
              <a:rPr lang="en-US" sz="3000" strike="sngStrike" dirty="0">
                <a:solidFill>
                  <a:srgbClr val="8FA8C4"/>
                </a:solidFill>
                <a:latin typeface="Cambria" pitchFamily="34" charset="0"/>
                <a:ea typeface="Cambria" pitchFamily="34" charset="-122"/>
                <a:cs typeface="Cambria" pitchFamily="34" charset="-120"/>
              </a:rPr>
              <a:t>~15 min</a:t>
            </a:r>
            <a:endParaRPr lang="en-US" sz="3000" dirty="0"/>
          </a:p>
        </p:txBody>
      </p:sp>
      <p:sp>
        <p:nvSpPr>
          <p:cNvPr id="18" name="Text 12"/>
          <p:cNvSpPr/>
          <p:nvPr/>
        </p:nvSpPr>
        <p:spPr>
          <a:xfrm>
            <a:off x="7223760" y="3630168"/>
            <a:ext cx="4142232" cy="457200"/>
          </a:xfrm>
          <a:prstGeom prst="rect">
            <a:avLst/>
          </a:prstGeom>
          <a:noFill/>
          <a:ln/>
        </p:spPr>
        <p:txBody>
          <a:bodyPr wrap="square" rtlCol="0" anchor="ctr"/>
          <a:lstStyle/>
          <a:p>
            <a:pPr marL="0" indent="0" algn="ctr">
              <a:buNone/>
            </a:pPr>
            <a:r>
              <a:rPr lang="en-US" sz="2200" dirty="0">
                <a:solidFill>
                  <a:srgbClr val="CADCFC"/>
                </a:solidFill>
                <a:latin typeface="Calibri" pitchFamily="34" charset="0"/>
                <a:ea typeface="Calibri" pitchFamily="34" charset="-122"/>
                <a:cs typeface="Calibri" pitchFamily="34" charset="-120"/>
              </a:rPr>
              <a:t>→</a:t>
            </a:r>
            <a:endParaRPr lang="en-US" sz="2200" dirty="0"/>
          </a:p>
        </p:txBody>
      </p:sp>
      <p:sp>
        <p:nvSpPr>
          <p:cNvPr id="19" name="Text 13"/>
          <p:cNvSpPr/>
          <p:nvPr/>
        </p:nvSpPr>
        <p:spPr>
          <a:xfrm>
            <a:off x="7223760" y="4069080"/>
            <a:ext cx="4142232" cy="868680"/>
          </a:xfrm>
          <a:prstGeom prst="rect">
            <a:avLst/>
          </a:prstGeom>
          <a:noFill/>
          <a:ln/>
        </p:spPr>
        <p:txBody>
          <a:bodyPr wrap="square" rtlCol="0" anchor="ctr"/>
          <a:lstStyle/>
          <a:p>
            <a:pPr marL="0" indent="0" algn="ctr">
              <a:buNone/>
            </a:pPr>
            <a:r>
              <a:rPr lang="en-US" sz="5200" b="1" dirty="0">
                <a:solidFill>
                  <a:srgbClr val="E8A33D"/>
                </a:solidFill>
                <a:latin typeface="Cambria" pitchFamily="34" charset="0"/>
                <a:ea typeface="Cambria" pitchFamily="34" charset="-122"/>
                <a:cs typeface="Cambria" pitchFamily="34" charset="-120"/>
              </a:rPr>
              <a:t>&lt; 3 sec</a:t>
            </a:r>
            <a:endParaRPr lang="en-US" sz="5200" dirty="0"/>
          </a:p>
        </p:txBody>
      </p:sp>
      <p:sp>
        <p:nvSpPr>
          <p:cNvPr id="20" name="Text 14"/>
          <p:cNvSpPr/>
          <p:nvPr/>
        </p:nvSpPr>
        <p:spPr>
          <a:xfrm>
            <a:off x="7360920" y="5029200"/>
            <a:ext cx="3867912" cy="822960"/>
          </a:xfrm>
          <a:prstGeom prst="rect">
            <a:avLst/>
          </a:prstGeom>
          <a:noFill/>
          <a:ln/>
        </p:spPr>
        <p:txBody>
          <a:bodyPr wrap="square" rtlCol="0" anchor="t"/>
          <a:lstStyle/>
          <a:p>
            <a:pPr marL="0" indent="0" algn="ctr">
              <a:buNone/>
            </a:pPr>
            <a:r>
              <a:rPr lang="en-US" sz="1300" dirty="0">
                <a:solidFill>
                  <a:srgbClr val="CADCFC"/>
                </a:solidFill>
                <a:latin typeface="Calibri" pitchFamily="34" charset="0"/>
                <a:ea typeface="Calibri" pitchFamily="34" charset="-122"/>
                <a:cs typeface="Calibri" pitchFamily="34" charset="-120"/>
              </a:rPr>
              <a:t>per lead, with live AI research and instant lead scoring</a:t>
            </a:r>
            <a:endParaRPr lang="en-US" sz="1300" dirty="0"/>
          </a:p>
        </p:txBody>
      </p:sp>
      <p:sp>
        <p:nvSpPr>
          <p:cNvPr id="21" name="Text 15"/>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5A6B76"/>
                </a:solidFill>
                <a:latin typeface="Calibri" pitchFamily="34" charset="0"/>
                <a:ea typeface="Calibri" pitchFamily="34" charset="-122"/>
                <a:cs typeface="Calibri" pitchFamily="34" charset="-120"/>
              </a:rPr>
              <a:t>Day 10 · Company Intelligence Engine</a:t>
            </a:r>
            <a:endParaRPr lang="en-US" sz="1000" dirty="0"/>
          </a:p>
        </p:txBody>
      </p:sp>
      <p:sp>
        <p:nvSpPr>
          <p:cNvPr id="22" name="Text 16"/>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5A6B7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206240" cy="4206240"/>
          </a:xfrm>
          <a:prstGeom prst="ellipse">
            <a:avLst/>
          </a:prstGeom>
          <a:solidFill>
            <a:srgbClr val="065A82">
              <a:alpha val="45000"/>
            </a:srgbClr>
          </a:solidFill>
          <a:ln/>
        </p:spPr>
      </p:sp>
      <p:sp>
        <p:nvSpPr>
          <p:cNvPr id="3" name="Shape 1"/>
          <p:cNvSpPr/>
          <p:nvPr/>
        </p:nvSpPr>
        <p:spPr>
          <a:xfrm>
            <a:off x="822960" y="731520"/>
            <a:ext cx="777240" cy="777240"/>
          </a:xfrm>
          <a:prstGeom prst="ellipse">
            <a:avLst/>
          </a:prstGeom>
          <a:solidFill>
            <a:srgbClr val="065A82"/>
          </a:solidFill>
          <a:ln/>
        </p:spPr>
      </p:sp>
      <p:pic>
        <p:nvPicPr>
          <p:cNvPr id="4" name="Image 0" descr="/home/claude/proj/icons/rocket.png"/>
          <p:cNvPicPr>
            <a:picLocks noChangeAspect="1"/>
          </p:cNvPicPr>
          <p:nvPr/>
        </p:nvPicPr>
        <p:blipFill>
          <a:blip r:embed="rId3"/>
          <a:stretch>
            <a:fillRect/>
          </a:stretch>
        </p:blipFill>
        <p:spPr>
          <a:xfrm>
            <a:off x="1040587" y="949147"/>
            <a:ext cx="341986" cy="341986"/>
          </a:xfrm>
          <a:prstGeom prst="rect">
            <a:avLst/>
          </a:prstGeom>
        </p:spPr>
      </p:pic>
      <p:sp>
        <p:nvSpPr>
          <p:cNvPr id="5" name="Text 2"/>
          <p:cNvSpPr/>
          <p:nvPr/>
        </p:nvSpPr>
        <p:spPr>
          <a:xfrm>
            <a:off x="822960" y="1737360"/>
            <a:ext cx="82296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What's Next</a:t>
            </a:r>
            <a:endParaRPr lang="en-US" sz="3400" dirty="0"/>
          </a:p>
        </p:txBody>
      </p:sp>
      <p:sp>
        <p:nvSpPr>
          <p:cNvPr id="6" name="Shape 3"/>
          <p:cNvSpPr/>
          <p:nvPr/>
        </p:nvSpPr>
        <p:spPr>
          <a:xfrm>
            <a:off x="822960" y="2560320"/>
            <a:ext cx="457200" cy="457200"/>
          </a:xfrm>
          <a:prstGeom prst="ellipse">
            <a:avLst/>
          </a:prstGeom>
          <a:solidFill>
            <a:srgbClr val="1C7293"/>
          </a:solidFill>
          <a:ln/>
        </p:spPr>
      </p:sp>
      <p:pic>
        <p:nvPicPr>
          <p:cNvPr id="7" name="Image 1" descr="/home/claude/proj/icons/check.png"/>
          <p:cNvPicPr>
            <a:picLocks noChangeAspect="1"/>
          </p:cNvPicPr>
          <p:nvPr/>
        </p:nvPicPr>
        <p:blipFill>
          <a:blip r:embed="rId4"/>
          <a:stretch>
            <a:fillRect/>
          </a:stretch>
        </p:blipFill>
        <p:spPr>
          <a:xfrm>
            <a:off x="950976" y="2688336"/>
            <a:ext cx="201168" cy="201168"/>
          </a:xfrm>
          <a:prstGeom prst="rect">
            <a:avLst/>
          </a:prstGeom>
        </p:spPr>
      </p:pic>
      <p:sp>
        <p:nvSpPr>
          <p:cNvPr id="8" name="Text 4"/>
          <p:cNvSpPr/>
          <p:nvPr/>
        </p:nvSpPr>
        <p:spPr>
          <a:xfrm>
            <a:off x="1463040" y="2560320"/>
            <a:ext cx="8686800" cy="5029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Extend the engine to power seamless outreach automation in upcoming milestones.</a:t>
            </a:r>
            <a:endParaRPr lang="en-US" sz="1500" dirty="0"/>
          </a:p>
        </p:txBody>
      </p:sp>
      <p:sp>
        <p:nvSpPr>
          <p:cNvPr id="9" name="Shape 5"/>
          <p:cNvSpPr/>
          <p:nvPr/>
        </p:nvSpPr>
        <p:spPr>
          <a:xfrm>
            <a:off x="822960" y="3337560"/>
            <a:ext cx="457200" cy="457200"/>
          </a:xfrm>
          <a:prstGeom prst="ellipse">
            <a:avLst/>
          </a:prstGeom>
          <a:solidFill>
            <a:srgbClr val="1C7293"/>
          </a:solidFill>
          <a:ln/>
        </p:spPr>
      </p:sp>
      <p:pic>
        <p:nvPicPr>
          <p:cNvPr id="10" name="Image 2" descr="/home/claude/proj/icons/check.png"/>
          <p:cNvPicPr>
            <a:picLocks noChangeAspect="1"/>
          </p:cNvPicPr>
          <p:nvPr/>
        </p:nvPicPr>
        <p:blipFill>
          <a:blip r:embed="rId4"/>
          <a:stretch>
            <a:fillRect/>
          </a:stretch>
        </p:blipFill>
        <p:spPr>
          <a:xfrm>
            <a:off x="950976" y="3465576"/>
            <a:ext cx="201168" cy="201168"/>
          </a:xfrm>
          <a:prstGeom prst="rect">
            <a:avLst/>
          </a:prstGeom>
        </p:spPr>
      </p:pic>
      <p:sp>
        <p:nvSpPr>
          <p:cNvPr id="11" name="Text 6"/>
          <p:cNvSpPr/>
          <p:nvPr/>
        </p:nvSpPr>
        <p:spPr>
          <a:xfrm>
            <a:off x="1408176" y="3291840"/>
            <a:ext cx="8686800" cy="5029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Broaden live data sources feeding Gemini for deeper company context.</a:t>
            </a:r>
            <a:endParaRPr lang="en-US" sz="1500" dirty="0"/>
          </a:p>
        </p:txBody>
      </p:sp>
      <p:sp>
        <p:nvSpPr>
          <p:cNvPr id="12" name="Shape 7"/>
          <p:cNvSpPr/>
          <p:nvPr/>
        </p:nvSpPr>
        <p:spPr>
          <a:xfrm>
            <a:off x="822960" y="4114800"/>
            <a:ext cx="457200" cy="457200"/>
          </a:xfrm>
          <a:prstGeom prst="ellipse">
            <a:avLst/>
          </a:prstGeom>
          <a:solidFill>
            <a:srgbClr val="1C7293"/>
          </a:solidFill>
          <a:ln/>
        </p:spPr>
      </p:sp>
      <p:pic>
        <p:nvPicPr>
          <p:cNvPr id="13" name="Image 3" descr="/home/claude/proj/icons/check.png"/>
          <p:cNvPicPr>
            <a:picLocks noChangeAspect="1"/>
          </p:cNvPicPr>
          <p:nvPr/>
        </p:nvPicPr>
        <p:blipFill>
          <a:blip r:embed="rId4"/>
          <a:stretch>
            <a:fillRect/>
          </a:stretch>
        </p:blipFill>
        <p:spPr>
          <a:xfrm>
            <a:off x="950976" y="4242816"/>
            <a:ext cx="201168" cy="201168"/>
          </a:xfrm>
          <a:prstGeom prst="rect">
            <a:avLst/>
          </a:prstGeom>
        </p:spPr>
      </p:pic>
      <p:sp>
        <p:nvSpPr>
          <p:cNvPr id="14" name="Text 8"/>
          <p:cNvSpPr/>
          <p:nvPr/>
        </p:nvSpPr>
        <p:spPr>
          <a:xfrm>
            <a:off x="1463040" y="4114800"/>
            <a:ext cx="8686800" cy="50292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Add batch analysis so reps can score entire prospect lists at once.</a:t>
            </a:r>
            <a:endParaRPr lang="en-US" sz="1500" dirty="0"/>
          </a:p>
        </p:txBody>
      </p:sp>
      <p:sp>
        <p:nvSpPr>
          <p:cNvPr id="15" name="Text 9"/>
          <p:cNvSpPr/>
          <p:nvPr/>
        </p:nvSpPr>
        <p:spPr>
          <a:xfrm>
            <a:off x="822960" y="5394960"/>
            <a:ext cx="8229600" cy="457200"/>
          </a:xfrm>
          <a:prstGeom prst="rect">
            <a:avLst/>
          </a:prstGeom>
          <a:noFill/>
          <a:ln/>
        </p:spPr>
        <p:txBody>
          <a:bodyPr wrap="square" rtlCol="0" anchor="ctr"/>
          <a:lstStyle/>
          <a:p>
            <a:pPr marL="0" indent="0">
              <a:buNone/>
            </a:pPr>
            <a:r>
              <a:rPr lang="en-US" sz="1800" i="1" dirty="0">
                <a:solidFill>
                  <a:srgbClr val="E8A33D"/>
                </a:solidFill>
                <a:latin typeface="Cambria" pitchFamily="34" charset="0"/>
                <a:ea typeface="Cambria" pitchFamily="34" charset="-122"/>
                <a:cs typeface="Cambria" pitchFamily="34" charset="-120"/>
              </a:rPr>
              <a:t>Thanks.</a:t>
            </a:r>
            <a:endParaRPr lang="en-US" sz="1800" dirty="0"/>
          </a:p>
        </p:txBody>
      </p:sp>
      <p:sp>
        <p:nvSpPr>
          <p:cNvPr id="16" name="Text 10"/>
          <p:cNvSpPr/>
          <p:nvPr/>
        </p:nvSpPr>
        <p:spPr>
          <a:xfrm>
            <a:off x="457200" y="6473952"/>
            <a:ext cx="7315200" cy="274320"/>
          </a:xfrm>
          <a:prstGeom prst="rect">
            <a:avLst/>
          </a:prstGeom>
          <a:noFill/>
          <a:ln/>
        </p:spPr>
        <p:txBody>
          <a:bodyPr wrap="square"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Day 10 · Company Intelligence Engine</a:t>
            </a:r>
            <a:endParaRPr lang="en-US" sz="1000" dirty="0"/>
          </a:p>
        </p:txBody>
      </p:sp>
      <p:sp>
        <p:nvSpPr>
          <p:cNvPr id="17" name="Text 11"/>
          <p:cNvSpPr/>
          <p:nvPr/>
        </p:nvSpPr>
        <p:spPr>
          <a:xfrm>
            <a:off x="11277295" y="6473952"/>
            <a:ext cx="457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1030</Words>
  <Application>Microsoft Office PowerPoint</Application>
  <PresentationFormat>Widescreen</PresentationFormat>
  <Paragraphs>93</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samrajyam nallagorla</cp:lastModifiedBy>
  <cp:revision>2</cp:revision>
  <dcterms:created xsi:type="dcterms:W3CDTF">2026-07-28T14:55:53Z</dcterms:created>
  <dcterms:modified xsi:type="dcterms:W3CDTF">2026-07-28T15:01:53Z</dcterms:modified>
</cp:coreProperties>
</file>