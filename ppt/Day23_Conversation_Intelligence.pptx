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Day 23, my responsibility was to integrate the FastAPI endpoint for Conversation Intelligence.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connected the conversation analysis endpoint with the existing backend workflow and handled the API request and response flow. This allowed the application to send conversation data for analysis and receive structured intelligence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connected the conversation analysis endpoint with the existing backend workflow and handled the API request and response 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Conversation data can contain important information that sales teams may otherwise have to review manually. Conversation Intelligence helps convert that information into actionable outputs.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AI module generated three main outputs: a meeting summary, action items, and follow-up recommendations. These outputs help sales representatives quickly understand the key points from a conversation and identify what needs to happen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Meanwhile, the frontend team worked on the Conversation page to display these results in a user-friendly format. The QA team performed output testing to verify that the generated summaries, action items, and follow-ups were being returned correctly.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Day 23, the Conversation Intelligence endpoint was successfully integrated and the core workflow for extracting actionable insights from conversations was in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B2E"/>
        </a:solidFill>
      </p:bgPr>
    </p:bg>
    <p:spTree>
      <p:nvGrpSpPr>
        <p:cNvPr id="1" name=""/>
        <p:cNvGrpSpPr/>
        <p:nvPr/>
      </p:nvGrpSpPr>
      <p:grpSpPr>
        <a:xfrm>
          <a:off x="0" y="0"/>
          <a:ext cx="0" cy="0"/>
          <a:chOff x="0" y="0"/>
          <a:chExt cx="0" cy="0"/>
        </a:xfrm>
      </p:grpSpPr>
      <p:sp>
        <p:nvSpPr>
          <p:cNvPr id="2" name="Shape 0"/>
          <p:cNvSpPr/>
          <p:nvPr/>
        </p:nvSpPr>
        <p:spPr>
          <a:xfrm>
            <a:off x="9692640" y="-1188720"/>
            <a:ext cx="3840480" cy="3840480"/>
          </a:xfrm>
          <a:prstGeom prst="ellipse">
            <a:avLst/>
          </a:prstGeom>
          <a:solidFill>
            <a:srgbClr val="028090">
              <a:alpha val="45000"/>
            </a:srgbClr>
          </a:solidFill>
          <a:ln/>
        </p:spPr>
      </p:sp>
      <p:sp>
        <p:nvSpPr>
          <p:cNvPr id="3" name="Shape 1"/>
          <p:cNvSpPr/>
          <p:nvPr/>
        </p:nvSpPr>
        <p:spPr>
          <a:xfrm>
            <a:off x="10607040" y="4206240"/>
            <a:ext cx="2743200" cy="2743200"/>
          </a:xfrm>
          <a:prstGeom prst="ellipse">
            <a:avLst/>
          </a:prstGeom>
          <a:solidFill>
            <a:srgbClr val="00A896">
              <a:alpha val="40000"/>
            </a:srgbClr>
          </a:solidFill>
          <a:ln/>
        </p:spPr>
      </p:sp>
      <p:sp>
        <p:nvSpPr>
          <p:cNvPr id="4" name="Shape 2"/>
          <p:cNvSpPr/>
          <p:nvPr/>
        </p:nvSpPr>
        <p:spPr>
          <a:xfrm>
            <a:off x="-1097280" y="4754880"/>
            <a:ext cx="3291840" cy="3291840"/>
          </a:xfrm>
          <a:prstGeom prst="ellipse">
            <a:avLst/>
          </a:prstGeom>
          <a:solidFill>
            <a:srgbClr val="02C39A">
              <a:alpha val="30000"/>
            </a:srgbClr>
          </a:solidFill>
          <a:ln/>
        </p:spPr>
      </p:sp>
      <p:sp>
        <p:nvSpPr>
          <p:cNvPr id="5" name="Text 3"/>
          <p:cNvSpPr/>
          <p:nvPr/>
        </p:nvSpPr>
        <p:spPr>
          <a:xfrm>
            <a:off x="731520" y="1371600"/>
            <a:ext cx="5486400" cy="457200"/>
          </a:xfrm>
          <a:prstGeom prst="rect">
            <a:avLst/>
          </a:prstGeom>
          <a:noFill/>
          <a:ln/>
        </p:spPr>
        <p:txBody>
          <a:bodyPr wrap="square" rtlCol="0" anchor="ctr"/>
          <a:lstStyle/>
          <a:p>
            <a:pPr indent="0" marL="0">
              <a:buNone/>
            </a:pPr>
            <a:r>
              <a:rPr lang="en-US" sz="1600" b="1" spc="300" kern="0" dirty="0">
                <a:solidFill>
                  <a:srgbClr val="02C39A"/>
                </a:solidFill>
                <a:latin typeface="Calibri" pitchFamily="34" charset="0"/>
                <a:ea typeface="Calibri" pitchFamily="34" charset="-122"/>
                <a:cs typeface="Calibri" pitchFamily="34" charset="-120"/>
              </a:rPr>
              <a:t>DAY 23</a:t>
            </a:r>
            <a:endParaRPr lang="en-US" sz="1600" dirty="0"/>
          </a:p>
        </p:txBody>
      </p:sp>
      <p:sp>
        <p:nvSpPr>
          <p:cNvPr id="6" name="Text 4"/>
          <p:cNvSpPr/>
          <p:nvPr/>
        </p:nvSpPr>
        <p:spPr>
          <a:xfrm>
            <a:off x="731520" y="1828800"/>
            <a:ext cx="8686800" cy="2011680"/>
          </a:xfrm>
          <a:prstGeom prst="rect">
            <a:avLst/>
          </a:prstGeom>
          <a:noFill/>
          <a:ln/>
        </p:spPr>
        <p:txBody>
          <a:bodyPr wrap="square" rtlCol="0" anchor="ctr"/>
          <a:lstStyle/>
          <a:p>
            <a:pPr indent="0" marL="0">
              <a:lnSpc>
                <a:spcPct val="105000"/>
              </a:lnSpc>
              <a:buNone/>
            </a:pPr>
            <a:r>
              <a:rPr lang="en-US" sz="4000" b="1" dirty="0">
                <a:solidFill>
                  <a:srgbClr val="FFFFFF"/>
                </a:solidFill>
                <a:latin typeface="Cambria" pitchFamily="34" charset="0"/>
                <a:ea typeface="Cambria" pitchFamily="34" charset="-122"/>
                <a:cs typeface="Cambria" pitchFamily="34" charset="-120"/>
              </a:rPr>
              <a:t>Conversation Intelligence</a:t>
            </a:r>
            <a:endParaRPr lang="en-US" sz="4000" dirty="0"/>
          </a:p>
          <a:p>
            <a:pPr indent="0" marL="0">
              <a:lnSpc>
                <a:spcPct val="105000"/>
              </a:lnSpc>
              <a:buNone/>
            </a:pPr>
            <a:r>
              <a:rPr lang="en-US" sz="4000" b="1" dirty="0">
                <a:solidFill>
                  <a:srgbClr val="FFFFFF"/>
                </a:solidFill>
                <a:latin typeface="Cambria" pitchFamily="34" charset="0"/>
                <a:ea typeface="Cambria" pitchFamily="34" charset="-122"/>
                <a:cs typeface="Cambria" pitchFamily="34" charset="-120"/>
              </a:rPr>
              <a:t>Integration</a:t>
            </a:r>
            <a:endParaRPr lang="en-US" sz="4000" dirty="0"/>
          </a:p>
        </p:txBody>
      </p:sp>
      <p:sp>
        <p:nvSpPr>
          <p:cNvPr id="7" name="Text 5"/>
          <p:cNvSpPr/>
          <p:nvPr/>
        </p:nvSpPr>
        <p:spPr>
          <a:xfrm>
            <a:off x="731520" y="3794760"/>
            <a:ext cx="7772400" cy="548640"/>
          </a:xfrm>
          <a:prstGeom prst="rect">
            <a:avLst/>
          </a:prstGeom>
          <a:noFill/>
          <a:ln/>
        </p:spPr>
        <p:txBody>
          <a:bodyPr wrap="square" rtlCol="0" anchor="ctr"/>
          <a:lstStyle/>
          <a:p>
            <a:pPr indent="0" marL="0">
              <a:buNone/>
            </a:pPr>
            <a:r>
              <a:rPr lang="en-US" sz="1600" i="1" dirty="0">
                <a:solidFill>
                  <a:srgbClr val="BFE3E0"/>
                </a:solidFill>
                <a:latin typeface="Calibri" pitchFamily="34" charset="0"/>
                <a:ea typeface="Calibri" pitchFamily="34" charset="-122"/>
                <a:cs typeface="Calibri" pitchFamily="34" charset="-120"/>
              </a:rPr>
              <a:t>Turning sales conversations into structured, actionable insight</a:t>
            </a:r>
            <a:endParaRPr lang="en-US" sz="1600" dirty="0"/>
          </a:p>
        </p:txBody>
      </p:sp>
      <p:sp>
        <p:nvSpPr>
          <p:cNvPr id="8" name="Shape 6"/>
          <p:cNvSpPr/>
          <p:nvPr/>
        </p:nvSpPr>
        <p:spPr>
          <a:xfrm>
            <a:off x="731520" y="4892040"/>
            <a:ext cx="457200" cy="457200"/>
          </a:xfrm>
          <a:prstGeom prst="ellipse">
            <a:avLst/>
          </a:prstGeom>
          <a:solidFill>
            <a:srgbClr val="00A896"/>
          </a:solidFill>
          <a:ln/>
        </p:spPr>
      </p:sp>
      <p:sp>
        <p:nvSpPr>
          <p:cNvPr id="9" name="Text 7"/>
          <p:cNvSpPr/>
          <p:nvPr/>
        </p:nvSpPr>
        <p:spPr>
          <a:xfrm>
            <a:off x="731520" y="4892040"/>
            <a:ext cx="457200" cy="4572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Text 8"/>
          <p:cNvSpPr/>
          <p:nvPr/>
        </p:nvSpPr>
        <p:spPr>
          <a:xfrm>
            <a:off x="1325880" y="4892040"/>
            <a:ext cx="1737360" cy="45720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Summary</a:t>
            </a:r>
            <a:endParaRPr lang="en-US" sz="1300" dirty="0"/>
          </a:p>
        </p:txBody>
      </p:sp>
      <p:sp>
        <p:nvSpPr>
          <p:cNvPr id="11" name="Shape 9"/>
          <p:cNvSpPr/>
          <p:nvPr/>
        </p:nvSpPr>
        <p:spPr>
          <a:xfrm>
            <a:off x="3063240" y="4892040"/>
            <a:ext cx="457200" cy="457200"/>
          </a:xfrm>
          <a:prstGeom prst="ellipse">
            <a:avLst/>
          </a:prstGeom>
          <a:solidFill>
            <a:srgbClr val="00A896"/>
          </a:solidFill>
          <a:ln/>
        </p:spPr>
      </p:sp>
      <p:sp>
        <p:nvSpPr>
          <p:cNvPr id="12" name="Text 10"/>
          <p:cNvSpPr/>
          <p:nvPr/>
        </p:nvSpPr>
        <p:spPr>
          <a:xfrm>
            <a:off x="3063240" y="4892040"/>
            <a:ext cx="457200" cy="4572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3" name="Text 11"/>
          <p:cNvSpPr/>
          <p:nvPr/>
        </p:nvSpPr>
        <p:spPr>
          <a:xfrm>
            <a:off x="3657600" y="4892040"/>
            <a:ext cx="1737360" cy="45720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Action Items</a:t>
            </a:r>
            <a:endParaRPr lang="en-US" sz="1300" dirty="0"/>
          </a:p>
        </p:txBody>
      </p:sp>
      <p:sp>
        <p:nvSpPr>
          <p:cNvPr id="14" name="Shape 12"/>
          <p:cNvSpPr/>
          <p:nvPr/>
        </p:nvSpPr>
        <p:spPr>
          <a:xfrm>
            <a:off x="5394960" y="4892040"/>
            <a:ext cx="457200" cy="457200"/>
          </a:xfrm>
          <a:prstGeom prst="ellipse">
            <a:avLst/>
          </a:prstGeom>
          <a:solidFill>
            <a:srgbClr val="00A896"/>
          </a:solidFill>
          <a:ln/>
        </p:spPr>
      </p:sp>
      <p:sp>
        <p:nvSpPr>
          <p:cNvPr id="15" name="Text 13"/>
          <p:cNvSpPr/>
          <p:nvPr/>
        </p:nvSpPr>
        <p:spPr>
          <a:xfrm>
            <a:off x="5394960" y="4892040"/>
            <a:ext cx="457200" cy="4572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6" name="Text 14"/>
          <p:cNvSpPr/>
          <p:nvPr/>
        </p:nvSpPr>
        <p:spPr>
          <a:xfrm>
            <a:off x="5989320" y="4892040"/>
            <a:ext cx="1737360" cy="45720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Follow-ups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7315200" cy="640080"/>
          </a:xfrm>
          <a:prstGeom prst="rect">
            <a:avLst/>
          </a:prstGeom>
          <a:noFill/>
          <a:ln/>
        </p:spPr>
        <p:txBody>
          <a:bodyPr wrap="square" rtlCol="0" anchor="ctr"/>
          <a:lstStyle/>
          <a:p>
            <a:pPr indent="0" marL="0">
              <a:buNone/>
            </a:pPr>
            <a:r>
              <a:rPr lang="en-US" sz="3400" b="1" dirty="0">
                <a:solidFill>
                  <a:srgbClr val="0B2B2E"/>
                </a:solidFill>
                <a:latin typeface="Cambria" pitchFamily="34" charset="0"/>
                <a:ea typeface="Cambria" pitchFamily="34" charset="-122"/>
                <a:cs typeface="Cambria" pitchFamily="34" charset="-120"/>
              </a:rPr>
              <a:t>Objective</a:t>
            </a:r>
            <a:endParaRPr lang="en-US" sz="3400" dirty="0"/>
          </a:p>
        </p:txBody>
      </p:sp>
      <p:sp>
        <p:nvSpPr>
          <p:cNvPr id="3" name="Shape 1"/>
          <p:cNvSpPr/>
          <p:nvPr/>
        </p:nvSpPr>
        <p:spPr>
          <a:xfrm>
            <a:off x="640080" y="1554480"/>
            <a:ext cx="6035040" cy="4206240"/>
          </a:xfrm>
          <a:prstGeom prst="roundRect">
            <a:avLst>
              <a:gd name="adj" fmla="val 2609"/>
            </a:avLst>
          </a:prstGeom>
          <a:solidFill>
            <a:srgbClr val="F4FAF9"/>
          </a:solidFill>
          <a:ln/>
          <a:effectLst>
            <a:outerShdw sx="100000" sy="100000" kx="0" ky="0" algn="bl" rotWithShape="0" blurRad="101600" dist="38100" dir="5400000">
              <a:srgbClr val="000000">
                <a:alpha val="12000"/>
              </a:srgbClr>
            </a:outerShdw>
          </a:effectLst>
        </p:spPr>
      </p:sp>
      <p:sp>
        <p:nvSpPr>
          <p:cNvPr id="4" name="Text 2"/>
          <p:cNvSpPr/>
          <p:nvPr/>
        </p:nvSpPr>
        <p:spPr>
          <a:xfrm>
            <a:off x="1005840" y="1920240"/>
            <a:ext cx="5394960" cy="3474720"/>
          </a:xfrm>
          <a:prstGeom prst="rect">
            <a:avLst/>
          </a:prstGeom>
          <a:noFill/>
          <a:ln/>
        </p:spPr>
        <p:txBody>
          <a:bodyPr wrap="square" rtlCol="0" anchor="t"/>
          <a:lstStyle/>
          <a:p>
            <a:pPr indent="0" marL="0">
              <a:lnSpc>
                <a:spcPct val="130000"/>
              </a:lnSpc>
              <a:buNone/>
            </a:pPr>
            <a:r>
              <a:rPr lang="en-US" sz="2000" dirty="0">
                <a:solidFill>
                  <a:srgbClr val="0B2B2E"/>
                </a:solidFill>
                <a:latin typeface="Calibri" pitchFamily="34" charset="0"/>
                <a:ea typeface="Calibri" pitchFamily="34" charset="-122"/>
                <a:cs typeface="Calibri" pitchFamily="34" charset="-120"/>
              </a:rPr>
              <a:t>Integrate the </a:t>
            </a:r>
            <a:pPr indent="0" marL="0">
              <a:lnSpc>
                <a:spcPct val="130000"/>
              </a:lnSpc>
              <a:buNone/>
            </a:pPr>
            <a:r>
              <a:rPr lang="en-US" sz="2000" b="1" dirty="0">
                <a:solidFill>
                  <a:srgbClr val="028090"/>
                </a:solidFill>
                <a:latin typeface="Calibri" pitchFamily="34" charset="0"/>
                <a:ea typeface="Calibri" pitchFamily="34" charset="-122"/>
                <a:cs typeface="Calibri" pitchFamily="34" charset="-120"/>
              </a:rPr>
              <a:t>Conversation Intelligence</a:t>
            </a:r>
            <a:pPr indent="0" marL="0">
              <a:lnSpc>
                <a:spcPct val="130000"/>
              </a:lnSpc>
              <a:buNone/>
            </a:pPr>
            <a:r>
              <a:rPr lang="en-US" sz="2000" dirty="0">
                <a:solidFill>
                  <a:srgbClr val="0B2B2E"/>
                </a:solidFill>
                <a:latin typeface="Calibri" pitchFamily="34" charset="0"/>
                <a:ea typeface="Calibri" pitchFamily="34" charset="-122"/>
                <a:cs typeface="Calibri" pitchFamily="34" charset="-120"/>
              </a:rPr>
              <a:t> backend endpoint and enable the system to extract useful insights from sales conversations.</a:t>
            </a:r>
            <a:endParaRPr lang="en-US" sz="2000" dirty="0"/>
          </a:p>
        </p:txBody>
      </p:sp>
      <p:sp>
        <p:nvSpPr>
          <p:cNvPr id="5" name="Shape 3"/>
          <p:cNvSpPr/>
          <p:nvPr/>
        </p:nvSpPr>
        <p:spPr>
          <a:xfrm>
            <a:off x="7635240" y="2011680"/>
            <a:ext cx="822960" cy="822960"/>
          </a:xfrm>
          <a:prstGeom prst="ellipse">
            <a:avLst/>
          </a:prstGeom>
          <a:solidFill>
            <a:srgbClr val="5C7A7C"/>
          </a:solidFill>
          <a:ln/>
        </p:spPr>
      </p:sp>
      <p:sp>
        <p:nvSpPr>
          <p:cNvPr id="6" name="Text 4"/>
          <p:cNvSpPr/>
          <p:nvPr/>
        </p:nvSpPr>
        <p:spPr>
          <a:xfrm>
            <a:off x="7635240" y="2011680"/>
            <a:ext cx="822960" cy="822960"/>
          </a:xfrm>
          <a:prstGeom prst="rect">
            <a:avLst/>
          </a:prstGeom>
          <a:noFill/>
          <a:ln/>
        </p:spPr>
        <p:txBody>
          <a:bodyPr wrap="square" rtlCol="0" anchor="ctr"/>
          <a:lstStyle/>
          <a:p>
            <a:pPr algn="ctr" indent="0" marL="0">
              <a:buNone/>
            </a:pPr>
            <a:endParaRPr lang="en-US" sz="100" dirty="0"/>
          </a:p>
        </p:txBody>
      </p:sp>
      <p:sp>
        <p:nvSpPr>
          <p:cNvPr id="7" name="Text 5"/>
          <p:cNvSpPr/>
          <p:nvPr/>
        </p:nvSpPr>
        <p:spPr>
          <a:xfrm>
            <a:off x="6583680" y="2011680"/>
            <a:ext cx="2926080" cy="822960"/>
          </a:xfrm>
          <a:prstGeom prst="rect">
            <a:avLst/>
          </a:prstGeom>
          <a:noFill/>
          <a:ln/>
        </p:spPr>
        <p:txBody>
          <a:bodyPr wrap="square" rtlCol="0" anchor="ctr"/>
          <a:lstStyle/>
          <a:p>
            <a:pPr algn="l" indent="0" marL="0">
              <a:buNone/>
            </a:pPr>
            <a:r>
              <a:rPr lang="en-US" sz="1300" b="1" dirty="0">
                <a:solidFill>
                  <a:srgbClr val="0B2B2E"/>
                </a:solidFill>
                <a:latin typeface="Calibri" pitchFamily="34" charset="0"/>
                <a:ea typeface="Calibri" pitchFamily="34" charset="-122"/>
                <a:cs typeface="Calibri" pitchFamily="34" charset="-120"/>
              </a:rPr>
              <a:t>Conversation</a:t>
            </a:r>
            <a:endParaRPr lang="en-US" sz="1300" dirty="0"/>
          </a:p>
          <a:p>
            <a:pPr algn="l" indent="0" marL="0">
              <a:buNone/>
            </a:pPr>
            <a:r>
              <a:rPr lang="en-US" sz="1300" b="1" dirty="0">
                <a:solidFill>
                  <a:srgbClr val="0B2B2E"/>
                </a:solidFill>
                <a:latin typeface="Calibri" pitchFamily="34" charset="0"/>
                <a:ea typeface="Calibri" pitchFamily="34" charset="-122"/>
                <a:cs typeface="Calibri" pitchFamily="34" charset="-120"/>
              </a:rPr>
              <a:t>Data</a:t>
            </a:r>
            <a:endParaRPr lang="en-US" sz="1300" dirty="0"/>
          </a:p>
        </p:txBody>
      </p:sp>
      <p:sp>
        <p:nvSpPr>
          <p:cNvPr id="8" name="Shape 6"/>
          <p:cNvSpPr/>
          <p:nvPr/>
        </p:nvSpPr>
        <p:spPr>
          <a:xfrm>
            <a:off x="8046720" y="2834640"/>
            <a:ext cx="0" cy="502920"/>
          </a:xfrm>
          <a:prstGeom prst="line">
            <a:avLst/>
          </a:prstGeom>
          <a:noFill/>
          <a:ln w="19050">
            <a:solidFill>
              <a:srgbClr val="5C7A7C"/>
            </a:solidFill>
            <a:prstDash val="dash"/>
          </a:ln>
        </p:spPr>
      </p:sp>
      <p:sp>
        <p:nvSpPr>
          <p:cNvPr id="9" name="Shape 7"/>
          <p:cNvSpPr/>
          <p:nvPr/>
        </p:nvSpPr>
        <p:spPr>
          <a:xfrm>
            <a:off x="7635240" y="3337560"/>
            <a:ext cx="822960" cy="822960"/>
          </a:xfrm>
          <a:prstGeom prst="ellipse">
            <a:avLst/>
          </a:prstGeom>
          <a:solidFill>
            <a:srgbClr val="028090"/>
          </a:solidFill>
          <a:ln/>
        </p:spPr>
      </p:sp>
      <p:sp>
        <p:nvSpPr>
          <p:cNvPr id="10" name="Text 8"/>
          <p:cNvSpPr/>
          <p:nvPr/>
        </p:nvSpPr>
        <p:spPr>
          <a:xfrm>
            <a:off x="7635240" y="3337560"/>
            <a:ext cx="822960" cy="822960"/>
          </a:xfrm>
          <a:prstGeom prst="rect">
            <a:avLst/>
          </a:prstGeom>
          <a:noFill/>
          <a:ln/>
        </p:spPr>
        <p:txBody>
          <a:bodyPr wrap="square" rtlCol="0" anchor="ctr"/>
          <a:lstStyle/>
          <a:p>
            <a:pPr algn="ctr" indent="0" marL="0">
              <a:buNone/>
            </a:pPr>
            <a:endParaRPr lang="en-US" sz="100" dirty="0"/>
          </a:p>
        </p:txBody>
      </p:sp>
      <p:sp>
        <p:nvSpPr>
          <p:cNvPr id="11" name="Text 9"/>
          <p:cNvSpPr/>
          <p:nvPr/>
        </p:nvSpPr>
        <p:spPr>
          <a:xfrm>
            <a:off x="6583680" y="3337560"/>
            <a:ext cx="2926080" cy="822960"/>
          </a:xfrm>
          <a:prstGeom prst="rect">
            <a:avLst/>
          </a:prstGeom>
          <a:noFill/>
          <a:ln/>
        </p:spPr>
        <p:txBody>
          <a:bodyPr wrap="square" rtlCol="0" anchor="ctr"/>
          <a:lstStyle/>
          <a:p>
            <a:pPr algn="l" indent="0" marL="0">
              <a:buNone/>
            </a:pPr>
            <a:r>
              <a:rPr lang="en-US" sz="1300" b="1" dirty="0">
                <a:solidFill>
                  <a:srgbClr val="0B2B2E"/>
                </a:solidFill>
                <a:latin typeface="Calibri" pitchFamily="34" charset="0"/>
                <a:ea typeface="Calibri" pitchFamily="34" charset="-122"/>
                <a:cs typeface="Calibri" pitchFamily="34" charset="-120"/>
              </a:rPr>
              <a:t>FastAPI</a:t>
            </a:r>
            <a:endParaRPr lang="en-US" sz="1300" dirty="0"/>
          </a:p>
          <a:p>
            <a:pPr algn="l" indent="0" marL="0">
              <a:buNone/>
            </a:pPr>
            <a:r>
              <a:rPr lang="en-US" sz="1300" b="1" dirty="0">
                <a:solidFill>
                  <a:srgbClr val="0B2B2E"/>
                </a:solidFill>
                <a:latin typeface="Calibri" pitchFamily="34" charset="0"/>
                <a:ea typeface="Calibri" pitchFamily="34" charset="-122"/>
                <a:cs typeface="Calibri" pitchFamily="34" charset="-120"/>
              </a:rPr>
              <a:t>Endpoint</a:t>
            </a:r>
            <a:endParaRPr lang="en-US" sz="1300" dirty="0"/>
          </a:p>
        </p:txBody>
      </p:sp>
      <p:sp>
        <p:nvSpPr>
          <p:cNvPr id="12" name="Shape 10"/>
          <p:cNvSpPr/>
          <p:nvPr/>
        </p:nvSpPr>
        <p:spPr>
          <a:xfrm>
            <a:off x="8046720" y="4160520"/>
            <a:ext cx="0" cy="502920"/>
          </a:xfrm>
          <a:prstGeom prst="line">
            <a:avLst/>
          </a:prstGeom>
          <a:noFill/>
          <a:ln w="19050">
            <a:solidFill>
              <a:srgbClr val="5C7A7C"/>
            </a:solidFill>
            <a:prstDash val="dash"/>
          </a:ln>
        </p:spPr>
      </p:sp>
      <p:sp>
        <p:nvSpPr>
          <p:cNvPr id="13" name="Shape 11"/>
          <p:cNvSpPr/>
          <p:nvPr/>
        </p:nvSpPr>
        <p:spPr>
          <a:xfrm>
            <a:off x="7635240" y="4663440"/>
            <a:ext cx="822960" cy="822960"/>
          </a:xfrm>
          <a:prstGeom prst="ellipse">
            <a:avLst/>
          </a:prstGeom>
          <a:solidFill>
            <a:srgbClr val="02C39A"/>
          </a:solidFill>
          <a:ln/>
        </p:spPr>
      </p:sp>
      <p:sp>
        <p:nvSpPr>
          <p:cNvPr id="14" name="Text 12"/>
          <p:cNvSpPr/>
          <p:nvPr/>
        </p:nvSpPr>
        <p:spPr>
          <a:xfrm>
            <a:off x="7635240" y="4663440"/>
            <a:ext cx="822960" cy="822960"/>
          </a:xfrm>
          <a:prstGeom prst="rect">
            <a:avLst/>
          </a:prstGeom>
          <a:noFill/>
          <a:ln/>
        </p:spPr>
        <p:txBody>
          <a:bodyPr wrap="square" rtlCol="0" anchor="ctr"/>
          <a:lstStyle/>
          <a:p>
            <a:pPr algn="ctr" indent="0" marL="0">
              <a:buNone/>
            </a:pPr>
            <a:endParaRPr lang="en-US" sz="100" dirty="0"/>
          </a:p>
        </p:txBody>
      </p:sp>
      <p:sp>
        <p:nvSpPr>
          <p:cNvPr id="15" name="Text 13"/>
          <p:cNvSpPr/>
          <p:nvPr/>
        </p:nvSpPr>
        <p:spPr>
          <a:xfrm>
            <a:off x="6583680" y="4663440"/>
            <a:ext cx="2926080" cy="822960"/>
          </a:xfrm>
          <a:prstGeom prst="rect">
            <a:avLst/>
          </a:prstGeom>
          <a:noFill/>
          <a:ln/>
        </p:spPr>
        <p:txBody>
          <a:bodyPr wrap="square" rtlCol="0" anchor="ctr"/>
          <a:lstStyle/>
          <a:p>
            <a:pPr algn="l" indent="0" marL="0">
              <a:buNone/>
            </a:pPr>
            <a:r>
              <a:rPr lang="en-US" sz="1300" b="1" dirty="0">
                <a:solidFill>
                  <a:srgbClr val="0B2B2E"/>
                </a:solidFill>
                <a:latin typeface="Calibri" pitchFamily="34" charset="0"/>
                <a:ea typeface="Calibri" pitchFamily="34" charset="-122"/>
                <a:cs typeface="Calibri" pitchFamily="34" charset="-120"/>
              </a:rPr>
              <a:t>Structured</a:t>
            </a:r>
            <a:endParaRPr lang="en-US" sz="1300" dirty="0"/>
          </a:p>
          <a:p>
            <a:pPr algn="l" indent="0" marL="0">
              <a:buNone/>
            </a:pPr>
            <a:r>
              <a:rPr lang="en-US" sz="1300" b="1" dirty="0">
                <a:solidFill>
                  <a:srgbClr val="0B2B2E"/>
                </a:solidFill>
                <a:latin typeface="Calibri" pitchFamily="34" charset="0"/>
                <a:ea typeface="Calibri" pitchFamily="34" charset="-122"/>
                <a:cs typeface="Calibri" pitchFamily="34" charset="-120"/>
              </a:rPr>
              <a:t>Insights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7315200" cy="640080"/>
          </a:xfrm>
          <a:prstGeom prst="rect">
            <a:avLst/>
          </a:prstGeom>
          <a:noFill/>
          <a:ln/>
        </p:spPr>
        <p:txBody>
          <a:bodyPr wrap="square" rtlCol="0" anchor="ctr"/>
          <a:lstStyle/>
          <a:p>
            <a:pPr indent="0" marL="0">
              <a:buNone/>
            </a:pPr>
            <a:r>
              <a:rPr lang="en-US" sz="3400" b="1" dirty="0">
                <a:solidFill>
                  <a:srgbClr val="0B2B2E"/>
                </a:solidFill>
                <a:latin typeface="Cambria" pitchFamily="34" charset="0"/>
                <a:ea typeface="Cambria" pitchFamily="34" charset="-122"/>
                <a:cs typeface="Cambria" pitchFamily="34" charset="-120"/>
              </a:rPr>
              <a:t>My Work</a:t>
            </a:r>
            <a:endParaRPr lang="en-US" sz="3400" dirty="0"/>
          </a:p>
        </p:txBody>
      </p:sp>
      <p:sp>
        <p:nvSpPr>
          <p:cNvPr id="3" name="Text 1"/>
          <p:cNvSpPr/>
          <p:nvPr/>
        </p:nvSpPr>
        <p:spPr>
          <a:xfrm>
            <a:off x="640080" y="1097280"/>
            <a:ext cx="8229600" cy="365760"/>
          </a:xfrm>
          <a:prstGeom prst="rect">
            <a:avLst/>
          </a:prstGeom>
          <a:noFill/>
          <a:ln/>
        </p:spPr>
        <p:txBody>
          <a:bodyPr wrap="square" rtlCol="0" anchor="ctr"/>
          <a:lstStyle/>
          <a:p>
            <a:pPr indent="0" marL="0">
              <a:buNone/>
            </a:pPr>
            <a:r>
              <a:rPr lang="en-US" sz="1400" i="1" dirty="0">
                <a:solidFill>
                  <a:srgbClr val="5C7A7C"/>
                </a:solidFill>
                <a:latin typeface="Calibri" pitchFamily="34" charset="0"/>
                <a:ea typeface="Calibri" pitchFamily="34" charset="-122"/>
                <a:cs typeface="Calibri" pitchFamily="34" charset="-120"/>
              </a:rPr>
              <a:t>Backend integration for the Conversation Intelligence endpoint</a:t>
            </a:r>
            <a:endParaRPr lang="en-US" sz="1400" dirty="0"/>
          </a:p>
        </p:txBody>
      </p:sp>
      <p:sp>
        <p:nvSpPr>
          <p:cNvPr id="4" name="Shape 2"/>
          <p:cNvSpPr/>
          <p:nvPr/>
        </p:nvSpPr>
        <p:spPr>
          <a:xfrm>
            <a:off x="640080" y="1828800"/>
            <a:ext cx="5212080" cy="1965960"/>
          </a:xfrm>
          <a:prstGeom prst="roundRect">
            <a:avLst>
              <a:gd name="adj" fmla="val 4651"/>
            </a:avLst>
          </a:prstGeom>
          <a:solidFill>
            <a:srgbClr val="F4FAF9"/>
          </a:solidFill>
          <a:ln/>
        </p:spPr>
      </p:sp>
      <p:sp>
        <p:nvSpPr>
          <p:cNvPr id="5" name="Text 3"/>
          <p:cNvSpPr/>
          <p:nvPr/>
        </p:nvSpPr>
        <p:spPr>
          <a:xfrm>
            <a:off x="868680" y="1993392"/>
            <a:ext cx="1097280" cy="548640"/>
          </a:xfrm>
          <a:prstGeom prst="rect">
            <a:avLst/>
          </a:prstGeom>
          <a:noFill/>
          <a:ln/>
        </p:spPr>
        <p:txBody>
          <a:bodyPr wrap="square" rtlCol="0" anchor="ctr"/>
          <a:lstStyle/>
          <a:p>
            <a:pPr indent="0" marL="0">
              <a:buNone/>
            </a:pPr>
            <a:r>
              <a:rPr lang="en-US" sz="2600" b="1" dirty="0">
                <a:solidFill>
                  <a:srgbClr val="00A896"/>
                </a:solidFill>
                <a:latin typeface="Cambria" pitchFamily="34" charset="0"/>
                <a:ea typeface="Cambria" pitchFamily="34" charset="-122"/>
                <a:cs typeface="Cambria" pitchFamily="34" charset="-120"/>
              </a:rPr>
              <a:t>01</a:t>
            </a:r>
            <a:endParaRPr lang="en-US" sz="2600" dirty="0"/>
          </a:p>
        </p:txBody>
      </p:sp>
      <p:sp>
        <p:nvSpPr>
          <p:cNvPr id="6" name="Text 4"/>
          <p:cNvSpPr/>
          <p:nvPr/>
        </p:nvSpPr>
        <p:spPr>
          <a:xfrm>
            <a:off x="868680" y="2606040"/>
            <a:ext cx="4754880" cy="457200"/>
          </a:xfrm>
          <a:prstGeom prst="rect">
            <a:avLst/>
          </a:prstGeom>
          <a:noFill/>
          <a:ln/>
        </p:spPr>
        <p:txBody>
          <a:bodyPr wrap="square" rtlCol="0" anchor="ctr"/>
          <a:lstStyle/>
          <a:p>
            <a:pPr indent="0" marL="0">
              <a:buNone/>
            </a:pPr>
            <a:r>
              <a:rPr lang="en-US" sz="1500" b="1" dirty="0">
                <a:solidFill>
                  <a:srgbClr val="0B2B2E"/>
                </a:solidFill>
                <a:latin typeface="Calibri" pitchFamily="34" charset="0"/>
                <a:ea typeface="Calibri" pitchFamily="34" charset="-122"/>
                <a:cs typeface="Calibri" pitchFamily="34" charset="-120"/>
              </a:rPr>
              <a:t>Integrated the FastAPI endpoint</a:t>
            </a:r>
            <a:endParaRPr lang="en-US" sz="1500" dirty="0"/>
          </a:p>
        </p:txBody>
      </p:sp>
      <p:sp>
        <p:nvSpPr>
          <p:cNvPr id="7" name="Text 5"/>
          <p:cNvSpPr/>
          <p:nvPr/>
        </p:nvSpPr>
        <p:spPr>
          <a:xfrm>
            <a:off x="868680" y="3017520"/>
            <a:ext cx="4754880" cy="685800"/>
          </a:xfrm>
          <a:prstGeom prst="rect">
            <a:avLst/>
          </a:prstGeom>
          <a:noFill/>
          <a:ln/>
        </p:spPr>
        <p:txBody>
          <a:bodyPr wrap="square" rtlCol="0" anchor="ctr"/>
          <a:lstStyle/>
          <a:p>
            <a:pPr indent="0" marL="0">
              <a:lnSpc>
                <a:spcPct val="120000"/>
              </a:lnSpc>
              <a:buNone/>
            </a:pPr>
            <a:r>
              <a:rPr lang="en-US" sz="1200" dirty="0">
                <a:solidFill>
                  <a:srgbClr val="5C7A7C"/>
                </a:solidFill>
                <a:latin typeface="Calibri" pitchFamily="34" charset="0"/>
                <a:ea typeface="Calibri" pitchFamily="34" charset="-122"/>
                <a:cs typeface="Calibri" pitchFamily="34" charset="-120"/>
              </a:rPr>
              <a:t>Built and wired the Conversation Intelligence endpoint into the service.</a:t>
            </a:r>
            <a:endParaRPr lang="en-US" sz="1200" dirty="0"/>
          </a:p>
        </p:txBody>
      </p:sp>
      <p:sp>
        <p:nvSpPr>
          <p:cNvPr id="8" name="Shape 6"/>
          <p:cNvSpPr/>
          <p:nvPr/>
        </p:nvSpPr>
        <p:spPr>
          <a:xfrm>
            <a:off x="6172200" y="1828800"/>
            <a:ext cx="5212080" cy="1965960"/>
          </a:xfrm>
          <a:prstGeom prst="roundRect">
            <a:avLst>
              <a:gd name="adj" fmla="val 4651"/>
            </a:avLst>
          </a:prstGeom>
          <a:solidFill>
            <a:srgbClr val="F4FAF9"/>
          </a:solidFill>
          <a:ln/>
        </p:spPr>
      </p:sp>
      <p:sp>
        <p:nvSpPr>
          <p:cNvPr id="9" name="Text 7"/>
          <p:cNvSpPr/>
          <p:nvPr/>
        </p:nvSpPr>
        <p:spPr>
          <a:xfrm>
            <a:off x="6400800" y="1993392"/>
            <a:ext cx="1097280" cy="548640"/>
          </a:xfrm>
          <a:prstGeom prst="rect">
            <a:avLst/>
          </a:prstGeom>
          <a:noFill/>
          <a:ln/>
        </p:spPr>
        <p:txBody>
          <a:bodyPr wrap="square" rtlCol="0" anchor="ctr"/>
          <a:lstStyle/>
          <a:p>
            <a:pPr indent="0" marL="0">
              <a:buNone/>
            </a:pPr>
            <a:r>
              <a:rPr lang="en-US" sz="2600" b="1" dirty="0">
                <a:solidFill>
                  <a:srgbClr val="00A896"/>
                </a:solidFill>
                <a:latin typeface="Cambria" pitchFamily="34" charset="0"/>
                <a:ea typeface="Cambria" pitchFamily="34" charset="-122"/>
                <a:cs typeface="Cambria" pitchFamily="34" charset="-120"/>
              </a:rPr>
              <a:t>02</a:t>
            </a:r>
            <a:endParaRPr lang="en-US" sz="2600" dirty="0"/>
          </a:p>
        </p:txBody>
      </p:sp>
      <p:sp>
        <p:nvSpPr>
          <p:cNvPr id="10" name="Text 8"/>
          <p:cNvSpPr/>
          <p:nvPr/>
        </p:nvSpPr>
        <p:spPr>
          <a:xfrm>
            <a:off x="6400800" y="2606040"/>
            <a:ext cx="4754880" cy="457200"/>
          </a:xfrm>
          <a:prstGeom prst="rect">
            <a:avLst/>
          </a:prstGeom>
          <a:noFill/>
          <a:ln/>
        </p:spPr>
        <p:txBody>
          <a:bodyPr wrap="square" rtlCol="0" anchor="ctr"/>
          <a:lstStyle/>
          <a:p>
            <a:pPr indent="0" marL="0">
              <a:buNone/>
            </a:pPr>
            <a:r>
              <a:rPr lang="en-US" sz="1500" b="1" dirty="0">
                <a:solidFill>
                  <a:srgbClr val="0B2B2E"/>
                </a:solidFill>
                <a:latin typeface="Calibri" pitchFamily="34" charset="0"/>
                <a:ea typeface="Calibri" pitchFamily="34" charset="-122"/>
                <a:cs typeface="Calibri" pitchFamily="34" charset="-120"/>
              </a:rPr>
              <a:t>Connected to backend workflow</a:t>
            </a:r>
            <a:endParaRPr lang="en-US" sz="1500" dirty="0"/>
          </a:p>
        </p:txBody>
      </p:sp>
      <p:sp>
        <p:nvSpPr>
          <p:cNvPr id="11" name="Text 9"/>
          <p:cNvSpPr/>
          <p:nvPr/>
        </p:nvSpPr>
        <p:spPr>
          <a:xfrm>
            <a:off x="6400800" y="3017520"/>
            <a:ext cx="4754880" cy="685800"/>
          </a:xfrm>
          <a:prstGeom prst="rect">
            <a:avLst/>
          </a:prstGeom>
          <a:noFill/>
          <a:ln/>
        </p:spPr>
        <p:txBody>
          <a:bodyPr wrap="square" rtlCol="0" anchor="ctr"/>
          <a:lstStyle/>
          <a:p>
            <a:pPr indent="0" marL="0">
              <a:lnSpc>
                <a:spcPct val="120000"/>
              </a:lnSpc>
              <a:buNone/>
            </a:pPr>
            <a:r>
              <a:rPr lang="en-US" sz="1200" dirty="0">
                <a:solidFill>
                  <a:srgbClr val="5C7A7C"/>
                </a:solidFill>
                <a:latin typeface="Calibri" pitchFamily="34" charset="0"/>
                <a:ea typeface="Calibri" pitchFamily="34" charset="-122"/>
                <a:cs typeface="Calibri" pitchFamily="34" charset="-120"/>
              </a:rPr>
              <a:t>Linked the endpoint with the existing backend processing pipeline.</a:t>
            </a:r>
            <a:endParaRPr lang="en-US" sz="1200" dirty="0"/>
          </a:p>
        </p:txBody>
      </p:sp>
      <p:sp>
        <p:nvSpPr>
          <p:cNvPr id="12" name="Shape 10"/>
          <p:cNvSpPr/>
          <p:nvPr/>
        </p:nvSpPr>
        <p:spPr>
          <a:xfrm>
            <a:off x="640080" y="4114800"/>
            <a:ext cx="5212080" cy="1965960"/>
          </a:xfrm>
          <a:prstGeom prst="roundRect">
            <a:avLst>
              <a:gd name="adj" fmla="val 4651"/>
            </a:avLst>
          </a:prstGeom>
          <a:solidFill>
            <a:srgbClr val="F4FAF9"/>
          </a:solidFill>
          <a:ln/>
        </p:spPr>
      </p:sp>
      <p:sp>
        <p:nvSpPr>
          <p:cNvPr id="13" name="Text 11"/>
          <p:cNvSpPr/>
          <p:nvPr/>
        </p:nvSpPr>
        <p:spPr>
          <a:xfrm>
            <a:off x="868680" y="4279392"/>
            <a:ext cx="1097280" cy="548640"/>
          </a:xfrm>
          <a:prstGeom prst="rect">
            <a:avLst/>
          </a:prstGeom>
          <a:noFill/>
          <a:ln/>
        </p:spPr>
        <p:txBody>
          <a:bodyPr wrap="square" rtlCol="0" anchor="ctr"/>
          <a:lstStyle/>
          <a:p>
            <a:pPr indent="0" marL="0">
              <a:buNone/>
            </a:pPr>
            <a:r>
              <a:rPr lang="en-US" sz="2600" b="1" dirty="0">
                <a:solidFill>
                  <a:srgbClr val="00A896"/>
                </a:solidFill>
                <a:latin typeface="Cambria" pitchFamily="34" charset="0"/>
                <a:ea typeface="Cambria" pitchFamily="34" charset="-122"/>
                <a:cs typeface="Cambria" pitchFamily="34" charset="-120"/>
              </a:rPr>
              <a:t>03</a:t>
            </a:r>
            <a:endParaRPr lang="en-US" sz="2600" dirty="0"/>
          </a:p>
        </p:txBody>
      </p:sp>
      <p:sp>
        <p:nvSpPr>
          <p:cNvPr id="14" name="Text 12"/>
          <p:cNvSpPr/>
          <p:nvPr/>
        </p:nvSpPr>
        <p:spPr>
          <a:xfrm>
            <a:off x="868680" y="4892040"/>
            <a:ext cx="4754880" cy="457200"/>
          </a:xfrm>
          <a:prstGeom prst="rect">
            <a:avLst/>
          </a:prstGeom>
          <a:noFill/>
          <a:ln/>
        </p:spPr>
        <p:txBody>
          <a:bodyPr wrap="square" rtlCol="0" anchor="ctr"/>
          <a:lstStyle/>
          <a:p>
            <a:pPr indent="0" marL="0">
              <a:buNone/>
            </a:pPr>
            <a:r>
              <a:rPr lang="en-US" sz="1500" b="1" dirty="0">
                <a:solidFill>
                  <a:srgbClr val="0B2B2E"/>
                </a:solidFill>
                <a:latin typeface="Calibri" pitchFamily="34" charset="0"/>
                <a:ea typeface="Calibri" pitchFamily="34" charset="-122"/>
                <a:cs typeface="Calibri" pitchFamily="34" charset="-120"/>
              </a:rPr>
              <a:t>Handled requests &amp; responses</a:t>
            </a:r>
            <a:endParaRPr lang="en-US" sz="1500" dirty="0"/>
          </a:p>
        </p:txBody>
      </p:sp>
      <p:sp>
        <p:nvSpPr>
          <p:cNvPr id="15" name="Text 13"/>
          <p:cNvSpPr/>
          <p:nvPr/>
        </p:nvSpPr>
        <p:spPr>
          <a:xfrm>
            <a:off x="868680" y="5303520"/>
            <a:ext cx="4754880" cy="685800"/>
          </a:xfrm>
          <a:prstGeom prst="rect">
            <a:avLst/>
          </a:prstGeom>
          <a:noFill/>
          <a:ln/>
        </p:spPr>
        <p:txBody>
          <a:bodyPr wrap="square" rtlCol="0" anchor="ctr"/>
          <a:lstStyle/>
          <a:p>
            <a:pPr indent="0" marL="0">
              <a:lnSpc>
                <a:spcPct val="120000"/>
              </a:lnSpc>
              <a:buNone/>
            </a:pPr>
            <a:r>
              <a:rPr lang="en-US" sz="1200" dirty="0">
                <a:solidFill>
                  <a:srgbClr val="5C7A7C"/>
                </a:solidFill>
                <a:latin typeface="Calibri" pitchFamily="34" charset="0"/>
                <a:ea typeface="Calibri" pitchFamily="34" charset="-122"/>
                <a:cs typeface="Calibri" pitchFamily="34" charset="-120"/>
              </a:rPr>
              <a:t>Managed API request/response flow for conversation analysis.</a:t>
            </a:r>
            <a:endParaRPr lang="en-US" sz="1200" dirty="0"/>
          </a:p>
        </p:txBody>
      </p:sp>
      <p:sp>
        <p:nvSpPr>
          <p:cNvPr id="16" name="Shape 14"/>
          <p:cNvSpPr/>
          <p:nvPr/>
        </p:nvSpPr>
        <p:spPr>
          <a:xfrm>
            <a:off x="6172200" y="4114800"/>
            <a:ext cx="5212080" cy="1965960"/>
          </a:xfrm>
          <a:prstGeom prst="roundRect">
            <a:avLst>
              <a:gd name="adj" fmla="val 4651"/>
            </a:avLst>
          </a:prstGeom>
          <a:solidFill>
            <a:srgbClr val="F4FAF9"/>
          </a:solidFill>
          <a:ln/>
        </p:spPr>
      </p:sp>
      <p:sp>
        <p:nvSpPr>
          <p:cNvPr id="17" name="Text 15"/>
          <p:cNvSpPr/>
          <p:nvPr/>
        </p:nvSpPr>
        <p:spPr>
          <a:xfrm>
            <a:off x="6400800" y="4279392"/>
            <a:ext cx="1097280" cy="548640"/>
          </a:xfrm>
          <a:prstGeom prst="rect">
            <a:avLst/>
          </a:prstGeom>
          <a:noFill/>
          <a:ln/>
        </p:spPr>
        <p:txBody>
          <a:bodyPr wrap="square" rtlCol="0" anchor="ctr"/>
          <a:lstStyle/>
          <a:p>
            <a:pPr indent="0" marL="0">
              <a:buNone/>
            </a:pPr>
            <a:r>
              <a:rPr lang="en-US" sz="2600" b="1" dirty="0">
                <a:solidFill>
                  <a:srgbClr val="00A896"/>
                </a:solidFill>
                <a:latin typeface="Cambria" pitchFamily="34" charset="0"/>
                <a:ea typeface="Cambria" pitchFamily="34" charset="-122"/>
                <a:cs typeface="Cambria" pitchFamily="34" charset="-120"/>
              </a:rPr>
              <a:t>04</a:t>
            </a:r>
            <a:endParaRPr lang="en-US" sz="2600" dirty="0"/>
          </a:p>
        </p:txBody>
      </p:sp>
      <p:sp>
        <p:nvSpPr>
          <p:cNvPr id="18" name="Text 16"/>
          <p:cNvSpPr/>
          <p:nvPr/>
        </p:nvSpPr>
        <p:spPr>
          <a:xfrm>
            <a:off x="6400800" y="4892040"/>
            <a:ext cx="4754880" cy="457200"/>
          </a:xfrm>
          <a:prstGeom prst="rect">
            <a:avLst/>
          </a:prstGeom>
          <a:noFill/>
          <a:ln/>
        </p:spPr>
        <p:txBody>
          <a:bodyPr wrap="square" rtlCol="0" anchor="ctr"/>
          <a:lstStyle/>
          <a:p>
            <a:pPr indent="0" marL="0">
              <a:buNone/>
            </a:pPr>
            <a:r>
              <a:rPr lang="en-US" sz="1500" b="1" dirty="0">
                <a:solidFill>
                  <a:srgbClr val="0B2B2E"/>
                </a:solidFill>
                <a:latin typeface="Calibri" pitchFamily="34" charset="0"/>
                <a:ea typeface="Calibri" pitchFamily="34" charset="-122"/>
                <a:cs typeface="Calibri" pitchFamily="34" charset="-120"/>
              </a:rPr>
              <a:t>Prepared for insight display</a:t>
            </a:r>
            <a:endParaRPr lang="en-US" sz="1500" dirty="0"/>
          </a:p>
        </p:txBody>
      </p:sp>
      <p:sp>
        <p:nvSpPr>
          <p:cNvPr id="19" name="Text 17"/>
          <p:cNvSpPr/>
          <p:nvPr/>
        </p:nvSpPr>
        <p:spPr>
          <a:xfrm>
            <a:off x="6400800" y="5303520"/>
            <a:ext cx="4754880" cy="685800"/>
          </a:xfrm>
          <a:prstGeom prst="rect">
            <a:avLst/>
          </a:prstGeom>
          <a:noFill/>
          <a:ln/>
        </p:spPr>
        <p:txBody>
          <a:bodyPr wrap="square" rtlCol="0" anchor="ctr"/>
          <a:lstStyle/>
          <a:p>
            <a:pPr indent="0" marL="0">
              <a:lnSpc>
                <a:spcPct val="120000"/>
              </a:lnSpc>
              <a:buNone/>
            </a:pPr>
            <a:r>
              <a:rPr lang="en-US" sz="1200" dirty="0">
                <a:solidFill>
                  <a:srgbClr val="5C7A7C"/>
                </a:solidFill>
                <a:latin typeface="Calibri" pitchFamily="34" charset="0"/>
                <a:ea typeface="Calibri" pitchFamily="34" charset="-122"/>
                <a:cs typeface="Calibri" pitchFamily="34" charset="-120"/>
              </a:rPr>
              <a:t>Set up the integration to surface AI-generated conversation insights.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2B2E"/>
        </a:solidFill>
      </p:bgPr>
    </p:bg>
    <p:spTree>
      <p:nvGrpSpPr>
        <p:cNvPr id="1" name=""/>
        <p:cNvGrpSpPr/>
        <p:nvPr/>
      </p:nvGrpSpPr>
      <p:grpSpPr>
        <a:xfrm>
          <a:off x="0" y="0"/>
          <a:ext cx="0" cy="0"/>
          <a:chOff x="0" y="0"/>
          <a:chExt cx="0" cy="0"/>
        </a:xfrm>
      </p:grpSpPr>
      <p:sp>
        <p:nvSpPr>
          <p:cNvPr id="2" name="Text 0"/>
          <p:cNvSpPr/>
          <p:nvPr/>
        </p:nvSpPr>
        <p:spPr>
          <a:xfrm>
            <a:off x="640080" y="548640"/>
            <a:ext cx="8229600" cy="640080"/>
          </a:xfrm>
          <a:prstGeom prst="rect">
            <a:avLst/>
          </a:prstGeom>
          <a:noFill/>
          <a:ln/>
        </p:spPr>
        <p:txBody>
          <a:bodyPr wrap="square"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Why It Was Needed</a:t>
            </a:r>
            <a:endParaRPr lang="en-US" sz="3400" dirty="0"/>
          </a:p>
        </p:txBody>
      </p:sp>
      <p:sp>
        <p:nvSpPr>
          <p:cNvPr id="3" name="Shape 1"/>
          <p:cNvSpPr/>
          <p:nvPr/>
        </p:nvSpPr>
        <p:spPr>
          <a:xfrm>
            <a:off x="640080" y="1737360"/>
            <a:ext cx="10881360" cy="3017520"/>
          </a:xfrm>
          <a:prstGeom prst="roundRect">
            <a:avLst>
              <a:gd name="adj" fmla="val 3636"/>
            </a:avLst>
          </a:prstGeom>
          <a:solidFill>
            <a:srgbClr val="0F3B3E"/>
          </a:solidFill>
          <a:ln/>
        </p:spPr>
      </p:sp>
      <p:sp>
        <p:nvSpPr>
          <p:cNvPr id="4" name="Shape 2"/>
          <p:cNvSpPr/>
          <p:nvPr/>
        </p:nvSpPr>
        <p:spPr>
          <a:xfrm>
            <a:off x="1005840" y="2103120"/>
            <a:ext cx="731520" cy="731520"/>
          </a:xfrm>
          <a:prstGeom prst="ellipse">
            <a:avLst/>
          </a:prstGeom>
          <a:solidFill>
            <a:srgbClr val="00A896"/>
          </a:solidFill>
          <a:ln/>
        </p:spPr>
      </p:sp>
      <p:sp>
        <p:nvSpPr>
          <p:cNvPr id="5" name="Text 3"/>
          <p:cNvSpPr/>
          <p:nvPr/>
        </p:nvSpPr>
        <p:spPr>
          <a:xfrm>
            <a:off x="1005840" y="2103120"/>
            <a:ext cx="731520" cy="731520"/>
          </a:xfrm>
          <a:prstGeom prst="rect">
            <a:avLst/>
          </a:prstGeom>
          <a:no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a:t>
            </a:r>
            <a:endParaRPr lang="en-US" sz="2600" dirty="0"/>
          </a:p>
        </p:txBody>
      </p:sp>
      <p:sp>
        <p:nvSpPr>
          <p:cNvPr id="6" name="Text 4"/>
          <p:cNvSpPr/>
          <p:nvPr/>
        </p:nvSpPr>
        <p:spPr>
          <a:xfrm>
            <a:off x="2011680" y="2103120"/>
            <a:ext cx="9052560" cy="2377440"/>
          </a:xfrm>
          <a:prstGeom prst="rect">
            <a:avLst/>
          </a:prstGeom>
          <a:noFill/>
          <a:ln/>
        </p:spPr>
        <p:txBody>
          <a:bodyPr wrap="square" rtlCol="0" anchor="t"/>
          <a:lstStyle/>
          <a:p>
            <a:pPr indent="0" marL="0">
              <a:lnSpc>
                <a:spcPct val="135000"/>
              </a:lnSpc>
              <a:buNone/>
            </a:pPr>
            <a:r>
              <a:rPr lang="en-US" sz="2000" dirty="0">
                <a:solidFill>
                  <a:srgbClr val="D6EDEB"/>
                </a:solidFill>
                <a:latin typeface="Calibri" pitchFamily="34" charset="0"/>
                <a:ea typeface="Calibri" pitchFamily="34" charset="-122"/>
                <a:cs typeface="Calibri" pitchFamily="34" charset="-120"/>
              </a:rPr>
              <a:t>Conversation data can contain important information that sales teams may otherwise have to review manually. </a:t>
            </a:r>
            <a:pPr indent="0" marL="0">
              <a:lnSpc>
                <a:spcPct val="135000"/>
              </a:lnSpc>
              <a:buNone/>
            </a:pPr>
            <a:r>
              <a:rPr lang="en-US" sz="2000" b="1" dirty="0">
                <a:solidFill>
                  <a:srgbClr val="02C39A"/>
                </a:solidFill>
                <a:latin typeface="Calibri" pitchFamily="34" charset="0"/>
                <a:ea typeface="Calibri" pitchFamily="34" charset="-122"/>
                <a:cs typeface="Calibri" pitchFamily="34" charset="-120"/>
              </a:rPr>
              <a:t>Conversation Intelligence</a:t>
            </a:r>
            <a:pPr indent="0" marL="0">
              <a:lnSpc>
                <a:spcPct val="135000"/>
              </a:lnSpc>
              <a:buNone/>
            </a:pPr>
            <a:r>
              <a:rPr lang="en-US" sz="2000" dirty="0">
                <a:solidFill>
                  <a:srgbClr val="D6EDEB"/>
                </a:solidFill>
                <a:latin typeface="Calibri" pitchFamily="34" charset="0"/>
                <a:ea typeface="Calibri" pitchFamily="34" charset="-122"/>
                <a:cs typeface="Calibri" pitchFamily="34" charset="-120"/>
              </a:rPr>
              <a:t> helps convert that information into actionable outputs — saving time and surfacing what matters most.</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7315200" cy="640080"/>
          </a:xfrm>
          <a:prstGeom prst="rect">
            <a:avLst/>
          </a:prstGeom>
          <a:noFill/>
          <a:ln/>
        </p:spPr>
        <p:txBody>
          <a:bodyPr wrap="square" rtlCol="0" anchor="ctr"/>
          <a:lstStyle/>
          <a:p>
            <a:pPr indent="0" marL="0">
              <a:buNone/>
            </a:pPr>
            <a:r>
              <a:rPr lang="en-US" sz="3400" b="1" dirty="0">
                <a:solidFill>
                  <a:srgbClr val="0B2B2E"/>
                </a:solidFill>
                <a:latin typeface="Cambria" pitchFamily="34" charset="0"/>
                <a:ea typeface="Cambria" pitchFamily="34" charset="-122"/>
                <a:cs typeface="Cambria" pitchFamily="34" charset="-120"/>
              </a:rPr>
              <a:t>AI Outputs</a:t>
            </a:r>
            <a:endParaRPr lang="en-US" sz="3400" dirty="0"/>
          </a:p>
        </p:txBody>
      </p:sp>
      <p:sp>
        <p:nvSpPr>
          <p:cNvPr id="3" name="Text 1"/>
          <p:cNvSpPr/>
          <p:nvPr/>
        </p:nvSpPr>
        <p:spPr>
          <a:xfrm>
            <a:off x="640080" y="1097280"/>
            <a:ext cx="9601200" cy="365760"/>
          </a:xfrm>
          <a:prstGeom prst="rect">
            <a:avLst/>
          </a:prstGeom>
          <a:noFill/>
          <a:ln/>
        </p:spPr>
        <p:txBody>
          <a:bodyPr wrap="square" rtlCol="0" anchor="ctr"/>
          <a:lstStyle/>
          <a:p>
            <a:pPr indent="0" marL="0">
              <a:buNone/>
            </a:pPr>
            <a:r>
              <a:rPr lang="en-US" sz="1400" i="1" dirty="0">
                <a:solidFill>
                  <a:srgbClr val="5C7A7C"/>
                </a:solidFill>
                <a:latin typeface="Calibri" pitchFamily="34" charset="0"/>
                <a:ea typeface="Calibri" pitchFamily="34" charset="-122"/>
                <a:cs typeface="Calibri" pitchFamily="34" charset="-120"/>
              </a:rPr>
              <a:t>The AI module generated three structured outputs from each conversation</a:t>
            </a:r>
            <a:endParaRPr lang="en-US" sz="1400" dirty="0"/>
          </a:p>
        </p:txBody>
      </p:sp>
      <p:sp>
        <p:nvSpPr>
          <p:cNvPr id="4" name="Shape 2"/>
          <p:cNvSpPr/>
          <p:nvPr/>
        </p:nvSpPr>
        <p:spPr>
          <a:xfrm>
            <a:off x="640080" y="1965960"/>
            <a:ext cx="3383280" cy="3566160"/>
          </a:xfrm>
          <a:prstGeom prst="roundRect">
            <a:avLst>
              <a:gd name="adj" fmla="val 3784"/>
            </a:avLst>
          </a:prstGeom>
          <a:solidFill>
            <a:srgbClr val="F4FAF9"/>
          </a:solidFill>
          <a:ln/>
          <a:effectLst>
            <a:outerShdw sx="100000" sy="100000" kx="0" ky="0" algn="bl" rotWithShape="0" blurRad="101600" dist="38100" dir="5400000">
              <a:srgbClr val="000000">
                <a:alpha val="10000"/>
              </a:srgbClr>
            </a:outerShdw>
          </a:effectLst>
        </p:spPr>
      </p:sp>
      <p:sp>
        <p:nvSpPr>
          <p:cNvPr id="5" name="Shape 3"/>
          <p:cNvSpPr/>
          <p:nvPr/>
        </p:nvSpPr>
        <p:spPr>
          <a:xfrm>
            <a:off x="1920240" y="2377440"/>
            <a:ext cx="822960" cy="822960"/>
          </a:xfrm>
          <a:prstGeom prst="ellipse">
            <a:avLst/>
          </a:prstGeom>
          <a:solidFill>
            <a:srgbClr val="028090"/>
          </a:solidFill>
          <a:ln/>
        </p:spPr>
      </p:sp>
      <p:sp>
        <p:nvSpPr>
          <p:cNvPr id="6" name="Text 4"/>
          <p:cNvSpPr/>
          <p:nvPr/>
        </p:nvSpPr>
        <p:spPr>
          <a:xfrm>
            <a:off x="1920240" y="2377440"/>
            <a:ext cx="822960" cy="822960"/>
          </a:xfrm>
          <a:prstGeom prst="rect">
            <a:avLst/>
          </a:prstGeom>
          <a:no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S</a:t>
            </a:r>
            <a:endParaRPr lang="en-US" sz="2600" dirty="0"/>
          </a:p>
        </p:txBody>
      </p:sp>
      <p:sp>
        <p:nvSpPr>
          <p:cNvPr id="7" name="Text 5"/>
          <p:cNvSpPr/>
          <p:nvPr/>
        </p:nvSpPr>
        <p:spPr>
          <a:xfrm>
            <a:off x="868680" y="3429000"/>
            <a:ext cx="2926080" cy="457200"/>
          </a:xfrm>
          <a:prstGeom prst="rect">
            <a:avLst/>
          </a:prstGeom>
          <a:noFill/>
          <a:ln/>
        </p:spPr>
        <p:txBody>
          <a:bodyPr wrap="square" rtlCol="0" anchor="ctr"/>
          <a:lstStyle/>
          <a:p>
            <a:pPr algn="ctr" indent="0" marL="0">
              <a:buNone/>
            </a:pPr>
            <a:r>
              <a:rPr lang="en-US" sz="1700" b="1" dirty="0">
                <a:solidFill>
                  <a:srgbClr val="0B2B2E"/>
                </a:solidFill>
                <a:latin typeface="Calibri" pitchFamily="34" charset="0"/>
                <a:ea typeface="Calibri" pitchFamily="34" charset="-122"/>
                <a:cs typeface="Calibri" pitchFamily="34" charset="-120"/>
              </a:rPr>
              <a:t>Meeting Summary</a:t>
            </a:r>
            <a:endParaRPr lang="en-US" sz="1700" dirty="0"/>
          </a:p>
        </p:txBody>
      </p:sp>
      <p:sp>
        <p:nvSpPr>
          <p:cNvPr id="8" name="Text 6"/>
          <p:cNvSpPr/>
          <p:nvPr/>
        </p:nvSpPr>
        <p:spPr>
          <a:xfrm>
            <a:off x="960120" y="3977640"/>
            <a:ext cx="2743200" cy="1280160"/>
          </a:xfrm>
          <a:prstGeom prst="rect">
            <a:avLst/>
          </a:prstGeom>
          <a:noFill/>
          <a:ln/>
        </p:spPr>
        <p:txBody>
          <a:bodyPr wrap="square" rtlCol="0" anchor="ctr"/>
          <a:lstStyle/>
          <a:p>
            <a:pPr algn="ctr" indent="0" marL="0">
              <a:lnSpc>
                <a:spcPct val="125000"/>
              </a:lnSpc>
              <a:buNone/>
            </a:pPr>
            <a:r>
              <a:rPr lang="en-US" sz="1300" dirty="0">
                <a:solidFill>
                  <a:srgbClr val="5C7A7C"/>
                </a:solidFill>
                <a:latin typeface="Calibri" pitchFamily="34" charset="0"/>
                <a:ea typeface="Calibri" pitchFamily="34" charset="-122"/>
                <a:cs typeface="Calibri" pitchFamily="34" charset="-120"/>
              </a:rPr>
              <a:t>A concise recap of what happened during the conversation.</a:t>
            </a:r>
            <a:endParaRPr lang="en-US" sz="1300" dirty="0"/>
          </a:p>
        </p:txBody>
      </p:sp>
      <p:sp>
        <p:nvSpPr>
          <p:cNvPr id="9" name="Shape 7"/>
          <p:cNvSpPr/>
          <p:nvPr/>
        </p:nvSpPr>
        <p:spPr>
          <a:xfrm>
            <a:off x="4343400" y="1965960"/>
            <a:ext cx="3383280" cy="3566160"/>
          </a:xfrm>
          <a:prstGeom prst="roundRect">
            <a:avLst>
              <a:gd name="adj" fmla="val 3784"/>
            </a:avLst>
          </a:prstGeom>
          <a:solidFill>
            <a:srgbClr val="F4FAF9"/>
          </a:solidFill>
          <a:ln/>
          <a:effectLst>
            <a:outerShdw sx="100000" sy="100000" kx="0" ky="0" algn="bl" rotWithShape="0" blurRad="101600" dist="38100" dir="5400000">
              <a:srgbClr val="000000">
                <a:alpha val="10000"/>
              </a:srgbClr>
            </a:outerShdw>
          </a:effectLst>
        </p:spPr>
      </p:sp>
      <p:sp>
        <p:nvSpPr>
          <p:cNvPr id="10" name="Shape 8"/>
          <p:cNvSpPr/>
          <p:nvPr/>
        </p:nvSpPr>
        <p:spPr>
          <a:xfrm>
            <a:off x="5623560" y="2377440"/>
            <a:ext cx="822960" cy="822960"/>
          </a:xfrm>
          <a:prstGeom prst="ellipse">
            <a:avLst/>
          </a:prstGeom>
          <a:solidFill>
            <a:srgbClr val="02C39A"/>
          </a:solidFill>
          <a:ln/>
        </p:spPr>
      </p:sp>
      <p:sp>
        <p:nvSpPr>
          <p:cNvPr id="11" name="Text 9"/>
          <p:cNvSpPr/>
          <p:nvPr/>
        </p:nvSpPr>
        <p:spPr>
          <a:xfrm>
            <a:off x="5623560" y="2377440"/>
            <a:ext cx="822960" cy="822960"/>
          </a:xfrm>
          <a:prstGeom prst="rect">
            <a:avLst/>
          </a:prstGeom>
          <a:no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A</a:t>
            </a:r>
            <a:endParaRPr lang="en-US" sz="2600" dirty="0"/>
          </a:p>
        </p:txBody>
      </p:sp>
      <p:sp>
        <p:nvSpPr>
          <p:cNvPr id="12" name="Text 10"/>
          <p:cNvSpPr/>
          <p:nvPr/>
        </p:nvSpPr>
        <p:spPr>
          <a:xfrm>
            <a:off x="4572000" y="3429000"/>
            <a:ext cx="2926080" cy="457200"/>
          </a:xfrm>
          <a:prstGeom prst="rect">
            <a:avLst/>
          </a:prstGeom>
          <a:noFill/>
          <a:ln/>
        </p:spPr>
        <p:txBody>
          <a:bodyPr wrap="square" rtlCol="0" anchor="ctr"/>
          <a:lstStyle/>
          <a:p>
            <a:pPr algn="ctr" indent="0" marL="0">
              <a:buNone/>
            </a:pPr>
            <a:r>
              <a:rPr lang="en-US" sz="1700" b="1" dirty="0">
                <a:solidFill>
                  <a:srgbClr val="0B2B2E"/>
                </a:solidFill>
                <a:latin typeface="Calibri" pitchFamily="34" charset="0"/>
                <a:ea typeface="Calibri" pitchFamily="34" charset="-122"/>
                <a:cs typeface="Calibri" pitchFamily="34" charset="-120"/>
              </a:rPr>
              <a:t>Action Items</a:t>
            </a:r>
            <a:endParaRPr lang="en-US" sz="1700" dirty="0"/>
          </a:p>
        </p:txBody>
      </p:sp>
      <p:sp>
        <p:nvSpPr>
          <p:cNvPr id="13" name="Text 11"/>
          <p:cNvSpPr/>
          <p:nvPr/>
        </p:nvSpPr>
        <p:spPr>
          <a:xfrm>
            <a:off x="4663440" y="3977640"/>
            <a:ext cx="2743200" cy="1280160"/>
          </a:xfrm>
          <a:prstGeom prst="rect">
            <a:avLst/>
          </a:prstGeom>
          <a:noFill/>
          <a:ln/>
        </p:spPr>
        <p:txBody>
          <a:bodyPr wrap="square" rtlCol="0" anchor="ctr"/>
          <a:lstStyle/>
          <a:p>
            <a:pPr algn="ctr" indent="0" marL="0">
              <a:lnSpc>
                <a:spcPct val="125000"/>
              </a:lnSpc>
              <a:buNone/>
            </a:pPr>
            <a:r>
              <a:rPr lang="en-US" sz="1300" dirty="0">
                <a:solidFill>
                  <a:srgbClr val="5C7A7C"/>
                </a:solidFill>
                <a:latin typeface="Calibri" pitchFamily="34" charset="0"/>
                <a:ea typeface="Calibri" pitchFamily="34" charset="-122"/>
                <a:cs typeface="Calibri" pitchFamily="34" charset="-120"/>
              </a:rPr>
              <a:t>Clear, specific tasks identified from the discussion.</a:t>
            </a:r>
            <a:endParaRPr lang="en-US" sz="1300" dirty="0"/>
          </a:p>
        </p:txBody>
      </p:sp>
      <p:sp>
        <p:nvSpPr>
          <p:cNvPr id="14" name="Shape 12"/>
          <p:cNvSpPr/>
          <p:nvPr/>
        </p:nvSpPr>
        <p:spPr>
          <a:xfrm>
            <a:off x="8046720" y="1965960"/>
            <a:ext cx="3383280" cy="3566160"/>
          </a:xfrm>
          <a:prstGeom prst="roundRect">
            <a:avLst>
              <a:gd name="adj" fmla="val 3784"/>
            </a:avLst>
          </a:prstGeom>
          <a:solidFill>
            <a:srgbClr val="F4FAF9"/>
          </a:solidFill>
          <a:ln/>
          <a:effectLst>
            <a:outerShdw sx="100000" sy="100000" kx="0" ky="0" algn="bl" rotWithShape="0" blurRad="101600" dist="38100" dir="5400000">
              <a:srgbClr val="000000">
                <a:alpha val="10000"/>
              </a:srgbClr>
            </a:outerShdw>
          </a:effectLst>
        </p:spPr>
      </p:sp>
      <p:sp>
        <p:nvSpPr>
          <p:cNvPr id="15" name="Shape 13"/>
          <p:cNvSpPr/>
          <p:nvPr/>
        </p:nvSpPr>
        <p:spPr>
          <a:xfrm>
            <a:off x="9326880" y="2377440"/>
            <a:ext cx="822960" cy="822960"/>
          </a:xfrm>
          <a:prstGeom prst="ellipse">
            <a:avLst/>
          </a:prstGeom>
          <a:solidFill>
            <a:srgbClr val="028090"/>
          </a:solidFill>
          <a:ln/>
        </p:spPr>
      </p:sp>
      <p:sp>
        <p:nvSpPr>
          <p:cNvPr id="16" name="Text 14"/>
          <p:cNvSpPr/>
          <p:nvPr/>
        </p:nvSpPr>
        <p:spPr>
          <a:xfrm>
            <a:off x="9326880" y="2377440"/>
            <a:ext cx="822960" cy="822960"/>
          </a:xfrm>
          <a:prstGeom prst="rect">
            <a:avLst/>
          </a:prstGeom>
          <a:no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F</a:t>
            </a:r>
            <a:endParaRPr lang="en-US" sz="2600" dirty="0"/>
          </a:p>
        </p:txBody>
      </p:sp>
      <p:sp>
        <p:nvSpPr>
          <p:cNvPr id="17" name="Text 15"/>
          <p:cNvSpPr/>
          <p:nvPr/>
        </p:nvSpPr>
        <p:spPr>
          <a:xfrm>
            <a:off x="8275320" y="3429000"/>
            <a:ext cx="2926080" cy="457200"/>
          </a:xfrm>
          <a:prstGeom prst="rect">
            <a:avLst/>
          </a:prstGeom>
          <a:noFill/>
          <a:ln/>
        </p:spPr>
        <p:txBody>
          <a:bodyPr wrap="square" rtlCol="0" anchor="ctr"/>
          <a:lstStyle/>
          <a:p>
            <a:pPr algn="ctr" indent="0" marL="0">
              <a:buNone/>
            </a:pPr>
            <a:r>
              <a:rPr lang="en-US" sz="1700" b="1" dirty="0">
                <a:solidFill>
                  <a:srgbClr val="0B2B2E"/>
                </a:solidFill>
                <a:latin typeface="Calibri" pitchFamily="34" charset="0"/>
                <a:ea typeface="Calibri" pitchFamily="34" charset="-122"/>
                <a:cs typeface="Calibri" pitchFamily="34" charset="-120"/>
              </a:rPr>
              <a:t>Follow-ups</a:t>
            </a:r>
            <a:endParaRPr lang="en-US" sz="1700" dirty="0"/>
          </a:p>
        </p:txBody>
      </p:sp>
      <p:sp>
        <p:nvSpPr>
          <p:cNvPr id="18" name="Text 16"/>
          <p:cNvSpPr/>
          <p:nvPr/>
        </p:nvSpPr>
        <p:spPr>
          <a:xfrm>
            <a:off x="8366760" y="3977640"/>
            <a:ext cx="2743200" cy="1280160"/>
          </a:xfrm>
          <a:prstGeom prst="rect">
            <a:avLst/>
          </a:prstGeom>
          <a:noFill/>
          <a:ln/>
        </p:spPr>
        <p:txBody>
          <a:bodyPr wrap="square" rtlCol="0" anchor="ctr"/>
          <a:lstStyle/>
          <a:p>
            <a:pPr algn="ctr" indent="0" marL="0">
              <a:lnSpc>
                <a:spcPct val="125000"/>
              </a:lnSpc>
              <a:buNone/>
            </a:pPr>
            <a:r>
              <a:rPr lang="en-US" sz="1300" dirty="0">
                <a:solidFill>
                  <a:srgbClr val="5C7A7C"/>
                </a:solidFill>
                <a:latin typeface="Calibri" pitchFamily="34" charset="0"/>
                <a:ea typeface="Calibri" pitchFamily="34" charset="-122"/>
                <a:cs typeface="Calibri" pitchFamily="34" charset="-120"/>
              </a:rPr>
              <a:t>Recommended next steps to keep the deal moving.</a:t>
            </a:r>
            <a:endParaRPr lang="en-US" sz="1300" dirty="0"/>
          </a:p>
        </p:txBody>
      </p:sp>
      <p:sp>
        <p:nvSpPr>
          <p:cNvPr id="19" name="Text 17"/>
          <p:cNvSpPr/>
          <p:nvPr/>
        </p:nvSpPr>
        <p:spPr>
          <a:xfrm>
            <a:off x="640080" y="5715000"/>
            <a:ext cx="10881360" cy="640080"/>
          </a:xfrm>
          <a:prstGeom prst="rect">
            <a:avLst/>
          </a:prstGeom>
          <a:noFill/>
          <a:ln/>
        </p:spPr>
        <p:txBody>
          <a:bodyPr wrap="square" rtlCol="0" anchor="ctr"/>
          <a:lstStyle/>
          <a:p>
            <a:pPr algn="l" indent="0" marL="0">
              <a:buNone/>
            </a:pPr>
            <a:r>
              <a:rPr lang="en-US" sz="1300" i="1" dirty="0">
                <a:solidFill>
                  <a:srgbClr val="5C7A7C"/>
                </a:solidFill>
                <a:latin typeface="Calibri" pitchFamily="34" charset="0"/>
                <a:ea typeface="Calibri" pitchFamily="34" charset="-122"/>
                <a:cs typeface="Calibri" pitchFamily="34" charset="-120"/>
              </a:rPr>
              <a:t>These outputs help sales representatives quickly understand what happened during a conversation and what needs to be done next.</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7315200" cy="640080"/>
          </a:xfrm>
          <a:prstGeom prst="rect">
            <a:avLst/>
          </a:prstGeom>
          <a:noFill/>
          <a:ln/>
        </p:spPr>
        <p:txBody>
          <a:bodyPr wrap="square" rtlCol="0" anchor="ctr"/>
          <a:lstStyle/>
          <a:p>
            <a:pPr indent="0" marL="0">
              <a:buNone/>
            </a:pPr>
            <a:r>
              <a:rPr lang="en-US" sz="3400" b="1" dirty="0">
                <a:solidFill>
                  <a:srgbClr val="0B2B2E"/>
                </a:solidFill>
                <a:latin typeface="Cambria" pitchFamily="34" charset="0"/>
                <a:ea typeface="Cambria" pitchFamily="34" charset="-122"/>
                <a:cs typeface="Cambria" pitchFamily="34" charset="-120"/>
              </a:rPr>
              <a:t>Team Contribution</a:t>
            </a:r>
            <a:endParaRPr lang="en-US" sz="3400" dirty="0"/>
          </a:p>
        </p:txBody>
      </p:sp>
      <p:sp>
        <p:nvSpPr>
          <p:cNvPr id="3" name="Shape 1"/>
          <p:cNvSpPr/>
          <p:nvPr/>
        </p:nvSpPr>
        <p:spPr>
          <a:xfrm>
            <a:off x="640080" y="1600200"/>
            <a:ext cx="3383280" cy="4206240"/>
          </a:xfrm>
          <a:prstGeom prst="roundRect">
            <a:avLst>
              <a:gd name="adj" fmla="val 3784"/>
            </a:avLst>
          </a:prstGeom>
          <a:solidFill>
            <a:srgbClr val="F4FAF9"/>
          </a:solidFill>
          <a:ln/>
        </p:spPr>
      </p:sp>
      <p:sp>
        <p:nvSpPr>
          <p:cNvPr id="4" name="Shape 2"/>
          <p:cNvSpPr/>
          <p:nvPr/>
        </p:nvSpPr>
        <p:spPr>
          <a:xfrm>
            <a:off x="914400" y="1874520"/>
            <a:ext cx="640080" cy="640080"/>
          </a:xfrm>
          <a:prstGeom prst="ellipse">
            <a:avLst/>
          </a:prstGeom>
          <a:solidFill>
            <a:srgbClr val="028090"/>
          </a:solidFill>
          <a:ln/>
        </p:spPr>
      </p:sp>
      <p:sp>
        <p:nvSpPr>
          <p:cNvPr id="5" name="Text 3"/>
          <p:cNvSpPr/>
          <p:nvPr/>
        </p:nvSpPr>
        <p:spPr>
          <a:xfrm>
            <a:off x="914400" y="1874520"/>
            <a:ext cx="640080" cy="6400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FE</a:t>
            </a:r>
            <a:endParaRPr lang="en-US" sz="1400" dirty="0"/>
          </a:p>
        </p:txBody>
      </p:sp>
      <p:sp>
        <p:nvSpPr>
          <p:cNvPr id="6" name="Text 4"/>
          <p:cNvSpPr/>
          <p:nvPr/>
        </p:nvSpPr>
        <p:spPr>
          <a:xfrm>
            <a:off x="1691640" y="1874520"/>
            <a:ext cx="2194560" cy="640080"/>
          </a:xfrm>
          <a:prstGeom prst="rect">
            <a:avLst/>
          </a:prstGeom>
          <a:noFill/>
          <a:ln/>
        </p:spPr>
        <p:txBody>
          <a:bodyPr wrap="square" rtlCol="0" anchor="ctr"/>
          <a:lstStyle/>
          <a:p>
            <a:pPr indent="0" marL="0">
              <a:buNone/>
            </a:pPr>
            <a:r>
              <a:rPr lang="en-US" sz="1800" b="1" dirty="0">
                <a:solidFill>
                  <a:srgbClr val="0B2B2E"/>
                </a:solidFill>
                <a:latin typeface="Calibri" pitchFamily="34" charset="0"/>
                <a:ea typeface="Calibri" pitchFamily="34" charset="-122"/>
                <a:cs typeface="Calibri" pitchFamily="34" charset="-120"/>
              </a:rPr>
              <a:t>Frontend</a:t>
            </a:r>
            <a:endParaRPr lang="en-US" sz="1800" dirty="0"/>
          </a:p>
        </p:txBody>
      </p:sp>
      <p:sp>
        <p:nvSpPr>
          <p:cNvPr id="7" name="Text 5"/>
          <p:cNvSpPr/>
          <p:nvPr/>
        </p:nvSpPr>
        <p:spPr>
          <a:xfrm>
            <a:off x="960120" y="2743200"/>
            <a:ext cx="2743200" cy="2834640"/>
          </a:xfrm>
          <a:prstGeom prst="rect">
            <a:avLst/>
          </a:prstGeom>
          <a:noFill/>
          <a:ln/>
        </p:spPr>
        <p:txBody>
          <a:bodyPr wrap="square" rtlCol="0" anchor="t"/>
          <a:lstStyle/>
          <a:p>
            <a:pPr marL="177800" indent="-177800">
              <a:lnSpc>
                <a:spcPct val="130000"/>
              </a:lnSpc>
              <a:spcAft>
                <a:spcPts val="1000"/>
              </a:spcAft>
              <a:buSzPct val="100000"/>
              <a:buChar char="●"/>
            </a:pPr>
            <a:r>
              <a:rPr lang="en-US" sz="1300" dirty="0">
                <a:solidFill>
                  <a:srgbClr val="0B2B2E"/>
                </a:solidFill>
                <a:latin typeface="Calibri" pitchFamily="34" charset="0"/>
                <a:ea typeface="Calibri" pitchFamily="34" charset="-122"/>
                <a:cs typeface="Calibri" pitchFamily="34" charset="-120"/>
              </a:rPr>
              <a:t>Developed the Conversation page</a:t>
            </a:r>
            <a:endParaRPr lang="en-US" sz="1300" dirty="0"/>
          </a:p>
          <a:p>
            <a:pPr marL="177800" indent="-177800">
              <a:lnSpc>
                <a:spcPct val="130000"/>
              </a:lnSpc>
              <a:spcAft>
                <a:spcPts val="1000"/>
              </a:spcAft>
              <a:buSzPct val="100000"/>
              <a:buChar char="●"/>
            </a:pPr>
            <a:r>
              <a:rPr lang="en-US" sz="1300" dirty="0">
                <a:solidFill>
                  <a:srgbClr val="0B2B2E"/>
                </a:solidFill>
                <a:latin typeface="Calibri" pitchFamily="34" charset="0"/>
                <a:ea typeface="Calibri" pitchFamily="34" charset="-122"/>
                <a:cs typeface="Calibri" pitchFamily="34" charset="-120"/>
              </a:rPr>
              <a:t>Prepared the UI for summaries, action items, and follow-ups</a:t>
            </a:r>
            <a:endParaRPr lang="en-US" sz="1300" dirty="0"/>
          </a:p>
        </p:txBody>
      </p:sp>
      <p:sp>
        <p:nvSpPr>
          <p:cNvPr id="8" name="Shape 6"/>
          <p:cNvSpPr/>
          <p:nvPr/>
        </p:nvSpPr>
        <p:spPr>
          <a:xfrm>
            <a:off x="4343400" y="1600200"/>
            <a:ext cx="3383280" cy="4206240"/>
          </a:xfrm>
          <a:prstGeom prst="roundRect">
            <a:avLst>
              <a:gd name="adj" fmla="val 3784"/>
            </a:avLst>
          </a:prstGeom>
          <a:solidFill>
            <a:srgbClr val="F4FAF9"/>
          </a:solidFill>
          <a:ln/>
        </p:spPr>
      </p:sp>
      <p:sp>
        <p:nvSpPr>
          <p:cNvPr id="9" name="Shape 7"/>
          <p:cNvSpPr/>
          <p:nvPr/>
        </p:nvSpPr>
        <p:spPr>
          <a:xfrm>
            <a:off x="4617720" y="1874520"/>
            <a:ext cx="640080" cy="640080"/>
          </a:xfrm>
          <a:prstGeom prst="ellipse">
            <a:avLst/>
          </a:prstGeom>
          <a:solidFill>
            <a:srgbClr val="00A896"/>
          </a:solidFill>
          <a:ln/>
        </p:spPr>
      </p:sp>
      <p:sp>
        <p:nvSpPr>
          <p:cNvPr id="10" name="Text 8"/>
          <p:cNvSpPr/>
          <p:nvPr/>
        </p:nvSpPr>
        <p:spPr>
          <a:xfrm>
            <a:off x="4617720" y="1874520"/>
            <a:ext cx="640080" cy="6400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AI</a:t>
            </a:r>
            <a:endParaRPr lang="en-US" sz="1400" dirty="0"/>
          </a:p>
        </p:txBody>
      </p:sp>
      <p:sp>
        <p:nvSpPr>
          <p:cNvPr id="11" name="Text 9"/>
          <p:cNvSpPr/>
          <p:nvPr/>
        </p:nvSpPr>
        <p:spPr>
          <a:xfrm>
            <a:off x="5394960" y="1874520"/>
            <a:ext cx="2194560" cy="640080"/>
          </a:xfrm>
          <a:prstGeom prst="rect">
            <a:avLst/>
          </a:prstGeom>
          <a:noFill/>
          <a:ln/>
        </p:spPr>
        <p:txBody>
          <a:bodyPr wrap="square" rtlCol="0" anchor="ctr"/>
          <a:lstStyle/>
          <a:p>
            <a:pPr indent="0" marL="0">
              <a:buNone/>
            </a:pPr>
            <a:r>
              <a:rPr lang="en-US" sz="1800" b="1" dirty="0">
                <a:solidFill>
                  <a:srgbClr val="0B2B2E"/>
                </a:solidFill>
                <a:latin typeface="Calibri" pitchFamily="34" charset="0"/>
                <a:ea typeface="Calibri" pitchFamily="34" charset="-122"/>
                <a:cs typeface="Calibri" pitchFamily="34" charset="-120"/>
              </a:rPr>
              <a:t>AI</a:t>
            </a:r>
            <a:endParaRPr lang="en-US" sz="1800" dirty="0"/>
          </a:p>
        </p:txBody>
      </p:sp>
      <p:sp>
        <p:nvSpPr>
          <p:cNvPr id="12" name="Text 10"/>
          <p:cNvSpPr/>
          <p:nvPr/>
        </p:nvSpPr>
        <p:spPr>
          <a:xfrm>
            <a:off x="4663440" y="2743200"/>
            <a:ext cx="2743200" cy="2834640"/>
          </a:xfrm>
          <a:prstGeom prst="rect">
            <a:avLst/>
          </a:prstGeom>
          <a:noFill/>
          <a:ln/>
        </p:spPr>
        <p:txBody>
          <a:bodyPr wrap="square" rtlCol="0" anchor="t"/>
          <a:lstStyle/>
          <a:p>
            <a:pPr marL="177800" indent="-177800">
              <a:lnSpc>
                <a:spcPct val="130000"/>
              </a:lnSpc>
              <a:spcAft>
                <a:spcPts val="1000"/>
              </a:spcAft>
              <a:buSzPct val="100000"/>
              <a:buChar char="●"/>
            </a:pPr>
            <a:r>
              <a:rPr lang="en-US" sz="1300" dirty="0">
                <a:solidFill>
                  <a:srgbClr val="0B2B2E"/>
                </a:solidFill>
                <a:latin typeface="Calibri" pitchFamily="34" charset="0"/>
                <a:ea typeface="Calibri" pitchFamily="34" charset="-122"/>
                <a:cs typeface="Calibri" pitchFamily="34" charset="-120"/>
              </a:rPr>
              <a:t>Generated conversation intelligence outputs</a:t>
            </a:r>
            <a:endParaRPr lang="en-US" sz="1300" dirty="0"/>
          </a:p>
          <a:p>
            <a:pPr marL="177800" indent="-177800">
              <a:lnSpc>
                <a:spcPct val="130000"/>
              </a:lnSpc>
              <a:spcAft>
                <a:spcPts val="1000"/>
              </a:spcAft>
              <a:buSzPct val="100000"/>
              <a:buChar char="●"/>
            </a:pPr>
            <a:r>
              <a:rPr lang="en-US" sz="1300" dirty="0">
                <a:solidFill>
                  <a:srgbClr val="0B2B2E"/>
                </a:solidFill>
                <a:latin typeface="Calibri" pitchFamily="34" charset="0"/>
                <a:ea typeface="Calibri" pitchFamily="34" charset="-122"/>
                <a:cs typeface="Calibri" pitchFamily="34" charset="-120"/>
              </a:rPr>
              <a:t>Structured results for downstream use</a:t>
            </a:r>
            <a:endParaRPr lang="en-US" sz="1300" dirty="0"/>
          </a:p>
        </p:txBody>
      </p:sp>
      <p:sp>
        <p:nvSpPr>
          <p:cNvPr id="13" name="Shape 11"/>
          <p:cNvSpPr/>
          <p:nvPr/>
        </p:nvSpPr>
        <p:spPr>
          <a:xfrm>
            <a:off x="8046720" y="1600200"/>
            <a:ext cx="3383280" cy="4206240"/>
          </a:xfrm>
          <a:prstGeom prst="roundRect">
            <a:avLst>
              <a:gd name="adj" fmla="val 3784"/>
            </a:avLst>
          </a:prstGeom>
          <a:solidFill>
            <a:srgbClr val="F4FAF9"/>
          </a:solidFill>
          <a:ln/>
        </p:spPr>
      </p:sp>
      <p:sp>
        <p:nvSpPr>
          <p:cNvPr id="14" name="Shape 12"/>
          <p:cNvSpPr/>
          <p:nvPr/>
        </p:nvSpPr>
        <p:spPr>
          <a:xfrm>
            <a:off x="8321040" y="1874520"/>
            <a:ext cx="640080" cy="640080"/>
          </a:xfrm>
          <a:prstGeom prst="ellipse">
            <a:avLst/>
          </a:prstGeom>
          <a:solidFill>
            <a:srgbClr val="02C39A"/>
          </a:solidFill>
          <a:ln/>
        </p:spPr>
      </p:sp>
      <p:sp>
        <p:nvSpPr>
          <p:cNvPr id="15" name="Text 13"/>
          <p:cNvSpPr/>
          <p:nvPr/>
        </p:nvSpPr>
        <p:spPr>
          <a:xfrm>
            <a:off x="8321040" y="1874520"/>
            <a:ext cx="640080" cy="6400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QA</a:t>
            </a:r>
            <a:endParaRPr lang="en-US" sz="1400" dirty="0"/>
          </a:p>
        </p:txBody>
      </p:sp>
      <p:sp>
        <p:nvSpPr>
          <p:cNvPr id="16" name="Text 14"/>
          <p:cNvSpPr/>
          <p:nvPr/>
        </p:nvSpPr>
        <p:spPr>
          <a:xfrm>
            <a:off x="9098280" y="1874520"/>
            <a:ext cx="2194560" cy="640080"/>
          </a:xfrm>
          <a:prstGeom prst="rect">
            <a:avLst/>
          </a:prstGeom>
          <a:noFill/>
          <a:ln/>
        </p:spPr>
        <p:txBody>
          <a:bodyPr wrap="square" rtlCol="0" anchor="ctr"/>
          <a:lstStyle/>
          <a:p>
            <a:pPr indent="0" marL="0">
              <a:buNone/>
            </a:pPr>
            <a:r>
              <a:rPr lang="en-US" sz="1800" b="1" dirty="0">
                <a:solidFill>
                  <a:srgbClr val="0B2B2E"/>
                </a:solidFill>
                <a:latin typeface="Calibri" pitchFamily="34" charset="0"/>
                <a:ea typeface="Calibri" pitchFamily="34" charset="-122"/>
                <a:cs typeface="Calibri" pitchFamily="34" charset="-120"/>
              </a:rPr>
              <a:t>QA</a:t>
            </a:r>
            <a:endParaRPr lang="en-US" sz="1800" dirty="0"/>
          </a:p>
        </p:txBody>
      </p:sp>
      <p:sp>
        <p:nvSpPr>
          <p:cNvPr id="17" name="Text 15"/>
          <p:cNvSpPr/>
          <p:nvPr/>
        </p:nvSpPr>
        <p:spPr>
          <a:xfrm>
            <a:off x="8366760" y="2743200"/>
            <a:ext cx="2743200" cy="2834640"/>
          </a:xfrm>
          <a:prstGeom prst="rect">
            <a:avLst/>
          </a:prstGeom>
          <a:noFill/>
          <a:ln/>
        </p:spPr>
        <p:txBody>
          <a:bodyPr wrap="square" rtlCol="0" anchor="t"/>
          <a:lstStyle/>
          <a:p>
            <a:pPr marL="177800" indent="-177800">
              <a:lnSpc>
                <a:spcPct val="130000"/>
              </a:lnSpc>
              <a:spcAft>
                <a:spcPts val="1000"/>
              </a:spcAft>
              <a:buSzPct val="100000"/>
              <a:buChar char="●"/>
            </a:pPr>
            <a:r>
              <a:rPr lang="en-US" sz="1300" dirty="0">
                <a:solidFill>
                  <a:srgbClr val="0B2B2E"/>
                </a:solidFill>
                <a:latin typeface="Calibri" pitchFamily="34" charset="0"/>
                <a:ea typeface="Calibri" pitchFamily="34" charset="-122"/>
                <a:cs typeface="Calibri" pitchFamily="34" charset="-120"/>
              </a:rPr>
              <a:t>Performed output testing</a:t>
            </a:r>
            <a:endParaRPr lang="en-US" sz="1300" dirty="0"/>
          </a:p>
          <a:p>
            <a:pPr marL="177800" indent="-177800">
              <a:lnSpc>
                <a:spcPct val="130000"/>
              </a:lnSpc>
              <a:spcAft>
                <a:spcPts val="1000"/>
              </a:spcAft>
              <a:buSzPct val="100000"/>
              <a:buChar char="●"/>
            </a:pPr>
            <a:r>
              <a:rPr lang="en-US" sz="1300" dirty="0">
                <a:solidFill>
                  <a:srgbClr val="0B2B2E"/>
                </a:solidFill>
                <a:latin typeface="Calibri" pitchFamily="34" charset="0"/>
                <a:ea typeface="Calibri" pitchFamily="34" charset="-122"/>
                <a:cs typeface="Calibri" pitchFamily="34" charset="-120"/>
              </a:rPr>
              <a:t>Verified summaries, action items, and follow-ups returned correctly</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2B2E"/>
        </a:solidFill>
      </p:bgPr>
    </p:bg>
    <p:spTree>
      <p:nvGrpSpPr>
        <p:cNvPr id="1" name=""/>
        <p:cNvGrpSpPr/>
        <p:nvPr/>
      </p:nvGrpSpPr>
      <p:grpSpPr>
        <a:xfrm>
          <a:off x="0" y="0"/>
          <a:ext cx="0" cy="0"/>
          <a:chOff x="0" y="0"/>
          <a:chExt cx="0" cy="0"/>
        </a:xfrm>
      </p:grpSpPr>
      <p:sp>
        <p:nvSpPr>
          <p:cNvPr id="2" name="Shape 0"/>
          <p:cNvSpPr/>
          <p:nvPr/>
        </p:nvSpPr>
        <p:spPr>
          <a:xfrm>
            <a:off x="-1371600" y="-1371600"/>
            <a:ext cx="4114800" cy="4114800"/>
          </a:xfrm>
          <a:prstGeom prst="ellipse">
            <a:avLst/>
          </a:prstGeom>
          <a:solidFill>
            <a:srgbClr val="028090">
              <a:alpha val="45000"/>
            </a:srgbClr>
          </a:solidFill>
          <a:ln/>
        </p:spPr>
      </p:sp>
      <p:sp>
        <p:nvSpPr>
          <p:cNvPr id="3" name="Shape 1"/>
          <p:cNvSpPr/>
          <p:nvPr/>
        </p:nvSpPr>
        <p:spPr>
          <a:xfrm>
            <a:off x="9875520" y="4389120"/>
            <a:ext cx="3474720" cy="3474720"/>
          </a:xfrm>
          <a:prstGeom prst="ellipse">
            <a:avLst/>
          </a:prstGeom>
          <a:solidFill>
            <a:srgbClr val="00A896">
              <a:alpha val="40000"/>
            </a:srgbClr>
          </a:solidFill>
          <a:ln/>
        </p:spPr>
      </p:sp>
      <p:sp>
        <p:nvSpPr>
          <p:cNvPr id="4" name="Text 2"/>
          <p:cNvSpPr/>
          <p:nvPr/>
        </p:nvSpPr>
        <p:spPr>
          <a:xfrm>
            <a:off x="731520" y="2377440"/>
            <a:ext cx="9144000" cy="731520"/>
          </a:xfrm>
          <a:prstGeom prst="rect">
            <a:avLst/>
          </a:prstGeom>
          <a:noFill/>
          <a:ln/>
        </p:spPr>
        <p:txBody>
          <a:bodyPr wrap="square" rtlCol="0" anchor="ctr"/>
          <a:lstStyle/>
          <a:p>
            <a:pPr indent="0" marL="0">
              <a:buNone/>
            </a:pPr>
            <a:r>
              <a:rPr lang="en-US" sz="1600" b="1" spc="300" kern="0" dirty="0">
                <a:solidFill>
                  <a:srgbClr val="02C39A"/>
                </a:solidFill>
                <a:latin typeface="Calibri" pitchFamily="34" charset="0"/>
                <a:ea typeface="Calibri" pitchFamily="34" charset="-122"/>
                <a:cs typeface="Calibri" pitchFamily="34" charset="-120"/>
              </a:rPr>
              <a:t>Day 23 — Complete</a:t>
            </a:r>
            <a:endParaRPr lang="en-US" sz="1600" dirty="0"/>
          </a:p>
        </p:txBody>
      </p:sp>
      <p:sp>
        <p:nvSpPr>
          <p:cNvPr id="5" name="Text 3"/>
          <p:cNvSpPr/>
          <p:nvPr/>
        </p:nvSpPr>
        <p:spPr>
          <a:xfrm>
            <a:off x="731520" y="2926080"/>
            <a:ext cx="10058400" cy="1463040"/>
          </a:xfrm>
          <a:prstGeom prst="rect">
            <a:avLst/>
          </a:prstGeom>
          <a:noFill/>
          <a:ln/>
        </p:spPr>
        <p:txBody>
          <a:bodyPr wrap="square" rtlCol="0" anchor="ctr"/>
          <a:lstStyle/>
          <a:p>
            <a:pPr indent="0" marL="0">
              <a:lnSpc>
                <a:spcPct val="120000"/>
              </a:lnSpc>
              <a:buNone/>
            </a:pPr>
            <a:r>
              <a:rPr lang="en-US" sz="2600" b="1" dirty="0">
                <a:solidFill>
                  <a:srgbClr val="FFFFFF"/>
                </a:solidFill>
                <a:latin typeface="Cambria" pitchFamily="34" charset="0"/>
                <a:ea typeface="Cambria" pitchFamily="34" charset="-122"/>
                <a:cs typeface="Cambria" pitchFamily="34" charset="-120"/>
              </a:rPr>
              <a:t>The Conversation Intelligence endpoint was successfully integrated —</a:t>
            </a:r>
            <a:endParaRPr lang="en-US" sz="2600" dirty="0"/>
          </a:p>
          <a:p>
            <a:pPr indent="0" marL="0">
              <a:lnSpc>
                <a:spcPct val="120000"/>
              </a:lnSpc>
              <a:buNone/>
            </a:pPr>
            <a:r>
              <a:rPr lang="en-US" sz="2600" b="1" dirty="0">
                <a:solidFill>
                  <a:srgbClr val="FFFFFF"/>
                </a:solidFill>
                <a:latin typeface="Cambria" pitchFamily="34" charset="0"/>
                <a:ea typeface="Cambria" pitchFamily="34" charset="-122"/>
                <a:cs typeface="Cambria" pitchFamily="34" charset="-120"/>
              </a:rPr>
              <a:t>core workflow for extracting actionable insights is now in place.</a:t>
            </a:r>
            <a:endParaRPr lang="en-US" sz="2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2026-08-17T14:01:44Z</dcterms:created>
  <dcterms:modified xsi:type="dcterms:W3CDTF">2026-08-17T14:01:44Z</dcterms:modified>
</cp:coreProperties>
</file>