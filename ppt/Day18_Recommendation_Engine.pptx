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Day 18, my responsibility was to integrate the Recommendation API into the backend, so the application could generate personalized recommendations after analyzing a lead.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connected the backend with the recommendation service, implemented request validation, response handling, and ensured reliable communication between the backend and the frontend.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recommendations generated by the system help sales representatives decide the best follow-up timing, the most effective communication channel, and the appropriate content strategy for each lead.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connected the backend with the recommendation service so that, after analyzing a lead, the application could generate personalized recommendations, with full request validation and error handling.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AI team developed the recommendation logic that generates follow-up timing, channel mix, and content strategy. The frontend team created recommendation cards to display these suggestions in the dashboard, while the QA team verified the recommendations and tested the API under different scenarios.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Day 18, the Recommendation Engine was fully integrated and capable of providing intelligent, AI-powered guidance to improve sales engagement.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B30"/>
        </a:solidFill>
      </p:bgPr>
    </p:bg>
    <p:spTree>
      <p:nvGrpSpPr>
        <p:cNvPr id="1" name=""/>
        <p:cNvGrpSpPr/>
        <p:nvPr/>
      </p:nvGrpSpPr>
      <p:grpSpPr>
        <a:xfrm>
          <a:off x="0" y="0"/>
          <a:ext cx="0" cy="0"/>
          <a:chOff x="0" y="0"/>
          <a:chExt cx="0" cy="0"/>
        </a:xfrm>
      </p:grpSpPr>
      <p:sp>
        <p:nvSpPr>
          <p:cNvPr id="2" name="Shape 0"/>
          <p:cNvSpPr/>
          <p:nvPr/>
        </p:nvSpPr>
        <p:spPr>
          <a:xfrm>
            <a:off x="9692640" y="-1280160"/>
            <a:ext cx="4114800" cy="4114800"/>
          </a:xfrm>
          <a:prstGeom prst="ellipse">
            <a:avLst/>
          </a:prstGeom>
          <a:solidFill>
            <a:srgbClr val="028090">
              <a:alpha val="45000"/>
            </a:srgbClr>
          </a:solidFill>
          <a:ln/>
        </p:spPr>
      </p:sp>
      <p:sp>
        <p:nvSpPr>
          <p:cNvPr id="3" name="Shape 1"/>
          <p:cNvSpPr/>
          <p:nvPr/>
        </p:nvSpPr>
        <p:spPr>
          <a:xfrm>
            <a:off x="10789920" y="4206240"/>
            <a:ext cx="2926080" cy="2926080"/>
          </a:xfrm>
          <a:prstGeom prst="ellipse">
            <a:avLst/>
          </a:prstGeom>
          <a:solidFill>
            <a:srgbClr val="02C39A">
              <a:alpha val="35000"/>
            </a:srgbClr>
          </a:solidFill>
          <a:ln/>
        </p:spPr>
      </p:sp>
      <p:sp>
        <p:nvSpPr>
          <p:cNvPr id="4" name="Text 2"/>
          <p:cNvSpPr/>
          <p:nvPr/>
        </p:nvSpPr>
        <p:spPr>
          <a:xfrm>
            <a:off x="731520" y="1965960"/>
            <a:ext cx="5486400" cy="457200"/>
          </a:xfrm>
          <a:prstGeom prst="rect">
            <a:avLst/>
          </a:prstGeom>
          <a:noFill/>
          <a:ln/>
        </p:spPr>
        <p:txBody>
          <a:bodyPr wrap="square" rtlCol="0" anchor="ctr"/>
          <a:lstStyle/>
          <a:p>
            <a:pPr indent="0" marL="0">
              <a:buNone/>
            </a:pPr>
            <a:r>
              <a:rPr lang="en-US" sz="1600" b="1" spc="400" kern="0" dirty="0">
                <a:solidFill>
                  <a:srgbClr val="02C39A"/>
                </a:solidFill>
                <a:latin typeface="Calibri" pitchFamily="34" charset="0"/>
                <a:ea typeface="Calibri" pitchFamily="34" charset="-122"/>
                <a:cs typeface="Calibri" pitchFamily="34" charset="-120"/>
              </a:rPr>
              <a:t>DAY 18</a:t>
            </a:r>
            <a:endParaRPr lang="en-US" sz="1600" dirty="0"/>
          </a:p>
        </p:txBody>
      </p:sp>
      <p:sp>
        <p:nvSpPr>
          <p:cNvPr id="5" name="Text 3"/>
          <p:cNvSpPr/>
          <p:nvPr/>
        </p:nvSpPr>
        <p:spPr>
          <a:xfrm>
            <a:off x="731520" y="2377440"/>
            <a:ext cx="8686800" cy="1828800"/>
          </a:xfrm>
          <a:prstGeom prst="rect">
            <a:avLst/>
          </a:prstGeom>
          <a:noFill/>
          <a:ln/>
        </p:spPr>
        <p:txBody>
          <a:bodyPr wrap="square" rtlCol="0" anchor="ctr"/>
          <a:lstStyle/>
          <a:p>
            <a:pPr indent="0" marL="0">
              <a:lnSpc>
                <a:spcPts val="4800"/>
              </a:lnSpc>
              <a:buNone/>
            </a:pPr>
            <a:r>
              <a:rPr lang="en-US" sz="4400" b="1" dirty="0">
                <a:solidFill>
                  <a:srgbClr val="FFFFFF"/>
                </a:solidFill>
                <a:latin typeface="Cambria" pitchFamily="34" charset="0"/>
                <a:ea typeface="Cambria" pitchFamily="34" charset="-122"/>
                <a:cs typeface="Cambria" pitchFamily="34" charset="-120"/>
              </a:rPr>
              <a:t>Recommendation Engine</a:t>
            </a:r>
            <a:endParaRPr lang="en-US" sz="4400" dirty="0"/>
          </a:p>
          <a:p>
            <a:pPr indent="0" marL="0">
              <a:lnSpc>
                <a:spcPts val="4800"/>
              </a:lnSpc>
              <a:buNone/>
            </a:pPr>
            <a:r>
              <a:rPr lang="en-US" sz="4400" b="1" dirty="0">
                <a:solidFill>
                  <a:srgbClr val="FFFFFF"/>
                </a:solidFill>
                <a:latin typeface="Cambria" pitchFamily="34" charset="0"/>
                <a:ea typeface="Cambria" pitchFamily="34" charset="-122"/>
                <a:cs typeface="Cambria" pitchFamily="34" charset="-120"/>
              </a:rPr>
              <a:t>Integration</a:t>
            </a:r>
            <a:endParaRPr lang="en-US" sz="4400" dirty="0"/>
          </a:p>
        </p:txBody>
      </p:sp>
      <p:sp>
        <p:nvSpPr>
          <p:cNvPr id="6" name="Text 4"/>
          <p:cNvSpPr/>
          <p:nvPr/>
        </p:nvSpPr>
        <p:spPr>
          <a:xfrm>
            <a:off x="731520" y="4297680"/>
            <a:ext cx="7498080" cy="731520"/>
          </a:xfrm>
          <a:prstGeom prst="rect">
            <a:avLst/>
          </a:prstGeom>
          <a:noFill/>
          <a:ln/>
        </p:spPr>
        <p:txBody>
          <a:bodyPr wrap="square" rtlCol="0" anchor="ctr"/>
          <a:lstStyle/>
          <a:p>
            <a:pPr indent="0" marL="0">
              <a:buNone/>
            </a:pPr>
            <a:r>
              <a:rPr lang="en-US" sz="1500" i="1" dirty="0">
                <a:solidFill>
                  <a:srgbClr val="CADCFC"/>
                </a:solidFill>
                <a:latin typeface="Calibri" pitchFamily="34" charset="0"/>
                <a:ea typeface="Calibri" pitchFamily="34" charset="-122"/>
                <a:cs typeface="Calibri" pitchFamily="34" charset="-120"/>
              </a:rPr>
              <a:t>Connecting AI-powered recommendations to the backend for real-time, actionable lead engagement guidance.</a:t>
            </a:r>
            <a:endParaRPr lang="en-US" sz="1500" dirty="0"/>
          </a:p>
        </p:txBody>
      </p:sp>
      <p:sp>
        <p:nvSpPr>
          <p:cNvPr id="7" name="Shape 5"/>
          <p:cNvSpPr/>
          <p:nvPr/>
        </p:nvSpPr>
        <p:spPr>
          <a:xfrm>
            <a:off x="731520" y="4160520"/>
            <a:ext cx="0" cy="0"/>
          </a:xfrm>
          <a:prstGeom prst="line">
            <a:avLst/>
          </a:prstGeom>
          <a:noFill/>
          <a:ln w="12700">
            <a:solidFill>
              <a:srgbClr val="028090"/>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AF9"/>
        </a:solidFill>
      </p:bgPr>
    </p:bg>
    <p:spTree>
      <p:nvGrpSpPr>
        <p:cNvPr id="1" name=""/>
        <p:cNvGrpSpPr/>
        <p:nvPr/>
      </p:nvGrpSpPr>
      <p:grpSpPr>
        <a:xfrm>
          <a:off x="0" y="0"/>
          <a:ext cx="0" cy="0"/>
          <a:chOff x="0" y="0"/>
          <a:chExt cx="0" cy="0"/>
        </a:xfrm>
      </p:grpSpPr>
      <p:sp>
        <p:nvSpPr>
          <p:cNvPr id="2" name="Text 0"/>
          <p:cNvSpPr/>
          <p:nvPr/>
        </p:nvSpPr>
        <p:spPr>
          <a:xfrm>
            <a:off x="640080" y="457200"/>
            <a:ext cx="7315200" cy="640080"/>
          </a:xfrm>
          <a:prstGeom prst="rect">
            <a:avLst/>
          </a:prstGeom>
          <a:noFill/>
          <a:ln/>
        </p:spPr>
        <p:txBody>
          <a:bodyPr wrap="square" rtlCol="0" anchor="ctr"/>
          <a:lstStyle/>
          <a:p>
            <a:pPr indent="0" marL="0">
              <a:buNone/>
            </a:pPr>
            <a:r>
              <a:rPr lang="en-US" sz="3200" b="1" dirty="0">
                <a:solidFill>
                  <a:srgbClr val="0B2B30"/>
                </a:solidFill>
                <a:latin typeface="Cambria" pitchFamily="34" charset="0"/>
                <a:ea typeface="Cambria" pitchFamily="34" charset="-122"/>
                <a:cs typeface="Cambria" pitchFamily="34" charset="-120"/>
              </a:rPr>
              <a:t>Objective</a:t>
            </a:r>
            <a:endParaRPr lang="en-US" sz="3200" dirty="0"/>
          </a:p>
        </p:txBody>
      </p:sp>
      <p:sp>
        <p:nvSpPr>
          <p:cNvPr id="3" name="Shape 1"/>
          <p:cNvSpPr/>
          <p:nvPr/>
        </p:nvSpPr>
        <p:spPr>
          <a:xfrm>
            <a:off x="822960" y="1737360"/>
            <a:ext cx="822960" cy="822960"/>
          </a:xfrm>
          <a:prstGeom prst="ellipse">
            <a:avLst/>
          </a:prstGeom>
          <a:solidFill>
            <a:srgbClr val="028090"/>
          </a:solidFill>
          <a:ln/>
        </p:spPr>
      </p:sp>
      <p:sp>
        <p:nvSpPr>
          <p:cNvPr id="4" name="Text 2"/>
          <p:cNvSpPr/>
          <p:nvPr/>
        </p:nvSpPr>
        <p:spPr>
          <a:xfrm>
            <a:off x="822960" y="1737360"/>
            <a:ext cx="822960" cy="822960"/>
          </a:xfrm>
          <a:prstGeom prst="rect">
            <a:avLst/>
          </a:prstGeom>
          <a:noFill/>
          <a:ln/>
        </p:spPr>
        <p:txBody>
          <a:bodyPr wrap="square" rtlCol="0" anchor="ctr"/>
          <a:lstStyle/>
          <a:p>
            <a:pPr algn="ctr" indent="0" marL="0">
              <a:buNone/>
            </a:pPr>
            <a:r>
              <a:rPr lang="en-US" sz="3000" dirty="0">
                <a:solidFill>
                  <a:srgbClr val="000000"/>
                </a:solidFill>
              </a:rPr>
              <a:t>🎯</a:t>
            </a:r>
            <a:endParaRPr lang="en-US" sz="3000" dirty="0"/>
          </a:p>
        </p:txBody>
      </p:sp>
      <p:sp>
        <p:nvSpPr>
          <p:cNvPr id="5" name="Text 3"/>
          <p:cNvSpPr/>
          <p:nvPr/>
        </p:nvSpPr>
        <p:spPr>
          <a:xfrm>
            <a:off x="1920240" y="1691640"/>
            <a:ext cx="9509760" cy="1005840"/>
          </a:xfrm>
          <a:prstGeom prst="rect">
            <a:avLst/>
          </a:prstGeom>
          <a:noFill/>
          <a:ln/>
        </p:spPr>
        <p:txBody>
          <a:bodyPr wrap="square" rtlCol="0" anchor="ctr"/>
          <a:lstStyle/>
          <a:p>
            <a:pPr indent="0" marL="0">
              <a:buNone/>
            </a:pPr>
            <a:r>
              <a:rPr lang="en-US" sz="1800" dirty="0">
                <a:solidFill>
                  <a:srgbClr val="0B2B30"/>
                </a:solidFill>
                <a:latin typeface="Calibri" pitchFamily="34" charset="0"/>
                <a:ea typeface="Calibri" pitchFamily="34" charset="-122"/>
                <a:cs typeface="Calibri" pitchFamily="34" charset="-120"/>
              </a:rPr>
              <a:t>Integrate the Recommendation Engine with the backend to provide AI-powered suggestions for improving lead engagement and conversion.</a:t>
            </a:r>
            <a:endParaRPr lang="en-US" sz="1800" dirty="0"/>
          </a:p>
        </p:txBody>
      </p:sp>
      <p:sp>
        <p:nvSpPr>
          <p:cNvPr id="6" name="Shape 4"/>
          <p:cNvSpPr/>
          <p:nvPr/>
        </p:nvSpPr>
        <p:spPr>
          <a:xfrm>
            <a:off x="640080" y="3108960"/>
            <a:ext cx="3520440" cy="2377440"/>
          </a:xfrm>
          <a:prstGeom prst="roundRect">
            <a:avLst>
              <a:gd name="adj" fmla="val 4615"/>
            </a:avLst>
          </a:prstGeom>
          <a:solidFill>
            <a:srgbClr val="FFFFFF"/>
          </a:solidFill>
          <a:ln/>
          <a:effectLst>
            <a:outerShdw sx="100000" sy="100000" kx="0" ky="0" algn="bl" rotWithShape="0" blurRad="101600" dist="38100" dir="5400000">
              <a:srgbClr val="1E2761">
                <a:alpha val="15000"/>
              </a:srgbClr>
            </a:outerShdw>
          </a:effectLst>
        </p:spPr>
      </p:sp>
      <p:sp>
        <p:nvSpPr>
          <p:cNvPr id="7" name="Shape 5"/>
          <p:cNvSpPr/>
          <p:nvPr/>
        </p:nvSpPr>
        <p:spPr>
          <a:xfrm>
            <a:off x="960120" y="3429000"/>
            <a:ext cx="548640" cy="548640"/>
          </a:xfrm>
          <a:prstGeom prst="roundRect">
            <a:avLst>
              <a:gd name="adj" fmla="val 50000"/>
            </a:avLst>
          </a:prstGeom>
          <a:solidFill>
            <a:srgbClr val="00A896"/>
          </a:solidFill>
          <a:ln/>
        </p:spPr>
      </p:sp>
      <p:sp>
        <p:nvSpPr>
          <p:cNvPr id="8" name="Text 6"/>
          <p:cNvSpPr/>
          <p:nvPr/>
        </p:nvSpPr>
        <p:spPr>
          <a:xfrm>
            <a:off x="960120" y="4160520"/>
            <a:ext cx="2880360" cy="457200"/>
          </a:xfrm>
          <a:prstGeom prst="rect">
            <a:avLst/>
          </a:prstGeom>
          <a:noFill/>
          <a:ln/>
        </p:spPr>
        <p:txBody>
          <a:bodyPr wrap="square" rtlCol="0" anchor="ctr"/>
          <a:lstStyle/>
          <a:p>
            <a:pPr indent="0" marL="0">
              <a:buNone/>
            </a:pPr>
            <a:r>
              <a:rPr lang="en-US" sz="1600" b="1" dirty="0">
                <a:solidFill>
                  <a:srgbClr val="0B2B30"/>
                </a:solidFill>
                <a:latin typeface="Cambria" pitchFamily="34" charset="0"/>
                <a:ea typeface="Cambria" pitchFamily="34" charset="-122"/>
                <a:cs typeface="Cambria" pitchFamily="34" charset="-120"/>
              </a:rPr>
              <a:t>Actionable Guidance</a:t>
            </a:r>
            <a:endParaRPr lang="en-US" sz="1600" dirty="0"/>
          </a:p>
        </p:txBody>
      </p:sp>
      <p:sp>
        <p:nvSpPr>
          <p:cNvPr id="9" name="Text 7"/>
          <p:cNvSpPr/>
          <p:nvPr/>
        </p:nvSpPr>
        <p:spPr>
          <a:xfrm>
            <a:off x="960120" y="4617720"/>
            <a:ext cx="2880360" cy="822960"/>
          </a:xfrm>
          <a:prstGeom prst="rect">
            <a:avLst/>
          </a:prstGeom>
          <a:noFill/>
          <a:ln/>
        </p:spPr>
        <p:txBody>
          <a:bodyPr wrap="square" rtlCol="0" anchor="ctr"/>
          <a:lstStyle/>
          <a:p>
            <a:pPr indent="0" marL="0">
              <a:buNone/>
            </a:pPr>
            <a:r>
              <a:rPr lang="en-US" sz="1250" dirty="0">
                <a:solidFill>
                  <a:srgbClr val="5C7A78"/>
                </a:solidFill>
                <a:latin typeface="Calibri" pitchFamily="34" charset="0"/>
                <a:ea typeface="Calibri" pitchFamily="34" charset="-122"/>
                <a:cs typeface="Calibri" pitchFamily="34" charset="-120"/>
              </a:rPr>
              <a:t>Reps receive clear next-step suggestions after every lead analysis.</a:t>
            </a:r>
            <a:endParaRPr lang="en-US" sz="1250" dirty="0"/>
          </a:p>
        </p:txBody>
      </p:sp>
      <p:sp>
        <p:nvSpPr>
          <p:cNvPr id="10" name="Shape 8"/>
          <p:cNvSpPr/>
          <p:nvPr/>
        </p:nvSpPr>
        <p:spPr>
          <a:xfrm>
            <a:off x="4480560" y="3108960"/>
            <a:ext cx="3520440" cy="2377440"/>
          </a:xfrm>
          <a:prstGeom prst="roundRect">
            <a:avLst>
              <a:gd name="adj" fmla="val 4615"/>
            </a:avLst>
          </a:prstGeom>
          <a:solidFill>
            <a:srgbClr val="FFFFFF"/>
          </a:solidFill>
          <a:ln/>
          <a:effectLst>
            <a:outerShdw sx="100000" sy="100000" kx="0" ky="0" algn="bl" rotWithShape="0" blurRad="101600" dist="38100" dir="5400000">
              <a:srgbClr val="1E2761">
                <a:alpha val="15000"/>
              </a:srgbClr>
            </a:outerShdw>
          </a:effectLst>
        </p:spPr>
      </p:sp>
      <p:sp>
        <p:nvSpPr>
          <p:cNvPr id="11" name="Shape 9"/>
          <p:cNvSpPr/>
          <p:nvPr/>
        </p:nvSpPr>
        <p:spPr>
          <a:xfrm>
            <a:off x="4800600" y="3429000"/>
            <a:ext cx="548640" cy="548640"/>
          </a:xfrm>
          <a:prstGeom prst="roundRect">
            <a:avLst>
              <a:gd name="adj" fmla="val 50000"/>
            </a:avLst>
          </a:prstGeom>
          <a:solidFill>
            <a:srgbClr val="00A896"/>
          </a:solidFill>
          <a:ln/>
        </p:spPr>
      </p:sp>
      <p:sp>
        <p:nvSpPr>
          <p:cNvPr id="12" name="Text 10"/>
          <p:cNvSpPr/>
          <p:nvPr/>
        </p:nvSpPr>
        <p:spPr>
          <a:xfrm>
            <a:off x="4800600" y="4160520"/>
            <a:ext cx="2880360" cy="457200"/>
          </a:xfrm>
          <a:prstGeom prst="rect">
            <a:avLst/>
          </a:prstGeom>
          <a:noFill/>
          <a:ln/>
        </p:spPr>
        <p:txBody>
          <a:bodyPr wrap="square" rtlCol="0" anchor="ctr"/>
          <a:lstStyle/>
          <a:p>
            <a:pPr indent="0" marL="0">
              <a:buNone/>
            </a:pPr>
            <a:r>
              <a:rPr lang="en-US" sz="1600" b="1" dirty="0">
                <a:solidFill>
                  <a:srgbClr val="0B2B30"/>
                </a:solidFill>
                <a:latin typeface="Cambria" pitchFamily="34" charset="0"/>
                <a:ea typeface="Cambria" pitchFamily="34" charset="-122"/>
                <a:cs typeface="Cambria" pitchFamily="34" charset="-120"/>
              </a:rPr>
              <a:t>Real-Time Delivery</a:t>
            </a:r>
            <a:endParaRPr lang="en-US" sz="1600" dirty="0"/>
          </a:p>
        </p:txBody>
      </p:sp>
      <p:sp>
        <p:nvSpPr>
          <p:cNvPr id="13" name="Text 11"/>
          <p:cNvSpPr/>
          <p:nvPr/>
        </p:nvSpPr>
        <p:spPr>
          <a:xfrm>
            <a:off x="4800600" y="4617720"/>
            <a:ext cx="2880360" cy="822960"/>
          </a:xfrm>
          <a:prstGeom prst="rect">
            <a:avLst/>
          </a:prstGeom>
          <a:noFill/>
          <a:ln/>
        </p:spPr>
        <p:txBody>
          <a:bodyPr wrap="square" rtlCol="0" anchor="ctr"/>
          <a:lstStyle/>
          <a:p>
            <a:pPr indent="0" marL="0">
              <a:buNone/>
            </a:pPr>
            <a:r>
              <a:rPr lang="en-US" sz="1250" dirty="0">
                <a:solidFill>
                  <a:srgbClr val="5C7A78"/>
                </a:solidFill>
                <a:latin typeface="Calibri" pitchFamily="34" charset="0"/>
                <a:ea typeface="Calibri" pitchFamily="34" charset="-122"/>
                <a:cs typeface="Calibri" pitchFamily="34" charset="-120"/>
              </a:rPr>
              <a:t>Backend integration surfaces recommendations instantly in the app.</a:t>
            </a:r>
            <a:endParaRPr lang="en-US" sz="1250" dirty="0"/>
          </a:p>
        </p:txBody>
      </p:sp>
      <p:sp>
        <p:nvSpPr>
          <p:cNvPr id="14" name="Shape 12"/>
          <p:cNvSpPr/>
          <p:nvPr/>
        </p:nvSpPr>
        <p:spPr>
          <a:xfrm>
            <a:off x="8321040" y="3108960"/>
            <a:ext cx="3520440" cy="2377440"/>
          </a:xfrm>
          <a:prstGeom prst="roundRect">
            <a:avLst>
              <a:gd name="adj" fmla="val 4615"/>
            </a:avLst>
          </a:prstGeom>
          <a:solidFill>
            <a:srgbClr val="FFFFFF"/>
          </a:solidFill>
          <a:ln/>
          <a:effectLst>
            <a:outerShdw sx="100000" sy="100000" kx="0" ky="0" algn="bl" rotWithShape="0" blurRad="101600" dist="38100" dir="5400000">
              <a:srgbClr val="1E2761">
                <a:alpha val="15000"/>
              </a:srgbClr>
            </a:outerShdw>
          </a:effectLst>
        </p:spPr>
      </p:sp>
      <p:sp>
        <p:nvSpPr>
          <p:cNvPr id="15" name="Shape 13"/>
          <p:cNvSpPr/>
          <p:nvPr/>
        </p:nvSpPr>
        <p:spPr>
          <a:xfrm>
            <a:off x="8641080" y="3429000"/>
            <a:ext cx="548640" cy="548640"/>
          </a:xfrm>
          <a:prstGeom prst="roundRect">
            <a:avLst>
              <a:gd name="adj" fmla="val 50000"/>
            </a:avLst>
          </a:prstGeom>
          <a:solidFill>
            <a:srgbClr val="00A896"/>
          </a:solidFill>
          <a:ln/>
        </p:spPr>
      </p:sp>
      <p:sp>
        <p:nvSpPr>
          <p:cNvPr id="16" name="Text 14"/>
          <p:cNvSpPr/>
          <p:nvPr/>
        </p:nvSpPr>
        <p:spPr>
          <a:xfrm>
            <a:off x="8641080" y="4160520"/>
            <a:ext cx="2880360" cy="457200"/>
          </a:xfrm>
          <a:prstGeom prst="rect">
            <a:avLst/>
          </a:prstGeom>
          <a:noFill/>
          <a:ln/>
        </p:spPr>
        <p:txBody>
          <a:bodyPr wrap="square" rtlCol="0" anchor="ctr"/>
          <a:lstStyle/>
          <a:p>
            <a:pPr indent="0" marL="0">
              <a:buNone/>
            </a:pPr>
            <a:r>
              <a:rPr lang="en-US" sz="1600" b="1" dirty="0">
                <a:solidFill>
                  <a:srgbClr val="0B2B30"/>
                </a:solidFill>
                <a:latin typeface="Cambria" pitchFamily="34" charset="0"/>
                <a:ea typeface="Cambria" pitchFamily="34" charset="-122"/>
                <a:cs typeface="Cambria" pitchFamily="34" charset="-120"/>
              </a:rPr>
              <a:t>Smarter Engagement</a:t>
            </a:r>
            <a:endParaRPr lang="en-US" sz="1600" dirty="0"/>
          </a:p>
        </p:txBody>
      </p:sp>
      <p:sp>
        <p:nvSpPr>
          <p:cNvPr id="17" name="Text 15"/>
          <p:cNvSpPr/>
          <p:nvPr/>
        </p:nvSpPr>
        <p:spPr>
          <a:xfrm>
            <a:off x="8641080" y="4617720"/>
            <a:ext cx="2880360" cy="822960"/>
          </a:xfrm>
          <a:prstGeom prst="rect">
            <a:avLst/>
          </a:prstGeom>
          <a:noFill/>
          <a:ln/>
        </p:spPr>
        <p:txBody>
          <a:bodyPr wrap="square" rtlCol="0" anchor="ctr"/>
          <a:lstStyle/>
          <a:p>
            <a:pPr indent="0" marL="0">
              <a:buNone/>
            </a:pPr>
            <a:r>
              <a:rPr lang="en-US" sz="1250" dirty="0">
                <a:solidFill>
                  <a:srgbClr val="5C7A78"/>
                </a:solidFill>
                <a:latin typeface="Calibri" pitchFamily="34" charset="0"/>
                <a:ea typeface="Calibri" pitchFamily="34" charset="-122"/>
                <a:cs typeface="Calibri" pitchFamily="34" charset="-120"/>
              </a:rPr>
              <a:t>AI insight strengthens follow-up strategy and customer conversion.</a:t>
            </a:r>
            <a:endParaRPr lang="en-US" sz="1250" dirty="0"/>
          </a:p>
        </p:txBody>
      </p:sp>
      <p:sp>
        <p:nvSpPr>
          <p:cNvPr id="18" name="Text 16"/>
          <p:cNvSpPr/>
          <p:nvPr/>
        </p:nvSpPr>
        <p:spPr>
          <a:xfrm>
            <a:off x="457200" y="6510528"/>
            <a:ext cx="7315200" cy="274320"/>
          </a:xfrm>
          <a:prstGeom prst="rect">
            <a:avLst/>
          </a:prstGeom>
          <a:noFill/>
          <a:ln/>
        </p:spPr>
        <p:txBody>
          <a:bodyPr wrap="square" rtlCol="0" anchor="ctr"/>
          <a:lstStyle/>
          <a:p>
            <a:pPr algn="l" indent="0" marL="0">
              <a:buNone/>
            </a:pPr>
            <a:r>
              <a:rPr lang="en-US" sz="1000" dirty="0">
                <a:solidFill>
                  <a:srgbClr val="5C7A78"/>
                </a:solidFill>
                <a:latin typeface="Calibri" pitchFamily="34" charset="0"/>
                <a:ea typeface="Calibri" pitchFamily="34" charset="-122"/>
                <a:cs typeface="Calibri" pitchFamily="34" charset="-120"/>
              </a:rPr>
              <a:t>Day 18  •  Recommendation Engine Integration</a:t>
            </a:r>
            <a:endParaRPr lang="en-US" sz="1000" dirty="0"/>
          </a:p>
        </p:txBody>
      </p:sp>
      <p:sp>
        <p:nvSpPr>
          <p:cNvPr id="19" name="Text 17"/>
          <p:cNvSpPr/>
          <p:nvPr/>
        </p:nvSpPr>
        <p:spPr>
          <a:xfrm>
            <a:off x="11430000" y="6510528"/>
            <a:ext cx="457200" cy="274320"/>
          </a:xfrm>
          <a:prstGeom prst="rect">
            <a:avLst/>
          </a:prstGeom>
          <a:noFill/>
          <a:ln/>
        </p:spPr>
        <p:txBody>
          <a:bodyPr wrap="square" rtlCol="0" anchor="ctr"/>
          <a:lstStyle/>
          <a:p>
            <a:pPr algn="r" indent="0" marL="0">
              <a:buNone/>
            </a:pPr>
            <a:r>
              <a:rPr lang="en-US" sz="1000" dirty="0">
                <a:solidFill>
                  <a:srgbClr val="5C7A78"/>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7315200" cy="640080"/>
          </a:xfrm>
          <a:prstGeom prst="rect">
            <a:avLst/>
          </a:prstGeom>
          <a:noFill/>
          <a:ln/>
        </p:spPr>
        <p:txBody>
          <a:bodyPr wrap="square" rtlCol="0" anchor="ctr"/>
          <a:lstStyle/>
          <a:p>
            <a:pPr indent="0" marL="0">
              <a:buNone/>
            </a:pPr>
            <a:r>
              <a:rPr lang="en-US" sz="3200" b="1" dirty="0">
                <a:solidFill>
                  <a:srgbClr val="0B2B30"/>
                </a:solidFill>
                <a:latin typeface="Cambria" pitchFamily="34" charset="0"/>
                <a:ea typeface="Cambria" pitchFamily="34" charset="-122"/>
                <a:cs typeface="Cambria" pitchFamily="34" charset="-120"/>
              </a:rPr>
              <a:t>My Work</a:t>
            </a:r>
            <a:endParaRPr lang="en-US" sz="3200" dirty="0"/>
          </a:p>
        </p:txBody>
      </p:sp>
      <p:sp>
        <p:nvSpPr>
          <p:cNvPr id="3" name="Text 1"/>
          <p:cNvSpPr/>
          <p:nvPr/>
        </p:nvSpPr>
        <p:spPr>
          <a:xfrm>
            <a:off x="640080" y="1051560"/>
            <a:ext cx="8229600" cy="365760"/>
          </a:xfrm>
          <a:prstGeom prst="rect">
            <a:avLst/>
          </a:prstGeom>
          <a:noFill/>
          <a:ln/>
        </p:spPr>
        <p:txBody>
          <a:bodyPr wrap="square" rtlCol="0" anchor="ctr"/>
          <a:lstStyle/>
          <a:p>
            <a:pPr indent="0" marL="0">
              <a:buNone/>
            </a:pPr>
            <a:r>
              <a:rPr lang="en-US" sz="1300" i="1" dirty="0">
                <a:solidFill>
                  <a:srgbClr val="5C7A78"/>
                </a:solidFill>
                <a:latin typeface="Calibri" pitchFamily="34" charset="0"/>
                <a:ea typeface="Calibri" pitchFamily="34" charset="-122"/>
                <a:cs typeface="Calibri" pitchFamily="34" charset="-120"/>
              </a:rPr>
              <a:t>What I delivered on the backend integration</a:t>
            </a:r>
            <a:endParaRPr lang="en-US" sz="1300" dirty="0"/>
          </a:p>
        </p:txBody>
      </p:sp>
      <p:sp>
        <p:nvSpPr>
          <p:cNvPr id="4" name="Shape 2"/>
          <p:cNvSpPr/>
          <p:nvPr/>
        </p:nvSpPr>
        <p:spPr>
          <a:xfrm>
            <a:off x="640080" y="1691640"/>
            <a:ext cx="502920" cy="502920"/>
          </a:xfrm>
          <a:prstGeom prst="roundRect">
            <a:avLst>
              <a:gd name="adj" fmla="val 49091"/>
            </a:avLst>
          </a:prstGeom>
          <a:solidFill>
            <a:srgbClr val="028090"/>
          </a:solidFill>
          <a:ln/>
        </p:spPr>
      </p:sp>
      <p:sp>
        <p:nvSpPr>
          <p:cNvPr id="5" name="Text 3"/>
          <p:cNvSpPr/>
          <p:nvPr/>
        </p:nvSpPr>
        <p:spPr>
          <a:xfrm>
            <a:off x="640080" y="1691640"/>
            <a:ext cx="502920" cy="50292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6" name="Text 4"/>
          <p:cNvSpPr/>
          <p:nvPr/>
        </p:nvSpPr>
        <p:spPr>
          <a:xfrm>
            <a:off x="1417320" y="1664208"/>
            <a:ext cx="10149840" cy="548640"/>
          </a:xfrm>
          <a:prstGeom prst="rect">
            <a:avLst/>
          </a:prstGeom>
          <a:noFill/>
          <a:ln/>
        </p:spPr>
        <p:txBody>
          <a:bodyPr wrap="square" rtlCol="0" anchor="ctr"/>
          <a:lstStyle/>
          <a:p>
            <a:pPr algn="l" indent="0" marL="0">
              <a:buNone/>
            </a:pPr>
            <a:r>
              <a:rPr lang="en-US" sz="1500" dirty="0">
                <a:solidFill>
                  <a:srgbClr val="0B2B30"/>
                </a:solidFill>
                <a:latin typeface="Calibri" pitchFamily="34" charset="0"/>
                <a:ea typeface="Calibri" pitchFamily="34" charset="-122"/>
                <a:cs typeface="Calibri" pitchFamily="34" charset="-120"/>
              </a:rPr>
              <a:t>Integrated the Recommendation API with the backend.</a:t>
            </a:r>
            <a:endParaRPr lang="en-US" sz="1500" dirty="0"/>
          </a:p>
        </p:txBody>
      </p:sp>
      <p:sp>
        <p:nvSpPr>
          <p:cNvPr id="7" name="Shape 5"/>
          <p:cNvSpPr/>
          <p:nvPr/>
        </p:nvSpPr>
        <p:spPr>
          <a:xfrm>
            <a:off x="640080" y="2423160"/>
            <a:ext cx="10927080" cy="0"/>
          </a:xfrm>
          <a:prstGeom prst="line">
            <a:avLst/>
          </a:prstGeom>
          <a:noFill/>
          <a:ln w="12700">
            <a:solidFill>
              <a:srgbClr val="E3EDEC"/>
            </a:solidFill>
            <a:prstDash val="solid"/>
          </a:ln>
        </p:spPr>
      </p:sp>
      <p:sp>
        <p:nvSpPr>
          <p:cNvPr id="8" name="Shape 6"/>
          <p:cNvSpPr/>
          <p:nvPr/>
        </p:nvSpPr>
        <p:spPr>
          <a:xfrm>
            <a:off x="640080" y="2587752"/>
            <a:ext cx="502920" cy="502920"/>
          </a:xfrm>
          <a:prstGeom prst="roundRect">
            <a:avLst>
              <a:gd name="adj" fmla="val 49091"/>
            </a:avLst>
          </a:prstGeom>
          <a:solidFill>
            <a:srgbClr val="00A896"/>
          </a:solidFill>
          <a:ln/>
        </p:spPr>
      </p:sp>
      <p:sp>
        <p:nvSpPr>
          <p:cNvPr id="9" name="Text 7"/>
          <p:cNvSpPr/>
          <p:nvPr/>
        </p:nvSpPr>
        <p:spPr>
          <a:xfrm>
            <a:off x="640080" y="2587752"/>
            <a:ext cx="502920" cy="50292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0" name="Text 8"/>
          <p:cNvSpPr/>
          <p:nvPr/>
        </p:nvSpPr>
        <p:spPr>
          <a:xfrm>
            <a:off x="1417320" y="2560320"/>
            <a:ext cx="10149840" cy="548640"/>
          </a:xfrm>
          <a:prstGeom prst="rect">
            <a:avLst/>
          </a:prstGeom>
          <a:noFill/>
          <a:ln/>
        </p:spPr>
        <p:txBody>
          <a:bodyPr wrap="square" rtlCol="0" anchor="ctr"/>
          <a:lstStyle/>
          <a:p>
            <a:pPr algn="l" indent="0" marL="0">
              <a:buNone/>
            </a:pPr>
            <a:r>
              <a:rPr lang="en-US" sz="1500" dirty="0">
                <a:solidFill>
                  <a:srgbClr val="0B2B30"/>
                </a:solidFill>
                <a:latin typeface="Calibri" pitchFamily="34" charset="0"/>
                <a:ea typeface="Calibri" pitchFamily="34" charset="-122"/>
                <a:cs typeface="Calibri" pitchFamily="34" charset="-120"/>
              </a:rPr>
              <a:t>Connected the recommendation service with the application workflow.</a:t>
            </a:r>
            <a:endParaRPr lang="en-US" sz="1500" dirty="0"/>
          </a:p>
        </p:txBody>
      </p:sp>
      <p:sp>
        <p:nvSpPr>
          <p:cNvPr id="11" name="Shape 9"/>
          <p:cNvSpPr/>
          <p:nvPr/>
        </p:nvSpPr>
        <p:spPr>
          <a:xfrm>
            <a:off x="640080" y="3319272"/>
            <a:ext cx="10927080" cy="0"/>
          </a:xfrm>
          <a:prstGeom prst="line">
            <a:avLst/>
          </a:prstGeom>
          <a:noFill/>
          <a:ln w="12700">
            <a:solidFill>
              <a:srgbClr val="E3EDEC"/>
            </a:solidFill>
            <a:prstDash val="solid"/>
          </a:ln>
        </p:spPr>
      </p:sp>
      <p:sp>
        <p:nvSpPr>
          <p:cNvPr id="12" name="Shape 10"/>
          <p:cNvSpPr/>
          <p:nvPr/>
        </p:nvSpPr>
        <p:spPr>
          <a:xfrm>
            <a:off x="640080" y="3483864"/>
            <a:ext cx="502920" cy="502920"/>
          </a:xfrm>
          <a:prstGeom prst="roundRect">
            <a:avLst>
              <a:gd name="adj" fmla="val 49091"/>
            </a:avLst>
          </a:prstGeom>
          <a:solidFill>
            <a:srgbClr val="028090"/>
          </a:solidFill>
          <a:ln/>
        </p:spPr>
      </p:sp>
      <p:sp>
        <p:nvSpPr>
          <p:cNvPr id="13" name="Text 11"/>
          <p:cNvSpPr/>
          <p:nvPr/>
        </p:nvSpPr>
        <p:spPr>
          <a:xfrm>
            <a:off x="640080" y="3483864"/>
            <a:ext cx="502920" cy="50292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4" name="Text 12"/>
          <p:cNvSpPr/>
          <p:nvPr/>
        </p:nvSpPr>
        <p:spPr>
          <a:xfrm>
            <a:off x="1417320" y="3456432"/>
            <a:ext cx="10149840" cy="548640"/>
          </a:xfrm>
          <a:prstGeom prst="rect">
            <a:avLst/>
          </a:prstGeom>
          <a:noFill/>
          <a:ln/>
        </p:spPr>
        <p:txBody>
          <a:bodyPr wrap="square" rtlCol="0" anchor="ctr"/>
          <a:lstStyle/>
          <a:p>
            <a:pPr algn="l" indent="0" marL="0">
              <a:buNone/>
            </a:pPr>
            <a:r>
              <a:rPr lang="en-US" sz="1500" dirty="0">
                <a:solidFill>
                  <a:srgbClr val="0B2B30"/>
                </a:solidFill>
                <a:latin typeface="Calibri" pitchFamily="34" charset="0"/>
                <a:ea typeface="Calibri" pitchFamily="34" charset="-122"/>
                <a:cs typeface="Calibri" pitchFamily="34" charset="-120"/>
              </a:rPr>
              <a:t>Enabled the API to return personalized recommendations based on lead analysis.</a:t>
            </a:r>
            <a:endParaRPr lang="en-US" sz="1500" dirty="0"/>
          </a:p>
        </p:txBody>
      </p:sp>
      <p:sp>
        <p:nvSpPr>
          <p:cNvPr id="15" name="Shape 13"/>
          <p:cNvSpPr/>
          <p:nvPr/>
        </p:nvSpPr>
        <p:spPr>
          <a:xfrm>
            <a:off x="640080" y="4215384"/>
            <a:ext cx="10927080" cy="0"/>
          </a:xfrm>
          <a:prstGeom prst="line">
            <a:avLst/>
          </a:prstGeom>
          <a:noFill/>
          <a:ln w="12700">
            <a:solidFill>
              <a:srgbClr val="E3EDEC"/>
            </a:solidFill>
            <a:prstDash val="solid"/>
          </a:ln>
        </p:spPr>
      </p:sp>
      <p:sp>
        <p:nvSpPr>
          <p:cNvPr id="16" name="Shape 14"/>
          <p:cNvSpPr/>
          <p:nvPr/>
        </p:nvSpPr>
        <p:spPr>
          <a:xfrm>
            <a:off x="640080" y="4379976"/>
            <a:ext cx="502920" cy="502920"/>
          </a:xfrm>
          <a:prstGeom prst="roundRect">
            <a:avLst>
              <a:gd name="adj" fmla="val 49091"/>
            </a:avLst>
          </a:prstGeom>
          <a:solidFill>
            <a:srgbClr val="00A896"/>
          </a:solidFill>
          <a:ln/>
        </p:spPr>
      </p:sp>
      <p:sp>
        <p:nvSpPr>
          <p:cNvPr id="17" name="Text 15"/>
          <p:cNvSpPr/>
          <p:nvPr/>
        </p:nvSpPr>
        <p:spPr>
          <a:xfrm>
            <a:off x="640080" y="4379976"/>
            <a:ext cx="502920" cy="50292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18" name="Text 16"/>
          <p:cNvSpPr/>
          <p:nvPr/>
        </p:nvSpPr>
        <p:spPr>
          <a:xfrm>
            <a:off x="1417320" y="4352544"/>
            <a:ext cx="10149840" cy="548640"/>
          </a:xfrm>
          <a:prstGeom prst="rect">
            <a:avLst/>
          </a:prstGeom>
          <a:noFill/>
          <a:ln/>
        </p:spPr>
        <p:txBody>
          <a:bodyPr wrap="square" rtlCol="0" anchor="ctr"/>
          <a:lstStyle/>
          <a:p>
            <a:pPr algn="l" indent="0" marL="0">
              <a:buNone/>
            </a:pPr>
            <a:r>
              <a:rPr lang="en-US" sz="1500" dirty="0">
                <a:solidFill>
                  <a:srgbClr val="0B2B30"/>
                </a:solidFill>
                <a:latin typeface="Calibri" pitchFamily="34" charset="0"/>
                <a:ea typeface="Calibri" pitchFamily="34" charset="-122"/>
                <a:cs typeface="Calibri" pitchFamily="34" charset="-120"/>
              </a:rPr>
              <a:t>Implemented request validation and response handling.</a:t>
            </a:r>
            <a:endParaRPr lang="en-US" sz="1500" dirty="0"/>
          </a:p>
        </p:txBody>
      </p:sp>
      <p:sp>
        <p:nvSpPr>
          <p:cNvPr id="19" name="Shape 17"/>
          <p:cNvSpPr/>
          <p:nvPr/>
        </p:nvSpPr>
        <p:spPr>
          <a:xfrm>
            <a:off x="640080" y="5111496"/>
            <a:ext cx="10927080" cy="0"/>
          </a:xfrm>
          <a:prstGeom prst="line">
            <a:avLst/>
          </a:prstGeom>
          <a:noFill/>
          <a:ln w="12700">
            <a:solidFill>
              <a:srgbClr val="E3EDEC"/>
            </a:solidFill>
            <a:prstDash val="solid"/>
          </a:ln>
        </p:spPr>
      </p:sp>
      <p:sp>
        <p:nvSpPr>
          <p:cNvPr id="20" name="Shape 18"/>
          <p:cNvSpPr/>
          <p:nvPr/>
        </p:nvSpPr>
        <p:spPr>
          <a:xfrm>
            <a:off x="640080" y="5276088"/>
            <a:ext cx="502920" cy="502920"/>
          </a:xfrm>
          <a:prstGeom prst="roundRect">
            <a:avLst>
              <a:gd name="adj" fmla="val 49091"/>
            </a:avLst>
          </a:prstGeom>
          <a:solidFill>
            <a:srgbClr val="028090"/>
          </a:solidFill>
          <a:ln/>
        </p:spPr>
      </p:sp>
      <p:sp>
        <p:nvSpPr>
          <p:cNvPr id="21" name="Text 19"/>
          <p:cNvSpPr/>
          <p:nvPr/>
        </p:nvSpPr>
        <p:spPr>
          <a:xfrm>
            <a:off x="640080" y="5276088"/>
            <a:ext cx="502920" cy="50292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22" name="Text 20"/>
          <p:cNvSpPr/>
          <p:nvPr/>
        </p:nvSpPr>
        <p:spPr>
          <a:xfrm>
            <a:off x="1417320" y="5248656"/>
            <a:ext cx="10149840" cy="548640"/>
          </a:xfrm>
          <a:prstGeom prst="rect">
            <a:avLst/>
          </a:prstGeom>
          <a:noFill/>
          <a:ln/>
        </p:spPr>
        <p:txBody>
          <a:bodyPr wrap="square" rtlCol="0" anchor="ctr"/>
          <a:lstStyle/>
          <a:p>
            <a:pPr algn="l" indent="0" marL="0">
              <a:buNone/>
            </a:pPr>
            <a:r>
              <a:rPr lang="en-US" sz="1500" dirty="0">
                <a:solidFill>
                  <a:srgbClr val="0B2B30"/>
                </a:solidFill>
                <a:latin typeface="Calibri" pitchFamily="34" charset="0"/>
                <a:ea typeface="Calibri" pitchFamily="34" charset="-122"/>
                <a:cs typeface="Calibri" pitchFamily="34" charset="-120"/>
              </a:rPr>
              <a:t>Verified smooth communication between the backend and frontend.</a:t>
            </a:r>
            <a:endParaRPr lang="en-US" sz="1500" dirty="0"/>
          </a:p>
        </p:txBody>
      </p:sp>
      <p:sp>
        <p:nvSpPr>
          <p:cNvPr id="23" name="Text 21"/>
          <p:cNvSpPr/>
          <p:nvPr/>
        </p:nvSpPr>
        <p:spPr>
          <a:xfrm>
            <a:off x="457200" y="6510528"/>
            <a:ext cx="7315200" cy="274320"/>
          </a:xfrm>
          <a:prstGeom prst="rect">
            <a:avLst/>
          </a:prstGeom>
          <a:noFill/>
          <a:ln/>
        </p:spPr>
        <p:txBody>
          <a:bodyPr wrap="square" rtlCol="0" anchor="ctr"/>
          <a:lstStyle/>
          <a:p>
            <a:pPr algn="l" indent="0" marL="0">
              <a:buNone/>
            </a:pPr>
            <a:r>
              <a:rPr lang="en-US" sz="1000" dirty="0">
                <a:solidFill>
                  <a:srgbClr val="5C7A78"/>
                </a:solidFill>
                <a:latin typeface="Calibri" pitchFamily="34" charset="0"/>
                <a:ea typeface="Calibri" pitchFamily="34" charset="-122"/>
                <a:cs typeface="Calibri" pitchFamily="34" charset="-120"/>
              </a:rPr>
              <a:t>Day 18  •  Recommendation Engine Integration</a:t>
            </a:r>
            <a:endParaRPr lang="en-US" sz="1000" dirty="0"/>
          </a:p>
        </p:txBody>
      </p:sp>
      <p:sp>
        <p:nvSpPr>
          <p:cNvPr id="24" name="Text 22"/>
          <p:cNvSpPr/>
          <p:nvPr/>
        </p:nvSpPr>
        <p:spPr>
          <a:xfrm>
            <a:off x="11430000" y="6510528"/>
            <a:ext cx="457200" cy="274320"/>
          </a:xfrm>
          <a:prstGeom prst="rect">
            <a:avLst/>
          </a:prstGeom>
          <a:noFill/>
          <a:ln/>
        </p:spPr>
        <p:txBody>
          <a:bodyPr wrap="square" rtlCol="0" anchor="ctr"/>
          <a:lstStyle/>
          <a:p>
            <a:pPr algn="r" indent="0" marL="0">
              <a:buNone/>
            </a:pPr>
            <a:r>
              <a:rPr lang="en-US" sz="1000" dirty="0">
                <a:solidFill>
                  <a:srgbClr val="5C7A78"/>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2B30"/>
        </a:solidFill>
      </p:bgPr>
    </p:bg>
    <p:spTree>
      <p:nvGrpSpPr>
        <p:cNvPr id="1" name=""/>
        <p:cNvGrpSpPr/>
        <p:nvPr/>
      </p:nvGrpSpPr>
      <p:grpSpPr>
        <a:xfrm>
          <a:off x="0" y="0"/>
          <a:ext cx="0" cy="0"/>
          <a:chOff x="0" y="0"/>
          <a:chExt cx="0" cy="0"/>
        </a:xfrm>
      </p:grpSpPr>
      <p:sp>
        <p:nvSpPr>
          <p:cNvPr id="2" name="Text 0"/>
          <p:cNvSpPr/>
          <p:nvPr/>
        </p:nvSpPr>
        <p:spPr>
          <a:xfrm>
            <a:off x="640080" y="502920"/>
            <a:ext cx="7315200" cy="64008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Why It Was Needed</a:t>
            </a:r>
            <a:endParaRPr lang="en-US" sz="3200" dirty="0"/>
          </a:p>
        </p:txBody>
      </p:sp>
      <p:sp>
        <p:nvSpPr>
          <p:cNvPr id="3" name="Shape 1"/>
          <p:cNvSpPr/>
          <p:nvPr/>
        </p:nvSpPr>
        <p:spPr>
          <a:xfrm>
            <a:off x="640080" y="1874520"/>
            <a:ext cx="3520440" cy="3566160"/>
          </a:xfrm>
          <a:prstGeom prst="roundRect">
            <a:avLst>
              <a:gd name="adj" fmla="val 3117"/>
            </a:avLst>
          </a:prstGeom>
          <a:solidFill>
            <a:srgbClr val="10393E"/>
          </a:solidFill>
          <a:ln/>
        </p:spPr>
      </p:sp>
      <p:sp>
        <p:nvSpPr>
          <p:cNvPr id="4" name="Shape 2"/>
          <p:cNvSpPr/>
          <p:nvPr/>
        </p:nvSpPr>
        <p:spPr>
          <a:xfrm>
            <a:off x="960120" y="2194560"/>
            <a:ext cx="640080" cy="640080"/>
          </a:xfrm>
          <a:prstGeom prst="ellipse">
            <a:avLst/>
          </a:prstGeom>
          <a:solidFill>
            <a:srgbClr val="02C39A"/>
          </a:solidFill>
          <a:ln/>
        </p:spPr>
      </p:sp>
      <p:sp>
        <p:nvSpPr>
          <p:cNvPr id="5" name="Text 3"/>
          <p:cNvSpPr/>
          <p:nvPr/>
        </p:nvSpPr>
        <p:spPr>
          <a:xfrm>
            <a:off x="960120" y="2194560"/>
            <a:ext cx="640080" cy="640080"/>
          </a:xfrm>
          <a:prstGeom prst="rect">
            <a:avLst/>
          </a:prstGeom>
          <a:noFill/>
          <a:ln/>
        </p:spPr>
        <p:txBody>
          <a:bodyPr wrap="square" rtlCol="0" anchor="ctr"/>
          <a:lstStyle/>
          <a:p>
            <a:pPr algn="ctr" indent="0" marL="0">
              <a:buNone/>
            </a:pPr>
            <a:r>
              <a:rPr lang="en-US" sz="2600" dirty="0">
                <a:solidFill>
                  <a:srgbClr val="000000"/>
                </a:solidFill>
              </a:rPr>
              <a:t>👤</a:t>
            </a:r>
            <a:endParaRPr lang="en-US" sz="2600" dirty="0"/>
          </a:p>
        </p:txBody>
      </p:sp>
      <p:sp>
        <p:nvSpPr>
          <p:cNvPr id="6" name="Text 4"/>
          <p:cNvSpPr/>
          <p:nvPr/>
        </p:nvSpPr>
        <p:spPr>
          <a:xfrm>
            <a:off x="960120" y="3017520"/>
            <a:ext cx="2880360" cy="685800"/>
          </a:xfrm>
          <a:prstGeom prst="rect">
            <a:avLst/>
          </a:prstGeom>
          <a:noFill/>
          <a:ln/>
        </p:spPr>
        <p:txBody>
          <a:bodyPr wrap="square" rtlCol="0" anchor="ctr"/>
          <a:lstStyle/>
          <a:p>
            <a:pPr indent="0" marL="0">
              <a:buNone/>
            </a:pPr>
            <a:r>
              <a:rPr lang="en-US" sz="1650" b="1" dirty="0">
                <a:solidFill>
                  <a:srgbClr val="FFFFFF"/>
                </a:solidFill>
                <a:latin typeface="Cambria" pitchFamily="34" charset="0"/>
                <a:ea typeface="Cambria" pitchFamily="34" charset="-122"/>
                <a:cs typeface="Cambria" pitchFamily="34" charset="-120"/>
              </a:rPr>
              <a:t>Actionable Guidance for Reps</a:t>
            </a:r>
            <a:endParaRPr lang="en-US" sz="1650" dirty="0"/>
          </a:p>
        </p:txBody>
      </p:sp>
      <p:sp>
        <p:nvSpPr>
          <p:cNvPr id="7" name="Text 5"/>
          <p:cNvSpPr/>
          <p:nvPr/>
        </p:nvSpPr>
        <p:spPr>
          <a:xfrm>
            <a:off x="960120" y="3703320"/>
            <a:ext cx="2880360" cy="1554480"/>
          </a:xfrm>
          <a:prstGeom prst="rect">
            <a:avLst/>
          </a:prstGeom>
          <a:noFill/>
          <a:ln/>
        </p:spPr>
        <p:txBody>
          <a:bodyPr wrap="square" rtlCol="0" anchor="ctr"/>
          <a:lstStyle/>
          <a:p>
            <a:pPr indent="0" marL="0">
              <a:buNone/>
            </a:pPr>
            <a:r>
              <a:rPr lang="en-US" sz="1300" dirty="0">
                <a:solidFill>
                  <a:srgbClr val="CADCFC"/>
                </a:solidFill>
                <a:latin typeface="Calibri" pitchFamily="34" charset="0"/>
                <a:ea typeface="Calibri" pitchFamily="34" charset="-122"/>
                <a:cs typeface="Calibri" pitchFamily="34" charset="-120"/>
              </a:rPr>
              <a:t>Sales representatives need actionable recommendations right after lead analysis completes.</a:t>
            </a:r>
            <a:endParaRPr lang="en-US" sz="1300" dirty="0"/>
          </a:p>
        </p:txBody>
      </p:sp>
      <p:sp>
        <p:nvSpPr>
          <p:cNvPr id="8" name="Shape 6"/>
          <p:cNvSpPr/>
          <p:nvPr/>
        </p:nvSpPr>
        <p:spPr>
          <a:xfrm>
            <a:off x="4480560" y="1874520"/>
            <a:ext cx="3520440" cy="3566160"/>
          </a:xfrm>
          <a:prstGeom prst="roundRect">
            <a:avLst>
              <a:gd name="adj" fmla="val 3117"/>
            </a:avLst>
          </a:prstGeom>
          <a:solidFill>
            <a:srgbClr val="10393E"/>
          </a:solidFill>
          <a:ln/>
        </p:spPr>
      </p:sp>
      <p:sp>
        <p:nvSpPr>
          <p:cNvPr id="9" name="Shape 7"/>
          <p:cNvSpPr/>
          <p:nvPr/>
        </p:nvSpPr>
        <p:spPr>
          <a:xfrm>
            <a:off x="4800600" y="2194560"/>
            <a:ext cx="640080" cy="640080"/>
          </a:xfrm>
          <a:prstGeom prst="ellipse">
            <a:avLst/>
          </a:prstGeom>
          <a:solidFill>
            <a:srgbClr val="02C39A"/>
          </a:solidFill>
          <a:ln/>
        </p:spPr>
      </p:sp>
      <p:sp>
        <p:nvSpPr>
          <p:cNvPr id="10" name="Text 8"/>
          <p:cNvSpPr/>
          <p:nvPr/>
        </p:nvSpPr>
        <p:spPr>
          <a:xfrm>
            <a:off x="4800600" y="2194560"/>
            <a:ext cx="640080" cy="640080"/>
          </a:xfrm>
          <a:prstGeom prst="rect">
            <a:avLst/>
          </a:prstGeom>
          <a:noFill/>
          <a:ln/>
        </p:spPr>
        <p:txBody>
          <a:bodyPr wrap="square" rtlCol="0" anchor="ctr"/>
          <a:lstStyle/>
          <a:p>
            <a:pPr algn="ctr" indent="0" marL="0">
              <a:buNone/>
            </a:pPr>
            <a:r>
              <a:rPr lang="en-US" sz="2600" dirty="0">
                <a:solidFill>
                  <a:srgbClr val="000000"/>
                </a:solidFill>
              </a:rPr>
              <a:t>🤝</a:t>
            </a:r>
            <a:endParaRPr lang="en-US" sz="2600" dirty="0"/>
          </a:p>
        </p:txBody>
      </p:sp>
      <p:sp>
        <p:nvSpPr>
          <p:cNvPr id="11" name="Text 9"/>
          <p:cNvSpPr/>
          <p:nvPr/>
        </p:nvSpPr>
        <p:spPr>
          <a:xfrm>
            <a:off x="4800600" y="3017520"/>
            <a:ext cx="2880360" cy="685800"/>
          </a:xfrm>
          <a:prstGeom prst="rect">
            <a:avLst/>
          </a:prstGeom>
          <a:noFill/>
          <a:ln/>
        </p:spPr>
        <p:txBody>
          <a:bodyPr wrap="square" rtlCol="0" anchor="ctr"/>
          <a:lstStyle/>
          <a:p>
            <a:pPr indent="0" marL="0">
              <a:buNone/>
            </a:pPr>
            <a:r>
              <a:rPr lang="en-US" sz="1650" b="1" dirty="0">
                <a:solidFill>
                  <a:srgbClr val="FFFFFF"/>
                </a:solidFill>
                <a:latin typeface="Cambria" pitchFamily="34" charset="0"/>
                <a:ea typeface="Cambria" pitchFamily="34" charset="-122"/>
                <a:cs typeface="Cambria" pitchFamily="34" charset="-120"/>
              </a:rPr>
              <a:t>Stronger Engagement</a:t>
            </a:r>
            <a:endParaRPr lang="en-US" sz="1650" dirty="0"/>
          </a:p>
        </p:txBody>
      </p:sp>
      <p:sp>
        <p:nvSpPr>
          <p:cNvPr id="12" name="Text 10"/>
          <p:cNvSpPr/>
          <p:nvPr/>
        </p:nvSpPr>
        <p:spPr>
          <a:xfrm>
            <a:off x="4800600" y="3703320"/>
            <a:ext cx="2880360" cy="1554480"/>
          </a:xfrm>
          <a:prstGeom prst="rect">
            <a:avLst/>
          </a:prstGeom>
          <a:noFill/>
          <a:ln/>
        </p:spPr>
        <p:txBody>
          <a:bodyPr wrap="square" rtlCol="0" anchor="ctr"/>
          <a:lstStyle/>
          <a:p>
            <a:pPr indent="0" marL="0">
              <a:buNone/>
            </a:pPr>
            <a:r>
              <a:rPr lang="en-US" sz="1300" dirty="0">
                <a:solidFill>
                  <a:srgbClr val="CADCFC"/>
                </a:solidFill>
                <a:latin typeface="Calibri" pitchFamily="34" charset="0"/>
                <a:ea typeface="Calibri" pitchFamily="34" charset="-122"/>
                <a:cs typeface="Calibri" pitchFamily="34" charset="-120"/>
              </a:rPr>
              <a:t>AI-generated recommendations help improve follow-up strategy and customer engagement.</a:t>
            </a:r>
            <a:endParaRPr lang="en-US" sz="1300" dirty="0"/>
          </a:p>
        </p:txBody>
      </p:sp>
      <p:sp>
        <p:nvSpPr>
          <p:cNvPr id="13" name="Shape 11"/>
          <p:cNvSpPr/>
          <p:nvPr/>
        </p:nvSpPr>
        <p:spPr>
          <a:xfrm>
            <a:off x="8321040" y="1874520"/>
            <a:ext cx="3520440" cy="3566160"/>
          </a:xfrm>
          <a:prstGeom prst="roundRect">
            <a:avLst>
              <a:gd name="adj" fmla="val 3117"/>
            </a:avLst>
          </a:prstGeom>
          <a:solidFill>
            <a:srgbClr val="10393E"/>
          </a:solidFill>
          <a:ln/>
        </p:spPr>
      </p:sp>
      <p:sp>
        <p:nvSpPr>
          <p:cNvPr id="14" name="Shape 12"/>
          <p:cNvSpPr/>
          <p:nvPr/>
        </p:nvSpPr>
        <p:spPr>
          <a:xfrm>
            <a:off x="8641080" y="2194560"/>
            <a:ext cx="640080" cy="640080"/>
          </a:xfrm>
          <a:prstGeom prst="ellipse">
            <a:avLst/>
          </a:prstGeom>
          <a:solidFill>
            <a:srgbClr val="02C39A"/>
          </a:solidFill>
          <a:ln/>
        </p:spPr>
      </p:sp>
      <p:sp>
        <p:nvSpPr>
          <p:cNvPr id="15" name="Text 13"/>
          <p:cNvSpPr/>
          <p:nvPr/>
        </p:nvSpPr>
        <p:spPr>
          <a:xfrm>
            <a:off x="8641080" y="2194560"/>
            <a:ext cx="640080" cy="640080"/>
          </a:xfrm>
          <a:prstGeom prst="rect">
            <a:avLst/>
          </a:prstGeom>
          <a:noFill/>
          <a:ln/>
        </p:spPr>
        <p:txBody>
          <a:bodyPr wrap="square" rtlCol="0" anchor="ctr"/>
          <a:lstStyle/>
          <a:p>
            <a:pPr algn="ctr" indent="0" marL="0">
              <a:buNone/>
            </a:pPr>
            <a:r>
              <a:rPr lang="en-US" sz="2600" dirty="0">
                <a:solidFill>
                  <a:srgbClr val="000000"/>
                </a:solidFill>
              </a:rPr>
              <a:t>⚡</a:t>
            </a:r>
            <a:endParaRPr lang="en-US" sz="2600" dirty="0"/>
          </a:p>
        </p:txBody>
      </p:sp>
      <p:sp>
        <p:nvSpPr>
          <p:cNvPr id="16" name="Text 14"/>
          <p:cNvSpPr/>
          <p:nvPr/>
        </p:nvSpPr>
        <p:spPr>
          <a:xfrm>
            <a:off x="8641080" y="3017520"/>
            <a:ext cx="2880360" cy="685800"/>
          </a:xfrm>
          <a:prstGeom prst="rect">
            <a:avLst/>
          </a:prstGeom>
          <a:noFill/>
          <a:ln/>
        </p:spPr>
        <p:txBody>
          <a:bodyPr wrap="square" rtlCol="0" anchor="ctr"/>
          <a:lstStyle/>
          <a:p>
            <a:pPr indent="0" marL="0">
              <a:buNone/>
            </a:pPr>
            <a:r>
              <a:rPr lang="en-US" sz="1650" b="1" dirty="0">
                <a:solidFill>
                  <a:srgbClr val="FFFFFF"/>
                </a:solidFill>
                <a:latin typeface="Cambria" pitchFamily="34" charset="0"/>
                <a:ea typeface="Cambria" pitchFamily="34" charset="-122"/>
                <a:cs typeface="Cambria" pitchFamily="34" charset="-120"/>
              </a:rPr>
              <a:t>Real-Time Delivery</a:t>
            </a:r>
            <a:endParaRPr lang="en-US" sz="1650" dirty="0"/>
          </a:p>
        </p:txBody>
      </p:sp>
      <p:sp>
        <p:nvSpPr>
          <p:cNvPr id="17" name="Text 15"/>
          <p:cNvSpPr/>
          <p:nvPr/>
        </p:nvSpPr>
        <p:spPr>
          <a:xfrm>
            <a:off x="8641080" y="3703320"/>
            <a:ext cx="2880360" cy="1554480"/>
          </a:xfrm>
          <a:prstGeom prst="rect">
            <a:avLst/>
          </a:prstGeom>
          <a:noFill/>
          <a:ln/>
        </p:spPr>
        <p:txBody>
          <a:bodyPr wrap="square" rtlCol="0" anchor="ctr"/>
          <a:lstStyle/>
          <a:p>
            <a:pPr indent="0" marL="0">
              <a:buNone/>
            </a:pPr>
            <a:r>
              <a:rPr lang="en-US" sz="1300" dirty="0">
                <a:solidFill>
                  <a:srgbClr val="CADCFC"/>
                </a:solidFill>
                <a:latin typeface="Calibri" pitchFamily="34" charset="0"/>
                <a:ea typeface="Calibri" pitchFamily="34" charset="-122"/>
                <a:cs typeface="Calibri" pitchFamily="34" charset="-120"/>
              </a:rPr>
              <a:t>Backend integration allows recommendations to be delivered to users in real time.</a:t>
            </a:r>
            <a:endParaRPr lang="en-US" sz="1300" dirty="0"/>
          </a:p>
        </p:txBody>
      </p:sp>
      <p:sp>
        <p:nvSpPr>
          <p:cNvPr id="18" name="Text 16"/>
          <p:cNvSpPr/>
          <p:nvPr/>
        </p:nvSpPr>
        <p:spPr>
          <a:xfrm>
            <a:off x="457200" y="6510528"/>
            <a:ext cx="7315200" cy="274320"/>
          </a:xfrm>
          <a:prstGeom prst="rect">
            <a:avLst/>
          </a:prstGeom>
          <a:noFill/>
          <a:ln/>
        </p:spPr>
        <p:txBody>
          <a:bodyPr wrap="square" rtlCol="0" anchor="ctr"/>
          <a:lstStyle/>
          <a:p>
            <a:pPr algn="l" indent="0" marL="0">
              <a:buNone/>
            </a:pPr>
            <a:r>
              <a:rPr lang="en-US" sz="1000" dirty="0">
                <a:solidFill>
                  <a:srgbClr val="BFEAE6"/>
                </a:solidFill>
                <a:latin typeface="Calibri" pitchFamily="34" charset="0"/>
                <a:ea typeface="Calibri" pitchFamily="34" charset="-122"/>
                <a:cs typeface="Calibri" pitchFamily="34" charset="-120"/>
              </a:rPr>
              <a:t>Day 18  •  Recommendation Engine Integration</a:t>
            </a:r>
            <a:endParaRPr lang="en-US" sz="1000" dirty="0"/>
          </a:p>
        </p:txBody>
      </p:sp>
      <p:sp>
        <p:nvSpPr>
          <p:cNvPr id="19" name="Text 17"/>
          <p:cNvSpPr/>
          <p:nvPr/>
        </p:nvSpPr>
        <p:spPr>
          <a:xfrm>
            <a:off x="11430000" y="6510528"/>
            <a:ext cx="457200" cy="274320"/>
          </a:xfrm>
          <a:prstGeom prst="rect">
            <a:avLst/>
          </a:prstGeom>
          <a:noFill/>
          <a:ln/>
        </p:spPr>
        <p:txBody>
          <a:bodyPr wrap="square" rtlCol="0" anchor="ctr"/>
          <a:lstStyle/>
          <a:p>
            <a:pPr algn="r" indent="0" marL="0">
              <a:buNone/>
            </a:pPr>
            <a:r>
              <a:rPr lang="en-US" sz="1000" dirty="0">
                <a:solidFill>
                  <a:srgbClr val="BFEAE6"/>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AF9"/>
        </a:solidFill>
      </p:bgPr>
    </p:bg>
    <p:spTree>
      <p:nvGrpSpPr>
        <p:cNvPr id="1" name=""/>
        <p:cNvGrpSpPr/>
        <p:nvPr/>
      </p:nvGrpSpPr>
      <p:grpSpPr>
        <a:xfrm>
          <a:off x="0" y="0"/>
          <a:ext cx="0" cy="0"/>
          <a:chOff x="0" y="0"/>
          <a:chExt cx="0" cy="0"/>
        </a:xfrm>
      </p:grpSpPr>
      <p:sp>
        <p:nvSpPr>
          <p:cNvPr id="2" name="Text 0"/>
          <p:cNvSpPr/>
          <p:nvPr/>
        </p:nvSpPr>
        <p:spPr>
          <a:xfrm>
            <a:off x="640080" y="457200"/>
            <a:ext cx="8229600" cy="640080"/>
          </a:xfrm>
          <a:prstGeom prst="rect">
            <a:avLst/>
          </a:prstGeom>
          <a:noFill/>
          <a:ln/>
        </p:spPr>
        <p:txBody>
          <a:bodyPr wrap="square" rtlCol="0" anchor="ctr"/>
          <a:lstStyle/>
          <a:p>
            <a:pPr indent="0" marL="0">
              <a:buNone/>
            </a:pPr>
            <a:r>
              <a:rPr lang="en-US" sz="3200" b="1" dirty="0">
                <a:solidFill>
                  <a:srgbClr val="0B2B30"/>
                </a:solidFill>
                <a:latin typeface="Cambria" pitchFamily="34" charset="0"/>
                <a:ea typeface="Cambria" pitchFamily="34" charset="-122"/>
                <a:cs typeface="Cambria" pitchFamily="34" charset="-120"/>
              </a:rPr>
              <a:t>How I Implemented It</a:t>
            </a:r>
            <a:endParaRPr lang="en-US" sz="3200" dirty="0"/>
          </a:p>
        </p:txBody>
      </p:sp>
      <p:sp>
        <p:nvSpPr>
          <p:cNvPr id="3" name="Text 1"/>
          <p:cNvSpPr/>
          <p:nvPr/>
        </p:nvSpPr>
        <p:spPr>
          <a:xfrm>
            <a:off x="640080" y="1051560"/>
            <a:ext cx="8229600" cy="365760"/>
          </a:xfrm>
          <a:prstGeom prst="rect">
            <a:avLst/>
          </a:prstGeom>
          <a:noFill/>
          <a:ln/>
        </p:spPr>
        <p:txBody>
          <a:bodyPr wrap="square" rtlCol="0" anchor="ctr"/>
          <a:lstStyle/>
          <a:p>
            <a:pPr indent="0" marL="0">
              <a:buNone/>
            </a:pPr>
            <a:r>
              <a:rPr lang="en-US" sz="1300" i="1" dirty="0">
                <a:solidFill>
                  <a:srgbClr val="5C7A78"/>
                </a:solidFill>
                <a:latin typeface="Calibri" pitchFamily="34" charset="0"/>
                <a:ea typeface="Calibri" pitchFamily="34" charset="-122"/>
                <a:cs typeface="Calibri" pitchFamily="34" charset="-120"/>
              </a:rPr>
              <a:t>Implementation flow</a:t>
            </a:r>
            <a:endParaRPr lang="en-US" sz="1300" dirty="0"/>
          </a:p>
        </p:txBody>
      </p:sp>
      <p:sp>
        <p:nvSpPr>
          <p:cNvPr id="4" name="Shape 2"/>
          <p:cNvSpPr/>
          <p:nvPr/>
        </p:nvSpPr>
        <p:spPr>
          <a:xfrm>
            <a:off x="1634947" y="2606040"/>
            <a:ext cx="8983066" cy="0"/>
          </a:xfrm>
          <a:prstGeom prst="line">
            <a:avLst/>
          </a:prstGeom>
          <a:noFill/>
          <a:ln w="31750">
            <a:solidFill>
              <a:srgbClr val="00A896"/>
            </a:solidFill>
            <a:prstDash val="solid"/>
          </a:ln>
        </p:spPr>
      </p:sp>
      <p:sp>
        <p:nvSpPr>
          <p:cNvPr id="5" name="Shape 3"/>
          <p:cNvSpPr/>
          <p:nvPr/>
        </p:nvSpPr>
        <p:spPr>
          <a:xfrm>
            <a:off x="1378915" y="2350008"/>
            <a:ext cx="512064" cy="512064"/>
          </a:xfrm>
          <a:prstGeom prst="ellipse">
            <a:avLst/>
          </a:prstGeom>
          <a:solidFill>
            <a:srgbClr val="028090"/>
          </a:solidFill>
          <a:ln w="38100">
            <a:solidFill>
              <a:srgbClr val="F4FAF9"/>
            </a:solidFill>
            <a:prstDash val="solid"/>
          </a:ln>
        </p:spPr>
      </p:sp>
      <p:sp>
        <p:nvSpPr>
          <p:cNvPr id="6" name="Text 4"/>
          <p:cNvSpPr/>
          <p:nvPr/>
        </p:nvSpPr>
        <p:spPr>
          <a:xfrm>
            <a:off x="1378915" y="2350008"/>
            <a:ext cx="512064" cy="512064"/>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7" name="Shape 5"/>
          <p:cNvSpPr/>
          <p:nvPr/>
        </p:nvSpPr>
        <p:spPr>
          <a:xfrm>
            <a:off x="640080" y="3017520"/>
            <a:ext cx="1989734" cy="2423160"/>
          </a:xfrm>
          <a:prstGeom prst="roundRect">
            <a:avLst>
              <a:gd name="adj" fmla="val 4596"/>
            </a:avLst>
          </a:prstGeom>
          <a:solidFill>
            <a:srgbClr val="FFFFFF"/>
          </a:solidFill>
          <a:ln/>
          <a:effectLst>
            <a:outerShdw sx="100000" sy="100000" kx="0" ky="0" algn="bl" rotWithShape="0" blurRad="76200" dist="25400" dir="5400000">
              <a:srgbClr val="1E2761">
                <a:alpha val="13000"/>
              </a:srgbClr>
            </a:outerShdw>
          </a:effectLst>
        </p:spPr>
      </p:sp>
      <p:sp>
        <p:nvSpPr>
          <p:cNvPr id="8" name="Text 6"/>
          <p:cNvSpPr/>
          <p:nvPr/>
        </p:nvSpPr>
        <p:spPr>
          <a:xfrm>
            <a:off x="777240" y="3172968"/>
            <a:ext cx="1715414" cy="365760"/>
          </a:xfrm>
          <a:prstGeom prst="rect">
            <a:avLst/>
          </a:prstGeom>
          <a:noFill/>
          <a:ln/>
        </p:spPr>
        <p:txBody>
          <a:bodyPr wrap="square" rtlCol="0" anchor="ctr"/>
          <a:lstStyle/>
          <a:p>
            <a:pPr algn="l" indent="0" marL="0">
              <a:buNone/>
            </a:pPr>
            <a:r>
              <a:rPr lang="en-US" sz="1400" b="1" dirty="0">
                <a:solidFill>
                  <a:srgbClr val="028090"/>
                </a:solidFill>
                <a:latin typeface="Cambria" pitchFamily="34" charset="0"/>
                <a:ea typeface="Cambria" pitchFamily="34" charset="-122"/>
                <a:cs typeface="Cambria" pitchFamily="34" charset="-120"/>
              </a:rPr>
              <a:t>Connect</a:t>
            </a:r>
            <a:endParaRPr lang="en-US" sz="1400" dirty="0"/>
          </a:p>
        </p:txBody>
      </p:sp>
      <p:sp>
        <p:nvSpPr>
          <p:cNvPr id="9" name="Text 7"/>
          <p:cNvSpPr/>
          <p:nvPr/>
        </p:nvSpPr>
        <p:spPr>
          <a:xfrm>
            <a:off x="777240" y="3538728"/>
            <a:ext cx="1715414" cy="1828800"/>
          </a:xfrm>
          <a:prstGeom prst="rect">
            <a:avLst/>
          </a:prstGeom>
          <a:noFill/>
          <a:ln/>
        </p:spPr>
        <p:txBody>
          <a:bodyPr wrap="square" rtlCol="0" anchor="ctr"/>
          <a:lstStyle/>
          <a:p>
            <a:pPr algn="l" indent="0" marL="0">
              <a:buNone/>
            </a:pPr>
            <a:r>
              <a:rPr lang="en-US" sz="1100" dirty="0">
                <a:solidFill>
                  <a:srgbClr val="5C7A78"/>
                </a:solidFill>
                <a:latin typeface="Calibri" pitchFamily="34" charset="0"/>
                <a:ea typeface="Calibri" pitchFamily="34" charset="-122"/>
                <a:cs typeface="Calibri" pitchFamily="34" charset="-120"/>
              </a:rPr>
              <a:t>Connected the backend with the Recommendation API.</a:t>
            </a:r>
            <a:endParaRPr lang="en-US" sz="1100" dirty="0"/>
          </a:p>
        </p:txBody>
      </p:sp>
      <p:sp>
        <p:nvSpPr>
          <p:cNvPr id="10" name="Shape 8"/>
          <p:cNvSpPr/>
          <p:nvPr/>
        </p:nvSpPr>
        <p:spPr>
          <a:xfrm>
            <a:off x="3624682" y="2350008"/>
            <a:ext cx="512064" cy="512064"/>
          </a:xfrm>
          <a:prstGeom prst="ellipse">
            <a:avLst/>
          </a:prstGeom>
          <a:solidFill>
            <a:srgbClr val="028090"/>
          </a:solidFill>
          <a:ln w="38100">
            <a:solidFill>
              <a:srgbClr val="F4FAF9"/>
            </a:solidFill>
            <a:prstDash val="solid"/>
          </a:ln>
        </p:spPr>
      </p:sp>
      <p:sp>
        <p:nvSpPr>
          <p:cNvPr id="11" name="Text 9"/>
          <p:cNvSpPr/>
          <p:nvPr/>
        </p:nvSpPr>
        <p:spPr>
          <a:xfrm>
            <a:off x="3624682" y="2350008"/>
            <a:ext cx="512064" cy="512064"/>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2" name="Shape 10"/>
          <p:cNvSpPr/>
          <p:nvPr/>
        </p:nvSpPr>
        <p:spPr>
          <a:xfrm>
            <a:off x="2885846" y="3017520"/>
            <a:ext cx="1989734" cy="2423160"/>
          </a:xfrm>
          <a:prstGeom prst="roundRect">
            <a:avLst>
              <a:gd name="adj" fmla="val 4596"/>
            </a:avLst>
          </a:prstGeom>
          <a:solidFill>
            <a:srgbClr val="FFFFFF"/>
          </a:solidFill>
          <a:ln/>
          <a:effectLst>
            <a:outerShdw sx="100000" sy="100000" kx="0" ky="0" algn="bl" rotWithShape="0" blurRad="76200" dist="25400" dir="5400000">
              <a:srgbClr val="1E2761">
                <a:alpha val="13000"/>
              </a:srgbClr>
            </a:outerShdw>
          </a:effectLst>
        </p:spPr>
      </p:sp>
      <p:sp>
        <p:nvSpPr>
          <p:cNvPr id="13" name="Text 11"/>
          <p:cNvSpPr/>
          <p:nvPr/>
        </p:nvSpPr>
        <p:spPr>
          <a:xfrm>
            <a:off x="3023006" y="3172968"/>
            <a:ext cx="1715414" cy="365760"/>
          </a:xfrm>
          <a:prstGeom prst="rect">
            <a:avLst/>
          </a:prstGeom>
          <a:noFill/>
          <a:ln/>
        </p:spPr>
        <p:txBody>
          <a:bodyPr wrap="square" rtlCol="0" anchor="ctr"/>
          <a:lstStyle/>
          <a:p>
            <a:pPr algn="l" indent="0" marL="0">
              <a:buNone/>
            </a:pPr>
            <a:r>
              <a:rPr lang="en-US" sz="1400" b="1" dirty="0">
                <a:solidFill>
                  <a:srgbClr val="028090"/>
                </a:solidFill>
                <a:latin typeface="Cambria" pitchFamily="34" charset="0"/>
                <a:ea typeface="Cambria" pitchFamily="34" charset="-122"/>
                <a:cs typeface="Cambria" pitchFamily="34" charset="-120"/>
              </a:rPr>
              <a:t>Process</a:t>
            </a:r>
            <a:endParaRPr lang="en-US" sz="1400" dirty="0"/>
          </a:p>
        </p:txBody>
      </p:sp>
      <p:sp>
        <p:nvSpPr>
          <p:cNvPr id="14" name="Text 12"/>
          <p:cNvSpPr/>
          <p:nvPr/>
        </p:nvSpPr>
        <p:spPr>
          <a:xfrm>
            <a:off x="3023006" y="3538728"/>
            <a:ext cx="1715414" cy="1828800"/>
          </a:xfrm>
          <a:prstGeom prst="rect">
            <a:avLst/>
          </a:prstGeom>
          <a:noFill/>
          <a:ln/>
        </p:spPr>
        <p:txBody>
          <a:bodyPr wrap="square" rtlCol="0" anchor="ctr"/>
          <a:lstStyle/>
          <a:p>
            <a:pPr algn="l" indent="0" marL="0">
              <a:buNone/>
            </a:pPr>
            <a:r>
              <a:rPr lang="en-US" sz="1100" dirty="0">
                <a:solidFill>
                  <a:srgbClr val="5C7A78"/>
                </a:solidFill>
                <a:latin typeface="Calibri" pitchFamily="34" charset="0"/>
                <a:ea typeface="Calibri" pitchFamily="34" charset="-122"/>
                <a:cs typeface="Calibri" pitchFamily="34" charset="-120"/>
              </a:rPr>
              <a:t>Processed lead data and retrieved AI-generated recommendations.</a:t>
            </a:r>
            <a:endParaRPr lang="en-US" sz="1100" dirty="0"/>
          </a:p>
        </p:txBody>
      </p:sp>
      <p:sp>
        <p:nvSpPr>
          <p:cNvPr id="15" name="Shape 13"/>
          <p:cNvSpPr/>
          <p:nvPr/>
        </p:nvSpPr>
        <p:spPr>
          <a:xfrm>
            <a:off x="5870448" y="2350008"/>
            <a:ext cx="512064" cy="512064"/>
          </a:xfrm>
          <a:prstGeom prst="ellipse">
            <a:avLst/>
          </a:prstGeom>
          <a:solidFill>
            <a:srgbClr val="028090"/>
          </a:solidFill>
          <a:ln w="38100">
            <a:solidFill>
              <a:srgbClr val="F4FAF9"/>
            </a:solidFill>
            <a:prstDash val="solid"/>
          </a:ln>
        </p:spPr>
      </p:sp>
      <p:sp>
        <p:nvSpPr>
          <p:cNvPr id="16" name="Text 14"/>
          <p:cNvSpPr/>
          <p:nvPr/>
        </p:nvSpPr>
        <p:spPr>
          <a:xfrm>
            <a:off x="5870448" y="2350008"/>
            <a:ext cx="512064" cy="512064"/>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7" name="Shape 15"/>
          <p:cNvSpPr/>
          <p:nvPr/>
        </p:nvSpPr>
        <p:spPr>
          <a:xfrm>
            <a:off x="5131613" y="3017520"/>
            <a:ext cx="1989734" cy="2423160"/>
          </a:xfrm>
          <a:prstGeom prst="roundRect">
            <a:avLst>
              <a:gd name="adj" fmla="val 4596"/>
            </a:avLst>
          </a:prstGeom>
          <a:solidFill>
            <a:srgbClr val="FFFFFF"/>
          </a:solidFill>
          <a:ln/>
          <a:effectLst>
            <a:outerShdw sx="100000" sy="100000" kx="0" ky="0" algn="bl" rotWithShape="0" blurRad="76200" dist="25400" dir="5400000">
              <a:srgbClr val="1E2761">
                <a:alpha val="13000"/>
              </a:srgbClr>
            </a:outerShdw>
          </a:effectLst>
        </p:spPr>
      </p:sp>
      <p:sp>
        <p:nvSpPr>
          <p:cNvPr id="18" name="Text 16"/>
          <p:cNvSpPr/>
          <p:nvPr/>
        </p:nvSpPr>
        <p:spPr>
          <a:xfrm>
            <a:off x="5268773" y="3172968"/>
            <a:ext cx="1715414" cy="365760"/>
          </a:xfrm>
          <a:prstGeom prst="rect">
            <a:avLst/>
          </a:prstGeom>
          <a:noFill/>
          <a:ln/>
        </p:spPr>
        <p:txBody>
          <a:bodyPr wrap="square" rtlCol="0" anchor="ctr"/>
          <a:lstStyle/>
          <a:p>
            <a:pPr algn="l" indent="0" marL="0">
              <a:buNone/>
            </a:pPr>
            <a:r>
              <a:rPr lang="en-US" sz="1400" b="1" dirty="0">
                <a:solidFill>
                  <a:srgbClr val="028090"/>
                </a:solidFill>
                <a:latin typeface="Cambria" pitchFamily="34" charset="0"/>
                <a:ea typeface="Cambria" pitchFamily="34" charset="-122"/>
                <a:cs typeface="Cambria" pitchFamily="34" charset="-120"/>
              </a:rPr>
              <a:t>Structure</a:t>
            </a:r>
            <a:endParaRPr lang="en-US" sz="1400" dirty="0"/>
          </a:p>
        </p:txBody>
      </p:sp>
      <p:sp>
        <p:nvSpPr>
          <p:cNvPr id="19" name="Text 17"/>
          <p:cNvSpPr/>
          <p:nvPr/>
        </p:nvSpPr>
        <p:spPr>
          <a:xfrm>
            <a:off x="5268773" y="3538728"/>
            <a:ext cx="1715414" cy="1828800"/>
          </a:xfrm>
          <a:prstGeom prst="rect">
            <a:avLst/>
          </a:prstGeom>
          <a:noFill/>
          <a:ln/>
        </p:spPr>
        <p:txBody>
          <a:bodyPr wrap="square" rtlCol="0" anchor="ctr"/>
          <a:lstStyle/>
          <a:p>
            <a:pPr algn="l" indent="0" marL="0">
              <a:buNone/>
            </a:pPr>
            <a:r>
              <a:rPr lang="en-US" sz="1100" dirty="0">
                <a:solidFill>
                  <a:srgbClr val="5C7A78"/>
                </a:solidFill>
                <a:latin typeface="Calibri" pitchFamily="34" charset="0"/>
                <a:ea typeface="Calibri" pitchFamily="34" charset="-122"/>
                <a:cs typeface="Calibri" pitchFamily="34" charset="-120"/>
              </a:rPr>
              <a:t>Returned recommendations in a structured format for frontend display.</a:t>
            </a:r>
            <a:endParaRPr lang="en-US" sz="1100" dirty="0"/>
          </a:p>
        </p:txBody>
      </p:sp>
      <p:sp>
        <p:nvSpPr>
          <p:cNvPr id="20" name="Shape 18"/>
          <p:cNvSpPr/>
          <p:nvPr/>
        </p:nvSpPr>
        <p:spPr>
          <a:xfrm>
            <a:off x="8116214" y="2350008"/>
            <a:ext cx="512064" cy="512064"/>
          </a:xfrm>
          <a:prstGeom prst="ellipse">
            <a:avLst/>
          </a:prstGeom>
          <a:solidFill>
            <a:srgbClr val="028090"/>
          </a:solidFill>
          <a:ln w="38100">
            <a:solidFill>
              <a:srgbClr val="F4FAF9"/>
            </a:solidFill>
            <a:prstDash val="solid"/>
          </a:ln>
        </p:spPr>
      </p:sp>
      <p:sp>
        <p:nvSpPr>
          <p:cNvPr id="21" name="Text 19"/>
          <p:cNvSpPr/>
          <p:nvPr/>
        </p:nvSpPr>
        <p:spPr>
          <a:xfrm>
            <a:off x="8116214" y="2350008"/>
            <a:ext cx="512064" cy="512064"/>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22" name="Shape 20"/>
          <p:cNvSpPr/>
          <p:nvPr/>
        </p:nvSpPr>
        <p:spPr>
          <a:xfrm>
            <a:off x="7377379" y="3017520"/>
            <a:ext cx="1989734" cy="2423160"/>
          </a:xfrm>
          <a:prstGeom prst="roundRect">
            <a:avLst>
              <a:gd name="adj" fmla="val 4596"/>
            </a:avLst>
          </a:prstGeom>
          <a:solidFill>
            <a:srgbClr val="FFFFFF"/>
          </a:solidFill>
          <a:ln/>
          <a:effectLst>
            <a:outerShdw sx="100000" sy="100000" kx="0" ky="0" algn="bl" rotWithShape="0" blurRad="76200" dist="25400" dir="5400000">
              <a:srgbClr val="1E2761">
                <a:alpha val="13000"/>
              </a:srgbClr>
            </a:outerShdw>
          </a:effectLst>
        </p:spPr>
      </p:sp>
      <p:sp>
        <p:nvSpPr>
          <p:cNvPr id="23" name="Text 21"/>
          <p:cNvSpPr/>
          <p:nvPr/>
        </p:nvSpPr>
        <p:spPr>
          <a:xfrm>
            <a:off x="7514539" y="3172968"/>
            <a:ext cx="1715414" cy="365760"/>
          </a:xfrm>
          <a:prstGeom prst="rect">
            <a:avLst/>
          </a:prstGeom>
          <a:noFill/>
          <a:ln/>
        </p:spPr>
        <p:txBody>
          <a:bodyPr wrap="square" rtlCol="0" anchor="ctr"/>
          <a:lstStyle/>
          <a:p>
            <a:pPr algn="l" indent="0" marL="0">
              <a:buNone/>
            </a:pPr>
            <a:r>
              <a:rPr lang="en-US" sz="1400" b="1" dirty="0">
                <a:solidFill>
                  <a:srgbClr val="028090"/>
                </a:solidFill>
                <a:latin typeface="Cambria" pitchFamily="34" charset="0"/>
                <a:ea typeface="Cambria" pitchFamily="34" charset="-122"/>
                <a:cs typeface="Cambria" pitchFamily="34" charset="-120"/>
              </a:rPr>
              <a:t>Test</a:t>
            </a:r>
            <a:endParaRPr lang="en-US" sz="1400" dirty="0"/>
          </a:p>
        </p:txBody>
      </p:sp>
      <p:sp>
        <p:nvSpPr>
          <p:cNvPr id="24" name="Text 22"/>
          <p:cNvSpPr/>
          <p:nvPr/>
        </p:nvSpPr>
        <p:spPr>
          <a:xfrm>
            <a:off x="7514539" y="3538728"/>
            <a:ext cx="1715414" cy="1828800"/>
          </a:xfrm>
          <a:prstGeom prst="rect">
            <a:avLst/>
          </a:prstGeom>
          <a:noFill/>
          <a:ln/>
        </p:spPr>
        <p:txBody>
          <a:bodyPr wrap="square" rtlCol="0" anchor="ctr"/>
          <a:lstStyle/>
          <a:p>
            <a:pPr algn="l" indent="0" marL="0">
              <a:buNone/>
            </a:pPr>
            <a:r>
              <a:rPr lang="en-US" sz="1100" dirty="0">
                <a:solidFill>
                  <a:srgbClr val="5C7A78"/>
                </a:solidFill>
                <a:latin typeface="Calibri" pitchFamily="34" charset="0"/>
                <a:ea typeface="Calibri" pitchFamily="34" charset="-122"/>
                <a:cs typeface="Calibri" pitchFamily="34" charset="-120"/>
              </a:rPr>
              <a:t>Tested API responses and handled possible errors.</a:t>
            </a:r>
            <a:endParaRPr lang="en-US" sz="1100" dirty="0"/>
          </a:p>
        </p:txBody>
      </p:sp>
      <p:sp>
        <p:nvSpPr>
          <p:cNvPr id="25" name="Shape 23"/>
          <p:cNvSpPr/>
          <p:nvPr/>
        </p:nvSpPr>
        <p:spPr>
          <a:xfrm>
            <a:off x="10361981" y="2350008"/>
            <a:ext cx="512064" cy="512064"/>
          </a:xfrm>
          <a:prstGeom prst="ellipse">
            <a:avLst/>
          </a:prstGeom>
          <a:solidFill>
            <a:srgbClr val="028090"/>
          </a:solidFill>
          <a:ln w="38100">
            <a:solidFill>
              <a:srgbClr val="F4FAF9"/>
            </a:solidFill>
            <a:prstDash val="solid"/>
          </a:ln>
        </p:spPr>
      </p:sp>
      <p:sp>
        <p:nvSpPr>
          <p:cNvPr id="26" name="Text 24"/>
          <p:cNvSpPr/>
          <p:nvPr/>
        </p:nvSpPr>
        <p:spPr>
          <a:xfrm>
            <a:off x="10361981" y="2350008"/>
            <a:ext cx="512064" cy="512064"/>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5</a:t>
            </a:r>
            <a:endParaRPr lang="en-US" sz="1500" dirty="0"/>
          </a:p>
        </p:txBody>
      </p:sp>
      <p:sp>
        <p:nvSpPr>
          <p:cNvPr id="27" name="Shape 25"/>
          <p:cNvSpPr/>
          <p:nvPr/>
        </p:nvSpPr>
        <p:spPr>
          <a:xfrm>
            <a:off x="9623146" y="3017520"/>
            <a:ext cx="1989734" cy="2423160"/>
          </a:xfrm>
          <a:prstGeom prst="roundRect">
            <a:avLst>
              <a:gd name="adj" fmla="val 4596"/>
            </a:avLst>
          </a:prstGeom>
          <a:solidFill>
            <a:srgbClr val="FFFFFF"/>
          </a:solidFill>
          <a:ln/>
          <a:effectLst>
            <a:outerShdw sx="100000" sy="100000" kx="0" ky="0" algn="bl" rotWithShape="0" blurRad="76200" dist="25400" dir="5400000">
              <a:srgbClr val="1E2761">
                <a:alpha val="13000"/>
              </a:srgbClr>
            </a:outerShdw>
          </a:effectLst>
        </p:spPr>
      </p:sp>
      <p:sp>
        <p:nvSpPr>
          <p:cNvPr id="28" name="Text 26"/>
          <p:cNvSpPr/>
          <p:nvPr/>
        </p:nvSpPr>
        <p:spPr>
          <a:xfrm>
            <a:off x="9760306" y="3172968"/>
            <a:ext cx="1715414" cy="365760"/>
          </a:xfrm>
          <a:prstGeom prst="rect">
            <a:avLst/>
          </a:prstGeom>
          <a:noFill/>
          <a:ln/>
        </p:spPr>
        <p:txBody>
          <a:bodyPr wrap="square" rtlCol="0" anchor="ctr"/>
          <a:lstStyle/>
          <a:p>
            <a:pPr algn="l" indent="0" marL="0">
              <a:buNone/>
            </a:pPr>
            <a:r>
              <a:rPr lang="en-US" sz="1400" b="1" dirty="0">
                <a:solidFill>
                  <a:srgbClr val="028090"/>
                </a:solidFill>
                <a:latin typeface="Cambria" pitchFamily="34" charset="0"/>
                <a:ea typeface="Cambria" pitchFamily="34" charset="-122"/>
                <a:cs typeface="Cambria" pitchFamily="34" charset="-120"/>
              </a:rPr>
              <a:t>Integrate</a:t>
            </a:r>
            <a:endParaRPr lang="en-US" sz="1400" dirty="0"/>
          </a:p>
        </p:txBody>
      </p:sp>
      <p:sp>
        <p:nvSpPr>
          <p:cNvPr id="29" name="Text 27"/>
          <p:cNvSpPr/>
          <p:nvPr/>
        </p:nvSpPr>
        <p:spPr>
          <a:xfrm>
            <a:off x="9760306" y="3538728"/>
            <a:ext cx="1715414" cy="1828800"/>
          </a:xfrm>
          <a:prstGeom prst="rect">
            <a:avLst/>
          </a:prstGeom>
          <a:noFill/>
          <a:ln/>
        </p:spPr>
        <p:txBody>
          <a:bodyPr wrap="square" rtlCol="0" anchor="ctr"/>
          <a:lstStyle/>
          <a:p>
            <a:pPr algn="l" indent="0" marL="0">
              <a:buNone/>
            </a:pPr>
            <a:r>
              <a:rPr lang="en-US" sz="1100" dirty="0">
                <a:solidFill>
                  <a:srgbClr val="5C7A78"/>
                </a:solidFill>
                <a:latin typeface="Calibri" pitchFamily="34" charset="0"/>
                <a:ea typeface="Calibri" pitchFamily="34" charset="-122"/>
                <a:cs typeface="Calibri" pitchFamily="34" charset="-120"/>
              </a:rPr>
              <a:t>Ensured seamless integration with the existing Lead Intelligence workflow.</a:t>
            </a:r>
            <a:endParaRPr lang="en-US" sz="1100" dirty="0"/>
          </a:p>
        </p:txBody>
      </p:sp>
      <p:sp>
        <p:nvSpPr>
          <p:cNvPr id="30" name="Text 28"/>
          <p:cNvSpPr/>
          <p:nvPr/>
        </p:nvSpPr>
        <p:spPr>
          <a:xfrm>
            <a:off x="457200" y="6510528"/>
            <a:ext cx="7315200" cy="274320"/>
          </a:xfrm>
          <a:prstGeom prst="rect">
            <a:avLst/>
          </a:prstGeom>
          <a:noFill/>
          <a:ln/>
        </p:spPr>
        <p:txBody>
          <a:bodyPr wrap="square" rtlCol="0" anchor="ctr"/>
          <a:lstStyle/>
          <a:p>
            <a:pPr algn="l" indent="0" marL="0">
              <a:buNone/>
            </a:pPr>
            <a:r>
              <a:rPr lang="en-US" sz="1000" dirty="0">
                <a:solidFill>
                  <a:srgbClr val="5C7A78"/>
                </a:solidFill>
                <a:latin typeface="Calibri" pitchFamily="34" charset="0"/>
                <a:ea typeface="Calibri" pitchFamily="34" charset="-122"/>
                <a:cs typeface="Calibri" pitchFamily="34" charset="-120"/>
              </a:rPr>
              <a:t>Day 18  •  Recommendation Engine Integration</a:t>
            </a:r>
            <a:endParaRPr lang="en-US" sz="1000" dirty="0"/>
          </a:p>
        </p:txBody>
      </p:sp>
      <p:sp>
        <p:nvSpPr>
          <p:cNvPr id="31" name="Text 29"/>
          <p:cNvSpPr/>
          <p:nvPr/>
        </p:nvSpPr>
        <p:spPr>
          <a:xfrm>
            <a:off x="11430000" y="6510528"/>
            <a:ext cx="457200" cy="274320"/>
          </a:xfrm>
          <a:prstGeom prst="rect">
            <a:avLst/>
          </a:prstGeom>
          <a:noFill/>
          <a:ln/>
        </p:spPr>
        <p:txBody>
          <a:bodyPr wrap="square" rtlCol="0" anchor="ctr"/>
          <a:lstStyle/>
          <a:p>
            <a:pPr algn="r" indent="0" marL="0">
              <a:buNone/>
            </a:pPr>
            <a:r>
              <a:rPr lang="en-US" sz="1000" dirty="0">
                <a:solidFill>
                  <a:srgbClr val="5C7A78"/>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7315200" cy="640080"/>
          </a:xfrm>
          <a:prstGeom prst="rect">
            <a:avLst/>
          </a:prstGeom>
          <a:noFill/>
          <a:ln/>
        </p:spPr>
        <p:txBody>
          <a:bodyPr wrap="square" rtlCol="0" anchor="ctr"/>
          <a:lstStyle/>
          <a:p>
            <a:pPr indent="0" marL="0">
              <a:buNone/>
            </a:pPr>
            <a:r>
              <a:rPr lang="en-US" sz="3200" b="1" dirty="0">
                <a:solidFill>
                  <a:srgbClr val="0B2B30"/>
                </a:solidFill>
                <a:latin typeface="Cambria" pitchFamily="34" charset="0"/>
                <a:ea typeface="Cambria" pitchFamily="34" charset="-122"/>
                <a:cs typeface="Cambria" pitchFamily="34" charset="-120"/>
              </a:rPr>
              <a:t>Team Contribution</a:t>
            </a:r>
            <a:endParaRPr lang="en-US" sz="3200" dirty="0"/>
          </a:p>
        </p:txBody>
      </p:sp>
      <p:sp>
        <p:nvSpPr>
          <p:cNvPr id="3" name="Shape 1"/>
          <p:cNvSpPr/>
          <p:nvPr/>
        </p:nvSpPr>
        <p:spPr>
          <a:xfrm>
            <a:off x="640080" y="1600200"/>
            <a:ext cx="3520440" cy="4206240"/>
          </a:xfrm>
          <a:prstGeom prst="roundRect">
            <a:avLst>
              <a:gd name="adj" fmla="val 3117"/>
            </a:avLst>
          </a:prstGeom>
          <a:solidFill>
            <a:srgbClr val="F4FAF9"/>
          </a:solidFill>
          <a:ln/>
        </p:spPr>
      </p:sp>
      <p:sp>
        <p:nvSpPr>
          <p:cNvPr id="4" name="Shape 2"/>
          <p:cNvSpPr/>
          <p:nvPr/>
        </p:nvSpPr>
        <p:spPr>
          <a:xfrm>
            <a:off x="960120" y="1920240"/>
            <a:ext cx="640080" cy="640080"/>
          </a:xfrm>
          <a:prstGeom prst="ellipse">
            <a:avLst/>
          </a:prstGeom>
          <a:solidFill>
            <a:srgbClr val="028090"/>
          </a:solidFill>
          <a:ln/>
        </p:spPr>
      </p:sp>
      <p:sp>
        <p:nvSpPr>
          <p:cNvPr id="5" name="Text 3"/>
          <p:cNvSpPr/>
          <p:nvPr/>
        </p:nvSpPr>
        <p:spPr>
          <a:xfrm>
            <a:off x="960120" y="1920240"/>
            <a:ext cx="640080" cy="640080"/>
          </a:xfrm>
          <a:prstGeom prst="rect">
            <a:avLst/>
          </a:prstGeom>
          <a:noFill/>
          <a:ln/>
        </p:spPr>
        <p:txBody>
          <a:bodyPr wrap="square" rtlCol="0" anchor="ctr"/>
          <a:lstStyle/>
          <a:p>
            <a:pPr algn="ctr" indent="0" marL="0">
              <a:buNone/>
            </a:pPr>
            <a:r>
              <a:rPr lang="en-US" sz="2600" dirty="0">
                <a:solidFill>
                  <a:srgbClr val="000000"/>
                </a:solidFill>
              </a:rPr>
              <a:t>🧠</a:t>
            </a:r>
            <a:endParaRPr lang="en-US" sz="2600" dirty="0"/>
          </a:p>
        </p:txBody>
      </p:sp>
      <p:sp>
        <p:nvSpPr>
          <p:cNvPr id="6" name="Text 4"/>
          <p:cNvSpPr/>
          <p:nvPr/>
        </p:nvSpPr>
        <p:spPr>
          <a:xfrm>
            <a:off x="960120" y="2697480"/>
            <a:ext cx="2880360" cy="411480"/>
          </a:xfrm>
          <a:prstGeom prst="rect">
            <a:avLst/>
          </a:prstGeom>
          <a:noFill/>
          <a:ln/>
        </p:spPr>
        <p:txBody>
          <a:bodyPr wrap="square" rtlCol="0" anchor="ctr"/>
          <a:lstStyle/>
          <a:p>
            <a:pPr indent="0" marL="0">
              <a:buNone/>
            </a:pPr>
            <a:r>
              <a:rPr lang="en-US" sz="1800" b="1" dirty="0">
                <a:solidFill>
                  <a:srgbClr val="0B2B30"/>
                </a:solidFill>
                <a:latin typeface="Cambria" pitchFamily="34" charset="0"/>
                <a:ea typeface="Cambria" pitchFamily="34" charset="-122"/>
                <a:cs typeface="Cambria" pitchFamily="34" charset="-120"/>
              </a:rPr>
              <a:t>AI Team</a:t>
            </a:r>
            <a:endParaRPr lang="en-US" sz="1800" dirty="0"/>
          </a:p>
        </p:txBody>
      </p:sp>
      <p:sp>
        <p:nvSpPr>
          <p:cNvPr id="7" name="Text 5"/>
          <p:cNvSpPr/>
          <p:nvPr/>
        </p:nvSpPr>
        <p:spPr>
          <a:xfrm>
            <a:off x="960120" y="3136392"/>
            <a:ext cx="2880360" cy="594360"/>
          </a:xfrm>
          <a:prstGeom prst="rect">
            <a:avLst/>
          </a:prstGeom>
          <a:noFill/>
          <a:ln/>
        </p:spPr>
        <p:txBody>
          <a:bodyPr wrap="square" rtlCol="0" anchor="ctr"/>
          <a:lstStyle/>
          <a:p>
            <a:pPr indent="0" marL="0">
              <a:buNone/>
            </a:pPr>
            <a:r>
              <a:rPr lang="en-US" sz="1200" i="1" dirty="0">
                <a:solidFill>
                  <a:srgbClr val="5C7A78"/>
                </a:solidFill>
                <a:latin typeface="Calibri" pitchFamily="34" charset="0"/>
                <a:ea typeface="Calibri" pitchFamily="34" charset="-122"/>
                <a:cs typeface="Calibri" pitchFamily="34" charset="-120"/>
              </a:rPr>
              <a:t>Generated intelligent recommendations, including:</a:t>
            </a:r>
            <a:endParaRPr lang="en-US" sz="1200" dirty="0"/>
          </a:p>
        </p:txBody>
      </p:sp>
      <p:sp>
        <p:nvSpPr>
          <p:cNvPr id="8" name="Text 6"/>
          <p:cNvSpPr/>
          <p:nvPr/>
        </p:nvSpPr>
        <p:spPr>
          <a:xfrm>
            <a:off x="960120" y="3749040"/>
            <a:ext cx="2880360" cy="1828800"/>
          </a:xfrm>
          <a:prstGeom prst="rect">
            <a:avLst/>
          </a:prstGeom>
          <a:noFill/>
          <a:ln/>
        </p:spPr>
        <p:txBody>
          <a:bodyPr wrap="square" rtlCol="0" anchor="ctr"/>
          <a:lstStyle/>
          <a:p>
            <a:pPr marL="177800" indent="-177800">
              <a:spcAft>
                <a:spcPts val="800"/>
              </a:spcAft>
              <a:buSzPct val="100000"/>
              <a:buChar char="●"/>
            </a:pPr>
            <a:r>
              <a:rPr lang="en-US" sz="1350" dirty="0">
                <a:solidFill>
                  <a:srgbClr val="0B2B30"/>
                </a:solidFill>
                <a:latin typeface="Calibri" pitchFamily="34" charset="0"/>
                <a:ea typeface="Calibri" pitchFamily="34" charset="-122"/>
                <a:cs typeface="Calibri" pitchFamily="34" charset="-120"/>
              </a:rPr>
              <a:t>Follow-up Timing</a:t>
            </a:r>
            <a:endParaRPr lang="en-US" sz="1350" dirty="0"/>
          </a:p>
          <a:p>
            <a:pPr marL="177800" indent="-177800">
              <a:spcAft>
                <a:spcPts val="800"/>
              </a:spcAft>
              <a:buSzPct val="100000"/>
              <a:buChar char="●"/>
            </a:pPr>
            <a:r>
              <a:rPr lang="en-US" sz="1350" dirty="0">
                <a:solidFill>
                  <a:srgbClr val="0B2B30"/>
                </a:solidFill>
                <a:latin typeface="Calibri" pitchFamily="34" charset="0"/>
                <a:ea typeface="Calibri" pitchFamily="34" charset="-122"/>
                <a:cs typeface="Calibri" pitchFamily="34" charset="-120"/>
              </a:rPr>
              <a:t>Channel Mix</a:t>
            </a:r>
            <a:endParaRPr lang="en-US" sz="1350" dirty="0"/>
          </a:p>
          <a:p>
            <a:pPr marL="177800" indent="-177800">
              <a:spcAft>
                <a:spcPts val="800"/>
              </a:spcAft>
              <a:buSzPct val="100000"/>
              <a:buChar char="●"/>
            </a:pPr>
            <a:r>
              <a:rPr lang="en-US" sz="1350" dirty="0">
                <a:solidFill>
                  <a:srgbClr val="0B2B30"/>
                </a:solidFill>
                <a:latin typeface="Calibri" pitchFamily="34" charset="0"/>
                <a:ea typeface="Calibri" pitchFamily="34" charset="-122"/>
                <a:cs typeface="Calibri" pitchFamily="34" charset="-120"/>
              </a:rPr>
              <a:t>Content Strategy</a:t>
            </a:r>
            <a:endParaRPr lang="en-US" sz="1350" dirty="0"/>
          </a:p>
        </p:txBody>
      </p:sp>
      <p:sp>
        <p:nvSpPr>
          <p:cNvPr id="9" name="Shape 7"/>
          <p:cNvSpPr/>
          <p:nvPr/>
        </p:nvSpPr>
        <p:spPr>
          <a:xfrm>
            <a:off x="4480560" y="1600200"/>
            <a:ext cx="3520440" cy="4206240"/>
          </a:xfrm>
          <a:prstGeom prst="roundRect">
            <a:avLst>
              <a:gd name="adj" fmla="val 3117"/>
            </a:avLst>
          </a:prstGeom>
          <a:solidFill>
            <a:srgbClr val="F4FAF9"/>
          </a:solidFill>
          <a:ln/>
        </p:spPr>
      </p:sp>
      <p:sp>
        <p:nvSpPr>
          <p:cNvPr id="10" name="Shape 8"/>
          <p:cNvSpPr/>
          <p:nvPr/>
        </p:nvSpPr>
        <p:spPr>
          <a:xfrm>
            <a:off x="4800600" y="1920240"/>
            <a:ext cx="640080" cy="640080"/>
          </a:xfrm>
          <a:prstGeom prst="ellipse">
            <a:avLst/>
          </a:prstGeom>
          <a:solidFill>
            <a:srgbClr val="00A896"/>
          </a:solidFill>
          <a:ln/>
        </p:spPr>
      </p:sp>
      <p:sp>
        <p:nvSpPr>
          <p:cNvPr id="11" name="Text 9"/>
          <p:cNvSpPr/>
          <p:nvPr/>
        </p:nvSpPr>
        <p:spPr>
          <a:xfrm>
            <a:off x="4800600" y="1920240"/>
            <a:ext cx="640080" cy="640080"/>
          </a:xfrm>
          <a:prstGeom prst="rect">
            <a:avLst/>
          </a:prstGeom>
          <a:noFill/>
          <a:ln/>
        </p:spPr>
        <p:txBody>
          <a:bodyPr wrap="square" rtlCol="0" anchor="ctr"/>
          <a:lstStyle/>
          <a:p>
            <a:pPr algn="ctr" indent="0" marL="0">
              <a:buNone/>
            </a:pPr>
            <a:r>
              <a:rPr lang="en-US" sz="2600" dirty="0">
                <a:solidFill>
                  <a:srgbClr val="000000"/>
                </a:solidFill>
              </a:rPr>
              <a:t>🖥️</a:t>
            </a:r>
            <a:endParaRPr lang="en-US" sz="2600" dirty="0"/>
          </a:p>
        </p:txBody>
      </p:sp>
      <p:sp>
        <p:nvSpPr>
          <p:cNvPr id="12" name="Text 10"/>
          <p:cNvSpPr/>
          <p:nvPr/>
        </p:nvSpPr>
        <p:spPr>
          <a:xfrm>
            <a:off x="4800600" y="2697480"/>
            <a:ext cx="2880360" cy="411480"/>
          </a:xfrm>
          <a:prstGeom prst="rect">
            <a:avLst/>
          </a:prstGeom>
          <a:noFill/>
          <a:ln/>
        </p:spPr>
        <p:txBody>
          <a:bodyPr wrap="square" rtlCol="0" anchor="ctr"/>
          <a:lstStyle/>
          <a:p>
            <a:pPr indent="0" marL="0">
              <a:buNone/>
            </a:pPr>
            <a:r>
              <a:rPr lang="en-US" sz="1800" b="1" dirty="0">
                <a:solidFill>
                  <a:srgbClr val="0B2B30"/>
                </a:solidFill>
                <a:latin typeface="Cambria" pitchFamily="34" charset="0"/>
                <a:ea typeface="Cambria" pitchFamily="34" charset="-122"/>
                <a:cs typeface="Cambria" pitchFamily="34" charset="-120"/>
              </a:rPr>
              <a:t>Frontend Team</a:t>
            </a:r>
            <a:endParaRPr lang="en-US" sz="1800" dirty="0"/>
          </a:p>
        </p:txBody>
      </p:sp>
      <p:sp>
        <p:nvSpPr>
          <p:cNvPr id="13" name="Text 11"/>
          <p:cNvSpPr/>
          <p:nvPr/>
        </p:nvSpPr>
        <p:spPr>
          <a:xfrm>
            <a:off x="4800600" y="3136392"/>
            <a:ext cx="2880360" cy="594360"/>
          </a:xfrm>
          <a:prstGeom prst="rect">
            <a:avLst/>
          </a:prstGeom>
          <a:noFill/>
          <a:ln/>
        </p:spPr>
        <p:txBody>
          <a:bodyPr wrap="square" rtlCol="0" anchor="ctr"/>
          <a:lstStyle/>
          <a:p>
            <a:pPr indent="0" marL="0">
              <a:buNone/>
            </a:pPr>
            <a:r>
              <a:rPr lang="en-US" sz="1200" i="1" dirty="0">
                <a:solidFill>
                  <a:srgbClr val="5C7A78"/>
                </a:solidFill>
                <a:latin typeface="Calibri" pitchFamily="34" charset="0"/>
                <a:ea typeface="Calibri" pitchFamily="34" charset="-122"/>
                <a:cs typeface="Calibri" pitchFamily="34" charset="-120"/>
              </a:rPr>
              <a:t>Brought recommendations to life on the dashboard:</a:t>
            </a:r>
            <a:endParaRPr lang="en-US" sz="1200" dirty="0"/>
          </a:p>
        </p:txBody>
      </p:sp>
      <p:sp>
        <p:nvSpPr>
          <p:cNvPr id="14" name="Text 12"/>
          <p:cNvSpPr/>
          <p:nvPr/>
        </p:nvSpPr>
        <p:spPr>
          <a:xfrm>
            <a:off x="4800600" y="3749040"/>
            <a:ext cx="2880360" cy="1828800"/>
          </a:xfrm>
          <a:prstGeom prst="rect">
            <a:avLst/>
          </a:prstGeom>
          <a:noFill/>
          <a:ln/>
        </p:spPr>
        <p:txBody>
          <a:bodyPr wrap="square" rtlCol="0" anchor="ctr"/>
          <a:lstStyle/>
          <a:p>
            <a:pPr marL="177800" indent="-177800">
              <a:spcAft>
                <a:spcPts val="800"/>
              </a:spcAft>
              <a:buSzPct val="100000"/>
              <a:buChar char="●"/>
            </a:pPr>
            <a:r>
              <a:rPr lang="en-US" sz="1350" dirty="0">
                <a:solidFill>
                  <a:srgbClr val="0B2B30"/>
                </a:solidFill>
                <a:latin typeface="Calibri" pitchFamily="34" charset="0"/>
                <a:ea typeface="Calibri" pitchFamily="34" charset="-122"/>
                <a:cs typeface="Calibri" pitchFamily="34" charset="-120"/>
              </a:rPr>
              <a:t>Developed and integrated Recommendation Cards</a:t>
            </a:r>
            <a:endParaRPr lang="en-US" sz="1350" dirty="0"/>
          </a:p>
          <a:p>
            <a:pPr marL="177800" indent="-177800">
              <a:spcAft>
                <a:spcPts val="800"/>
              </a:spcAft>
              <a:buSzPct val="100000"/>
              <a:buChar char="●"/>
            </a:pPr>
            <a:r>
              <a:rPr lang="en-US" sz="1350" dirty="0">
                <a:solidFill>
                  <a:srgbClr val="0B2B30"/>
                </a:solidFill>
                <a:latin typeface="Calibri" pitchFamily="34" charset="0"/>
                <a:ea typeface="Calibri" pitchFamily="34" charset="-122"/>
                <a:cs typeface="Calibri" pitchFamily="34" charset="-120"/>
              </a:rPr>
              <a:t>Displayed AI-generated recommendations in a user-friendly format</a:t>
            </a:r>
            <a:endParaRPr lang="en-US" sz="1350" dirty="0"/>
          </a:p>
        </p:txBody>
      </p:sp>
      <p:sp>
        <p:nvSpPr>
          <p:cNvPr id="15" name="Shape 13"/>
          <p:cNvSpPr/>
          <p:nvPr/>
        </p:nvSpPr>
        <p:spPr>
          <a:xfrm>
            <a:off x="8321040" y="1600200"/>
            <a:ext cx="3520440" cy="4206240"/>
          </a:xfrm>
          <a:prstGeom prst="roundRect">
            <a:avLst>
              <a:gd name="adj" fmla="val 3117"/>
            </a:avLst>
          </a:prstGeom>
          <a:solidFill>
            <a:srgbClr val="F4FAF9"/>
          </a:solidFill>
          <a:ln/>
        </p:spPr>
      </p:sp>
      <p:sp>
        <p:nvSpPr>
          <p:cNvPr id="16" name="Shape 14"/>
          <p:cNvSpPr/>
          <p:nvPr/>
        </p:nvSpPr>
        <p:spPr>
          <a:xfrm>
            <a:off x="8641080" y="1920240"/>
            <a:ext cx="640080" cy="640080"/>
          </a:xfrm>
          <a:prstGeom prst="ellipse">
            <a:avLst/>
          </a:prstGeom>
          <a:solidFill>
            <a:srgbClr val="02C39A"/>
          </a:solidFill>
          <a:ln/>
        </p:spPr>
      </p:sp>
      <p:sp>
        <p:nvSpPr>
          <p:cNvPr id="17" name="Text 15"/>
          <p:cNvSpPr/>
          <p:nvPr/>
        </p:nvSpPr>
        <p:spPr>
          <a:xfrm>
            <a:off x="8641080" y="1920240"/>
            <a:ext cx="640080" cy="640080"/>
          </a:xfrm>
          <a:prstGeom prst="rect">
            <a:avLst/>
          </a:prstGeom>
          <a:noFill/>
          <a:ln/>
        </p:spPr>
        <p:txBody>
          <a:bodyPr wrap="square" rtlCol="0" anchor="ctr"/>
          <a:lstStyle/>
          <a:p>
            <a:pPr algn="ctr" indent="0" marL="0">
              <a:buNone/>
            </a:pPr>
            <a:r>
              <a:rPr lang="en-US" sz="2600" dirty="0">
                <a:solidFill>
                  <a:srgbClr val="000000"/>
                </a:solidFill>
              </a:rPr>
              <a:t>✅</a:t>
            </a:r>
            <a:endParaRPr lang="en-US" sz="2600" dirty="0"/>
          </a:p>
        </p:txBody>
      </p:sp>
      <p:sp>
        <p:nvSpPr>
          <p:cNvPr id="18" name="Text 16"/>
          <p:cNvSpPr/>
          <p:nvPr/>
        </p:nvSpPr>
        <p:spPr>
          <a:xfrm>
            <a:off x="8641080" y="2697480"/>
            <a:ext cx="2880360" cy="411480"/>
          </a:xfrm>
          <a:prstGeom prst="rect">
            <a:avLst/>
          </a:prstGeom>
          <a:noFill/>
          <a:ln/>
        </p:spPr>
        <p:txBody>
          <a:bodyPr wrap="square" rtlCol="0" anchor="ctr"/>
          <a:lstStyle/>
          <a:p>
            <a:pPr indent="0" marL="0">
              <a:buNone/>
            </a:pPr>
            <a:r>
              <a:rPr lang="en-US" sz="1800" b="1" dirty="0">
                <a:solidFill>
                  <a:srgbClr val="0B2B30"/>
                </a:solidFill>
                <a:latin typeface="Cambria" pitchFamily="34" charset="0"/>
                <a:ea typeface="Cambria" pitchFamily="34" charset="-122"/>
                <a:cs typeface="Cambria" pitchFamily="34" charset="-120"/>
              </a:rPr>
              <a:t>QA Team</a:t>
            </a:r>
            <a:endParaRPr lang="en-US" sz="1800" dirty="0"/>
          </a:p>
        </p:txBody>
      </p:sp>
      <p:sp>
        <p:nvSpPr>
          <p:cNvPr id="19" name="Text 17"/>
          <p:cNvSpPr/>
          <p:nvPr/>
        </p:nvSpPr>
        <p:spPr>
          <a:xfrm>
            <a:off x="8641080" y="3136392"/>
            <a:ext cx="2880360" cy="594360"/>
          </a:xfrm>
          <a:prstGeom prst="rect">
            <a:avLst/>
          </a:prstGeom>
          <a:noFill/>
          <a:ln/>
        </p:spPr>
        <p:txBody>
          <a:bodyPr wrap="square" rtlCol="0" anchor="ctr"/>
          <a:lstStyle/>
          <a:p>
            <a:pPr indent="0" marL="0">
              <a:buNone/>
            </a:pPr>
            <a:r>
              <a:rPr lang="en-US" sz="1200" i="1" dirty="0">
                <a:solidFill>
                  <a:srgbClr val="5C7A78"/>
                </a:solidFill>
                <a:latin typeface="Calibri" pitchFamily="34" charset="0"/>
                <a:ea typeface="Calibri" pitchFamily="34" charset="-122"/>
                <a:cs typeface="Calibri" pitchFamily="34" charset="-120"/>
              </a:rPr>
              <a:t>Ensured accuracy and reliability:</a:t>
            </a:r>
            <a:endParaRPr lang="en-US" sz="1200" dirty="0"/>
          </a:p>
        </p:txBody>
      </p:sp>
      <p:sp>
        <p:nvSpPr>
          <p:cNvPr id="20" name="Text 18"/>
          <p:cNvSpPr/>
          <p:nvPr/>
        </p:nvSpPr>
        <p:spPr>
          <a:xfrm>
            <a:off x="8641080" y="3749040"/>
            <a:ext cx="2880360" cy="1828800"/>
          </a:xfrm>
          <a:prstGeom prst="rect">
            <a:avLst/>
          </a:prstGeom>
          <a:noFill/>
          <a:ln/>
        </p:spPr>
        <p:txBody>
          <a:bodyPr wrap="square" rtlCol="0" anchor="ctr"/>
          <a:lstStyle/>
          <a:p>
            <a:pPr marL="177800" indent="-177800">
              <a:spcAft>
                <a:spcPts val="800"/>
              </a:spcAft>
              <a:buSzPct val="100000"/>
              <a:buChar char="●"/>
            </a:pPr>
            <a:r>
              <a:rPr lang="en-US" sz="1350" dirty="0">
                <a:solidFill>
                  <a:srgbClr val="0B2B30"/>
                </a:solidFill>
                <a:latin typeface="Calibri" pitchFamily="34" charset="0"/>
                <a:ea typeface="Calibri" pitchFamily="34" charset="-122"/>
                <a:cs typeface="Calibri" pitchFamily="34" charset="-120"/>
              </a:rPr>
              <a:t>Verified recommendation accuracy</a:t>
            </a:r>
            <a:endParaRPr lang="en-US" sz="1350" dirty="0"/>
          </a:p>
          <a:p>
            <a:pPr marL="177800" indent="-177800">
              <a:spcAft>
                <a:spcPts val="800"/>
              </a:spcAft>
              <a:buSzPct val="100000"/>
              <a:buChar char="●"/>
            </a:pPr>
            <a:r>
              <a:rPr lang="en-US" sz="1350" dirty="0">
                <a:solidFill>
                  <a:srgbClr val="0B2B30"/>
                </a:solidFill>
                <a:latin typeface="Calibri" pitchFamily="34" charset="0"/>
                <a:ea typeface="Calibri" pitchFamily="34" charset="-122"/>
                <a:cs typeface="Calibri" pitchFamily="34" charset="-120"/>
              </a:rPr>
              <a:t>Tested API responses under different lead scenarios</a:t>
            </a:r>
            <a:endParaRPr lang="en-US" sz="1350" dirty="0"/>
          </a:p>
        </p:txBody>
      </p:sp>
      <p:sp>
        <p:nvSpPr>
          <p:cNvPr id="21" name="Text 19"/>
          <p:cNvSpPr/>
          <p:nvPr/>
        </p:nvSpPr>
        <p:spPr>
          <a:xfrm>
            <a:off x="457200" y="6510528"/>
            <a:ext cx="7315200" cy="274320"/>
          </a:xfrm>
          <a:prstGeom prst="rect">
            <a:avLst/>
          </a:prstGeom>
          <a:noFill/>
          <a:ln/>
        </p:spPr>
        <p:txBody>
          <a:bodyPr wrap="square" rtlCol="0" anchor="ctr"/>
          <a:lstStyle/>
          <a:p>
            <a:pPr algn="l" indent="0" marL="0">
              <a:buNone/>
            </a:pPr>
            <a:r>
              <a:rPr lang="en-US" sz="1000" dirty="0">
                <a:solidFill>
                  <a:srgbClr val="5C7A78"/>
                </a:solidFill>
                <a:latin typeface="Calibri" pitchFamily="34" charset="0"/>
                <a:ea typeface="Calibri" pitchFamily="34" charset="-122"/>
                <a:cs typeface="Calibri" pitchFamily="34" charset="-120"/>
              </a:rPr>
              <a:t>Day 18  •  Recommendation Engine Integration</a:t>
            </a:r>
            <a:endParaRPr lang="en-US" sz="1000" dirty="0"/>
          </a:p>
        </p:txBody>
      </p:sp>
      <p:sp>
        <p:nvSpPr>
          <p:cNvPr id="22" name="Text 20"/>
          <p:cNvSpPr/>
          <p:nvPr/>
        </p:nvSpPr>
        <p:spPr>
          <a:xfrm>
            <a:off x="11430000" y="6510528"/>
            <a:ext cx="457200" cy="274320"/>
          </a:xfrm>
          <a:prstGeom prst="rect">
            <a:avLst/>
          </a:prstGeom>
          <a:noFill/>
          <a:ln/>
        </p:spPr>
        <p:txBody>
          <a:bodyPr wrap="square" rtlCol="0" anchor="ctr"/>
          <a:lstStyle/>
          <a:p>
            <a:pPr algn="r" indent="0" marL="0">
              <a:buNone/>
            </a:pPr>
            <a:r>
              <a:rPr lang="en-US" sz="1000" dirty="0">
                <a:solidFill>
                  <a:srgbClr val="5C7A78"/>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2B30"/>
        </a:solidFill>
      </p:bgPr>
    </p:bg>
    <p:spTree>
      <p:nvGrpSpPr>
        <p:cNvPr id="1" name=""/>
        <p:cNvGrpSpPr/>
        <p:nvPr/>
      </p:nvGrpSpPr>
      <p:grpSpPr>
        <a:xfrm>
          <a:off x="0" y="0"/>
          <a:ext cx="0" cy="0"/>
          <a:chOff x="0" y="0"/>
          <a:chExt cx="0" cy="0"/>
        </a:xfrm>
      </p:grpSpPr>
      <p:sp>
        <p:nvSpPr>
          <p:cNvPr id="2" name="Shape 0"/>
          <p:cNvSpPr/>
          <p:nvPr/>
        </p:nvSpPr>
        <p:spPr>
          <a:xfrm>
            <a:off x="-1371600" y="4389120"/>
            <a:ext cx="3840480" cy="3840480"/>
          </a:xfrm>
          <a:prstGeom prst="ellipse">
            <a:avLst/>
          </a:prstGeom>
          <a:solidFill>
            <a:srgbClr val="028090">
              <a:alpha val="45000"/>
            </a:srgbClr>
          </a:solidFill>
          <a:ln/>
        </p:spPr>
      </p:sp>
      <p:sp>
        <p:nvSpPr>
          <p:cNvPr id="3" name="Shape 1"/>
          <p:cNvSpPr/>
          <p:nvPr/>
        </p:nvSpPr>
        <p:spPr>
          <a:xfrm>
            <a:off x="10515600" y="-1097280"/>
            <a:ext cx="3291840" cy="3291840"/>
          </a:xfrm>
          <a:prstGeom prst="ellipse">
            <a:avLst/>
          </a:prstGeom>
          <a:solidFill>
            <a:srgbClr val="02C39A">
              <a:alpha val="40000"/>
            </a:srgbClr>
          </a:solidFill>
          <a:ln/>
        </p:spPr>
      </p:sp>
      <p:sp>
        <p:nvSpPr>
          <p:cNvPr id="4" name="Text 2"/>
          <p:cNvSpPr/>
          <p:nvPr/>
        </p:nvSpPr>
        <p:spPr>
          <a:xfrm>
            <a:off x="731520" y="1463040"/>
            <a:ext cx="5486400" cy="457200"/>
          </a:xfrm>
          <a:prstGeom prst="rect">
            <a:avLst/>
          </a:prstGeom>
          <a:noFill/>
          <a:ln/>
        </p:spPr>
        <p:txBody>
          <a:bodyPr wrap="square" rtlCol="0" anchor="ctr"/>
          <a:lstStyle/>
          <a:p>
            <a:pPr indent="0" marL="0">
              <a:buNone/>
            </a:pPr>
            <a:r>
              <a:rPr lang="en-US" sz="1500" b="1" spc="300" kern="0" dirty="0">
                <a:solidFill>
                  <a:srgbClr val="02C39A"/>
                </a:solidFill>
                <a:latin typeface="Calibri" pitchFamily="34" charset="0"/>
                <a:ea typeface="Calibri" pitchFamily="34" charset="-122"/>
                <a:cs typeface="Calibri" pitchFamily="34" charset="-120"/>
              </a:rPr>
              <a:t>Outcome</a:t>
            </a:r>
            <a:endParaRPr lang="en-US" sz="1500" dirty="0"/>
          </a:p>
        </p:txBody>
      </p:sp>
      <p:sp>
        <p:nvSpPr>
          <p:cNvPr id="5" name="Text 3"/>
          <p:cNvSpPr/>
          <p:nvPr/>
        </p:nvSpPr>
        <p:spPr>
          <a:xfrm>
            <a:off x="731520" y="1874520"/>
            <a:ext cx="9144000" cy="1554480"/>
          </a:xfrm>
          <a:prstGeom prst="rect">
            <a:avLst/>
          </a:prstGeom>
          <a:noFill/>
          <a:ln/>
        </p:spPr>
        <p:txBody>
          <a:bodyPr wrap="square" rtlCol="0" anchor="ctr"/>
          <a:lstStyle/>
          <a:p>
            <a:pPr indent="0" marL="0">
              <a:lnSpc>
                <a:spcPts val="4200"/>
              </a:lnSpc>
              <a:buNone/>
            </a:pPr>
            <a:r>
              <a:rPr lang="en-US" sz="3800" b="1" dirty="0">
                <a:solidFill>
                  <a:srgbClr val="FFFFFF"/>
                </a:solidFill>
                <a:latin typeface="Cambria" pitchFamily="34" charset="0"/>
                <a:ea typeface="Cambria" pitchFamily="34" charset="-122"/>
                <a:cs typeface="Cambria" pitchFamily="34" charset="-120"/>
              </a:rPr>
              <a:t>Recommendation Engine</a:t>
            </a:r>
            <a:endParaRPr lang="en-US" sz="3800" dirty="0"/>
          </a:p>
          <a:p>
            <a:pPr indent="0" marL="0">
              <a:lnSpc>
                <a:spcPts val="4200"/>
              </a:lnSpc>
              <a:buNone/>
            </a:pPr>
            <a:r>
              <a:rPr lang="en-US" sz="3800" b="1" dirty="0">
                <a:solidFill>
                  <a:srgbClr val="FFFFFF"/>
                </a:solidFill>
                <a:latin typeface="Cambria" pitchFamily="34" charset="0"/>
                <a:ea typeface="Cambria" pitchFamily="34" charset="-122"/>
                <a:cs typeface="Cambria" pitchFamily="34" charset="-120"/>
              </a:rPr>
              <a:t>Fully Integrated</a:t>
            </a:r>
            <a:endParaRPr lang="en-US" sz="3800" dirty="0"/>
          </a:p>
        </p:txBody>
      </p:sp>
      <p:sp>
        <p:nvSpPr>
          <p:cNvPr id="6" name="Text 4"/>
          <p:cNvSpPr/>
          <p:nvPr/>
        </p:nvSpPr>
        <p:spPr>
          <a:xfrm>
            <a:off x="731520" y="3566160"/>
            <a:ext cx="7863840" cy="1005840"/>
          </a:xfrm>
          <a:prstGeom prst="rect">
            <a:avLst/>
          </a:prstGeom>
          <a:noFill/>
          <a:ln/>
        </p:spPr>
        <p:txBody>
          <a:bodyPr wrap="square" rtlCol="0" anchor="ctr"/>
          <a:lstStyle/>
          <a:p>
            <a:pPr indent="0" marL="0">
              <a:buNone/>
            </a:pPr>
            <a:r>
              <a:rPr lang="en-US" sz="1550" dirty="0">
                <a:solidFill>
                  <a:srgbClr val="CADCFC"/>
                </a:solidFill>
                <a:latin typeface="Calibri" pitchFamily="34" charset="0"/>
                <a:ea typeface="Calibri" pitchFamily="34" charset="-122"/>
                <a:cs typeface="Calibri" pitchFamily="34" charset="-120"/>
              </a:rPr>
              <a:t>By the end of Day 18, the system could deliver intelligent, AI-powered guidance to improve sales engagement — in real time, at every stage of the lead lifecycle.</a:t>
            </a:r>
            <a:endParaRPr lang="en-US" sz="1550" dirty="0"/>
          </a:p>
        </p:txBody>
      </p:sp>
      <p:sp>
        <p:nvSpPr>
          <p:cNvPr id="7" name="Text 5"/>
          <p:cNvSpPr/>
          <p:nvPr/>
        </p:nvSpPr>
        <p:spPr>
          <a:xfrm>
            <a:off x="731520" y="4846320"/>
            <a:ext cx="1463040" cy="731520"/>
          </a:xfrm>
          <a:prstGeom prst="rect">
            <a:avLst/>
          </a:prstGeom>
          <a:noFill/>
          <a:ln/>
        </p:spPr>
        <p:txBody>
          <a:bodyPr wrap="square" rtlCol="0" anchor="ctr"/>
          <a:lstStyle/>
          <a:p>
            <a:pPr indent="0" marL="0">
              <a:buNone/>
            </a:pPr>
            <a:r>
              <a:rPr lang="en-US" sz="4000" b="1" dirty="0">
                <a:solidFill>
                  <a:srgbClr val="00A896"/>
                </a:solidFill>
                <a:latin typeface="Cambria" pitchFamily="34" charset="0"/>
                <a:ea typeface="Cambria" pitchFamily="34" charset="-122"/>
                <a:cs typeface="Cambria" pitchFamily="34" charset="-120"/>
              </a:rPr>
              <a:t>3</a:t>
            </a:r>
            <a:endParaRPr lang="en-US" sz="4000" dirty="0"/>
          </a:p>
        </p:txBody>
      </p:sp>
      <p:sp>
        <p:nvSpPr>
          <p:cNvPr id="8" name="Text 6"/>
          <p:cNvSpPr/>
          <p:nvPr/>
        </p:nvSpPr>
        <p:spPr>
          <a:xfrm>
            <a:off x="731520" y="5532120"/>
            <a:ext cx="2377440" cy="548640"/>
          </a:xfrm>
          <a:prstGeom prst="rect">
            <a:avLst/>
          </a:prstGeom>
          <a:noFill/>
          <a:ln/>
        </p:spPr>
        <p:txBody>
          <a:bodyPr wrap="square" rtlCol="0" anchor="ctr"/>
          <a:lstStyle/>
          <a:p>
            <a:pPr indent="0" marL="0">
              <a:buNone/>
            </a:pPr>
            <a:r>
              <a:rPr lang="en-US" sz="1200" dirty="0">
                <a:solidFill>
                  <a:srgbClr val="BFEAE6"/>
                </a:solidFill>
                <a:latin typeface="Calibri" pitchFamily="34" charset="0"/>
                <a:ea typeface="Calibri" pitchFamily="34" charset="-122"/>
                <a:cs typeface="Calibri" pitchFamily="34" charset="-120"/>
              </a:rPr>
              <a:t>Recommendation Types</a:t>
            </a:r>
            <a:endParaRPr lang="en-US" sz="1200" dirty="0"/>
          </a:p>
        </p:txBody>
      </p:sp>
      <p:sp>
        <p:nvSpPr>
          <p:cNvPr id="9" name="Text 7"/>
          <p:cNvSpPr/>
          <p:nvPr/>
        </p:nvSpPr>
        <p:spPr>
          <a:xfrm>
            <a:off x="3108960" y="4846320"/>
            <a:ext cx="1463040" cy="731520"/>
          </a:xfrm>
          <a:prstGeom prst="rect">
            <a:avLst/>
          </a:prstGeom>
          <a:noFill/>
          <a:ln/>
        </p:spPr>
        <p:txBody>
          <a:bodyPr wrap="square" rtlCol="0" anchor="ctr"/>
          <a:lstStyle/>
          <a:p>
            <a:pPr indent="0" marL="0">
              <a:buNone/>
            </a:pPr>
            <a:r>
              <a:rPr lang="en-US" sz="4000" b="1" dirty="0">
                <a:solidFill>
                  <a:srgbClr val="00A896"/>
                </a:solidFill>
                <a:latin typeface="Cambria" pitchFamily="34" charset="0"/>
                <a:ea typeface="Cambria" pitchFamily="34" charset="-122"/>
                <a:cs typeface="Cambria" pitchFamily="34" charset="-120"/>
              </a:rPr>
              <a:t>3</a:t>
            </a:r>
            <a:endParaRPr lang="en-US" sz="4000" dirty="0"/>
          </a:p>
        </p:txBody>
      </p:sp>
      <p:sp>
        <p:nvSpPr>
          <p:cNvPr id="10" name="Text 8"/>
          <p:cNvSpPr/>
          <p:nvPr/>
        </p:nvSpPr>
        <p:spPr>
          <a:xfrm>
            <a:off x="3108960" y="5532120"/>
            <a:ext cx="2377440" cy="548640"/>
          </a:xfrm>
          <a:prstGeom prst="rect">
            <a:avLst/>
          </a:prstGeom>
          <a:noFill/>
          <a:ln/>
        </p:spPr>
        <p:txBody>
          <a:bodyPr wrap="square" rtlCol="0" anchor="ctr"/>
          <a:lstStyle/>
          <a:p>
            <a:pPr indent="0" marL="0">
              <a:buNone/>
            </a:pPr>
            <a:r>
              <a:rPr lang="en-US" sz="1200" dirty="0">
                <a:solidFill>
                  <a:srgbClr val="BFEAE6"/>
                </a:solidFill>
                <a:latin typeface="Calibri" pitchFamily="34" charset="0"/>
                <a:ea typeface="Calibri" pitchFamily="34" charset="-122"/>
                <a:cs typeface="Calibri" pitchFamily="34" charset="-120"/>
              </a:rPr>
              <a:t>Teams Collaborated</a:t>
            </a:r>
            <a:endParaRPr lang="en-US" sz="1200" dirty="0"/>
          </a:p>
        </p:txBody>
      </p:sp>
      <p:sp>
        <p:nvSpPr>
          <p:cNvPr id="11" name="Text 9"/>
          <p:cNvSpPr/>
          <p:nvPr/>
        </p:nvSpPr>
        <p:spPr>
          <a:xfrm>
            <a:off x="5486400" y="4846320"/>
            <a:ext cx="1463040" cy="731520"/>
          </a:xfrm>
          <a:prstGeom prst="rect">
            <a:avLst/>
          </a:prstGeom>
          <a:noFill/>
          <a:ln/>
        </p:spPr>
        <p:txBody>
          <a:bodyPr wrap="square" rtlCol="0" anchor="ctr"/>
          <a:lstStyle/>
          <a:p>
            <a:pPr indent="0" marL="0">
              <a:buNone/>
            </a:pPr>
            <a:r>
              <a:rPr lang="en-US" sz="4000" b="1" dirty="0">
                <a:solidFill>
                  <a:srgbClr val="00A896"/>
                </a:solidFill>
                <a:latin typeface="Cambria" pitchFamily="34" charset="0"/>
                <a:ea typeface="Cambria" pitchFamily="34" charset="-122"/>
                <a:cs typeface="Cambria" pitchFamily="34" charset="-120"/>
              </a:rPr>
              <a:t>1</a:t>
            </a:r>
            <a:endParaRPr lang="en-US" sz="4000" dirty="0"/>
          </a:p>
        </p:txBody>
      </p:sp>
      <p:sp>
        <p:nvSpPr>
          <p:cNvPr id="12" name="Text 10"/>
          <p:cNvSpPr/>
          <p:nvPr/>
        </p:nvSpPr>
        <p:spPr>
          <a:xfrm>
            <a:off x="5486400" y="5532120"/>
            <a:ext cx="2377440" cy="548640"/>
          </a:xfrm>
          <a:prstGeom prst="rect">
            <a:avLst/>
          </a:prstGeom>
          <a:noFill/>
          <a:ln/>
        </p:spPr>
        <p:txBody>
          <a:bodyPr wrap="square" rtlCol="0" anchor="ctr"/>
          <a:lstStyle/>
          <a:p>
            <a:pPr indent="0" marL="0">
              <a:buNone/>
            </a:pPr>
            <a:r>
              <a:rPr lang="en-US" sz="1200" dirty="0">
                <a:solidFill>
                  <a:srgbClr val="BFEAE6"/>
                </a:solidFill>
                <a:latin typeface="Calibri" pitchFamily="34" charset="0"/>
                <a:ea typeface="Calibri" pitchFamily="34" charset="-122"/>
                <a:cs typeface="Calibri" pitchFamily="34" charset="-120"/>
              </a:rPr>
              <a:t>Unified Workflow</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2026-08-07T13:32:58Z</dcterms:created>
  <dcterms:modified xsi:type="dcterms:W3CDTF">2026-08-07T13:32:58Z</dcterms:modified>
</cp:coreProperties>
</file>