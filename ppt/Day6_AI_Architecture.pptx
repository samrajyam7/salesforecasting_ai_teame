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11"/>
    <p:sldId id="262" r:id="rId13"/>
    <p:sldId id="263" r:id="rId14"/>
    <p:sldId id="264" r:id="rId15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6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  <Relationship Id="rId13" Type="http://schemas.openxmlformats.org/officeDocument/2006/relationships/slide" Target="slides/slide7.xml"/>
  <Relationship Id="rId14" Type="http://schemas.openxmlformats.org/officeDocument/2006/relationships/slide" Target="slides/slide8.xml"/>
  <Relationship Id="rId15" Type="http://schemas.openxmlformats.org/officeDocument/2006/relationships/slide" Target="slides/slide9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image" Target="../media/image-1-3.png"/><Relationship Id="rId12" Type="http://schemas.openxmlformats.org/officeDocument/2006/relationships/image" Target="../media/image-1-1.png"/><Relationship Id="rId13" Type="http://schemas.openxmlformats.org/officeDocument/2006/relationships/image" Target="../media/image-2-1.png"/><Relationship Id="rId14" Type="http://schemas.openxmlformats.org/officeDocument/2006/relationships/image" Target="../media/image-2-2.png"/><Relationship Id="rId15" Type="http://schemas.openxmlformats.org/officeDocument/2006/relationships/image" Target="../media/image-1-4.png"/><Relationship Id="rId16" Type="http://schemas.openxmlformats.org/officeDocument/2006/relationships/image" Target="../media/image-1-2.png"/><Relationship Id="rId17" Type="http://schemas.openxmlformats.org/officeDocument/2006/relationships/image" Target="../media/image-2-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image" Target="../media/image1.jpg"/><Relationship Id="rId12" Type="http://schemas.openxmlformats.org/officeDocument/2006/relationships/image" Target="../media/image2.jpg"/><Relationship Id="rId1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image" Target="../media/image1.jpg"/><Relationship Id="rId12" Type="http://schemas.openxmlformats.org/officeDocument/2006/relationships/image" Target="../media/image2.jpg"/><Relationship Id="rId1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image" Target="../media/image1.jpg"/><Relationship Id="rId12" Type="http://schemas.openxmlformats.org/officeDocument/2006/relationships/image" Target="../media/image2.jpg"/><Relationship Id="rId1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840480" cy="384048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Architecture &amp; Backend Integration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232B6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386584"/>
            <a:ext cx="91440" cy="91440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258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AI system architecture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807208"/>
            <a:ext cx="91440" cy="91440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791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backend APIs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227832"/>
            <a:ext cx="91440" cy="91440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0998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request-response communication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648456"/>
            <a:ext cx="91440" cy="91440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frontend integration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2057400"/>
            <a:ext cx="2724912" cy="4160520"/>
          </a:xfrm>
          <a:prstGeom prst="roundRect">
            <a:avLst>
              <a:gd name="adj" fmla="val 2685"/>
            </a:avLst>
          </a:prstGeom>
          <a:solidFill>
            <a:srgbClr val="232B60"/>
          </a:solidFill>
          <a:ln/>
        </p:spPr>
      </p:sp>
      <p:sp>
        <p:nvSpPr>
          <p:cNvPr id="18" name="Shape 16"/>
          <p:cNvSpPr/>
          <p:nvPr/>
        </p:nvSpPr>
        <p:spPr>
          <a:xfrm>
            <a:off x="7150608" y="2313432"/>
            <a:ext cx="585216" cy="585216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19" name="Image 0" descr="/home/claude/day6ppt/icon_serv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6686" y="2389510"/>
            <a:ext cx="433060" cy="4330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217920" y="3017520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 / Backend (Ritika)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245352" y="374904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AI API endpoints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45352" y="461772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JSON request-response contracts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548640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backend integration flow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970264" y="2057400"/>
            <a:ext cx="2724912" cy="4160520"/>
          </a:xfrm>
          <a:prstGeom prst="roundRect">
            <a:avLst>
              <a:gd name="adj" fmla="val 2685"/>
            </a:avLst>
          </a:prstGeom>
          <a:solidFill>
            <a:srgbClr val="232B60"/>
          </a:solidFill>
          <a:ln/>
        </p:spPr>
      </p:sp>
      <p:sp>
        <p:nvSpPr>
          <p:cNvPr id="25" name="Shape 22"/>
          <p:cNvSpPr/>
          <p:nvPr/>
        </p:nvSpPr>
        <p:spPr>
          <a:xfrm>
            <a:off x="10040112" y="2313432"/>
            <a:ext cx="585216" cy="585216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26" name="Image 1" descr="/home/claude/day6ppt/icon_bra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190" y="2389510"/>
            <a:ext cx="433060" cy="4330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107424" y="3017520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9134856" y="374904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LangGraph multi-agent architecture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9134856" y="461772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AI workflow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11859768" y="2057400"/>
            <a:ext cx="2724912" cy="4160520"/>
          </a:xfrm>
          <a:prstGeom prst="roundRect">
            <a:avLst>
              <a:gd name="adj" fmla="val 2685"/>
            </a:avLst>
          </a:prstGeom>
          <a:solidFill>
            <a:srgbClr val="232B60"/>
          </a:solidFill>
          <a:ln/>
        </p:spPr>
      </p:sp>
      <p:sp>
        <p:nvSpPr>
          <p:cNvPr id="31" name="Shape 27"/>
          <p:cNvSpPr/>
          <p:nvPr/>
        </p:nvSpPr>
        <p:spPr>
          <a:xfrm>
            <a:off x="12929616" y="2313432"/>
            <a:ext cx="585216" cy="585216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32" name="Image 2" descr="/home/claude/day6ppt/icon_lapto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5694" y="2389510"/>
            <a:ext cx="433060" cy="4330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1996928" y="3017520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12024360" y="374904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reusable UI components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12024360" y="461772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API integration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14749272" y="2057400"/>
            <a:ext cx="2724912" cy="4160520"/>
          </a:xfrm>
          <a:prstGeom prst="roundRect">
            <a:avLst>
              <a:gd name="adj" fmla="val 2685"/>
            </a:avLst>
          </a:prstGeom>
          <a:solidFill>
            <a:srgbClr val="232B60"/>
          </a:solidFill>
          <a:ln/>
        </p:spPr>
      </p:sp>
      <p:sp>
        <p:nvSpPr>
          <p:cNvPr id="37" name="Shape 32"/>
          <p:cNvSpPr/>
          <p:nvPr/>
        </p:nvSpPr>
        <p:spPr>
          <a:xfrm>
            <a:off x="15819120" y="2313432"/>
            <a:ext cx="585216" cy="585216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38" name="Image 3" descr="/home/claude/day6ppt/icon_clipboar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5198" y="2389510"/>
            <a:ext cx="433060" cy="4330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4886432" y="3017520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250" dirty="0"/>
          </a:p>
        </p:txBody>
      </p:sp>
      <p:sp>
        <p:nvSpPr>
          <p:cNvPr id="40" name="Text 34"/>
          <p:cNvSpPr/>
          <p:nvPr/>
        </p:nvSpPr>
        <p:spPr>
          <a:xfrm>
            <a:off x="14913864" y="374904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AI workflow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14913864" y="4617720"/>
            <a:ext cx="2395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API contracts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APIs for AI Module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exposed by FastAPI to the AI module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ay6ppt/icon_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1802740"/>
            <a:ext cx="372161" cy="37216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17320" y="1810512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0FA3B1"/>
          </a:solidFill>
          <a:ln/>
        </p:spPr>
      </p:sp>
      <p:sp>
        <p:nvSpPr>
          <p:cNvPr id="8" name="Text 5"/>
          <p:cNvSpPr/>
          <p:nvPr/>
        </p:nvSpPr>
        <p:spPr>
          <a:xfrm>
            <a:off x="1417320" y="18105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/analyze-company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Intelligence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3400" y="15087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ay6ppt/icon_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380" y="1802740"/>
            <a:ext cx="372161" cy="37216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12080" y="1810512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0FA3B1"/>
          </a:solidFill>
          <a:ln/>
        </p:spPr>
      </p:sp>
      <p:sp>
        <p:nvSpPr>
          <p:cNvPr id="15" name="Text 11"/>
          <p:cNvSpPr/>
          <p:nvPr/>
        </p:nvSpPr>
        <p:spPr>
          <a:xfrm>
            <a:off x="5212080" y="18105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/lead-score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7200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Lead Scoring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38160" y="15087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6676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day6ppt/icon_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140" y="1802740"/>
            <a:ext cx="372161" cy="372161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006840" y="1810512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0FA3B1"/>
          </a:solidFill>
          <a:ln/>
        </p:spPr>
      </p:sp>
      <p:sp>
        <p:nvSpPr>
          <p:cNvPr id="22" name="Text 17"/>
          <p:cNvSpPr/>
          <p:nvPr/>
        </p:nvSpPr>
        <p:spPr>
          <a:xfrm>
            <a:off x="9006840" y="18105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36676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/generate-email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36676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Outreach Generator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JSON COMMUNICATION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" y="41148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27" name="Text 22"/>
          <p:cNvSpPr/>
          <p:nvPr/>
        </p:nvSpPr>
        <p:spPr>
          <a:xfrm>
            <a:off x="777240" y="4279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77240" y="4663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F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"company"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"Google",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F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"industry"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"Technology"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217920" y="41148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0B1440"/>
          </a:solidFill>
          <a:ln/>
        </p:spPr>
      </p:sp>
      <p:sp>
        <p:nvSpPr>
          <p:cNvPr id="30" name="Text 25"/>
          <p:cNvSpPr/>
          <p:nvPr/>
        </p:nvSpPr>
        <p:spPr>
          <a:xfrm>
            <a:off x="6446520" y="4279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446520" y="4663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F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"lead_score"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A3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92,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F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"grade"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"A",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F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"priority"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"High"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Integration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to reveal each hop of the request lifecycle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9468" y="192024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232B60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2408" y="2057400"/>
            <a:ext cx="548640" cy="54864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6" name="Image 0" descr="/home/claude/day6ppt/icon_lapto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731" y="21287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0908" y="26700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0908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43988" y="2628900"/>
            <a:ext cx="320040" cy="0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964028" y="192024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232B60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26968" y="2057400"/>
            <a:ext cx="548640" cy="54864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12" name="Image 1" descr="/home/claude/day6ppt/icon_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291" y="212872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55468" y="26700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055468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layer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38548" y="2628900"/>
            <a:ext cx="320040" cy="0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158588" y="192024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232B60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21528" y="2057400"/>
            <a:ext cx="548640" cy="54864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18" name="Image 2" descr="/home/claude/day6ppt/icon_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51" y="2128723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50028" y="26700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LangGraph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250028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033108" y="2628900"/>
            <a:ext cx="320040" cy="0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353148" y="192024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232B60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16088" y="2057400"/>
            <a:ext cx="548640" cy="54864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24" name="Image 3" descr="/home/claude/day6ppt/icon_cod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411" y="2128723"/>
            <a:ext cx="405994" cy="40599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44588" y="26700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444588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227668" y="2628900"/>
            <a:ext cx="320040" cy="0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547708" y="192024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232B60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210648" y="2057400"/>
            <a:ext cx="548640" cy="54864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30" name="Image 4" descr="/home/claude/day6ppt/icon_cha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1971" y="2128723"/>
            <a:ext cx="405994" cy="40599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39148" y="26700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9639148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insight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472288" y="43434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232B60"/>
          </a:solidFill>
          <a:ln/>
        </p:spPr>
      </p:sp>
      <p:sp>
        <p:nvSpPr>
          <p:cNvPr id="35" name="Shape 28"/>
          <p:cNvSpPr/>
          <p:nvPr/>
        </p:nvSpPr>
        <p:spPr>
          <a:xfrm>
            <a:off x="700888" y="4553712"/>
            <a:ext cx="502920" cy="50292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36" name="Image 5" descr="/home/claude/day6ppt/icon_layer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" y="4619092"/>
            <a:ext cx="372161" cy="37216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340968" y="4553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3352648" y="43434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232B60"/>
          </a:solidFill>
          <a:ln/>
        </p:spPr>
      </p:sp>
      <p:sp>
        <p:nvSpPr>
          <p:cNvPr id="39" name="Shape 31"/>
          <p:cNvSpPr/>
          <p:nvPr/>
        </p:nvSpPr>
        <p:spPr>
          <a:xfrm>
            <a:off x="3581248" y="4553712"/>
            <a:ext cx="502920" cy="50292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40" name="Image 6" descr="/home/claude/day6ppt/icon_exchang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6627" y="4619092"/>
            <a:ext cx="372161" cy="372161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221328" y="4553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Integration</a:t>
            </a:r>
            <a:endParaRPr lang="en-US" sz="1250" dirty="0"/>
          </a:p>
        </p:txBody>
      </p:sp>
      <p:sp>
        <p:nvSpPr>
          <p:cNvPr id="42" name="Shape 33"/>
          <p:cNvSpPr/>
          <p:nvPr/>
        </p:nvSpPr>
        <p:spPr>
          <a:xfrm>
            <a:off x="6233008" y="43434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232B60"/>
          </a:solidFill>
          <a:ln/>
        </p:spPr>
      </p:sp>
      <p:sp>
        <p:nvSpPr>
          <p:cNvPr id="43" name="Shape 34"/>
          <p:cNvSpPr/>
          <p:nvPr/>
        </p:nvSpPr>
        <p:spPr>
          <a:xfrm>
            <a:off x="6461608" y="4553712"/>
            <a:ext cx="502920" cy="50292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44" name="Image 7" descr="/home/claude/day6ppt/icon_bolt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6987" y="4619092"/>
            <a:ext cx="372161" cy="372161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101688" y="4553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</a:t>
            </a:r>
            <a:endParaRPr lang="en-US" sz="1250" dirty="0"/>
          </a:p>
        </p:txBody>
      </p:sp>
      <p:sp>
        <p:nvSpPr>
          <p:cNvPr id="46" name="Shape 36"/>
          <p:cNvSpPr/>
          <p:nvPr/>
        </p:nvSpPr>
        <p:spPr>
          <a:xfrm>
            <a:off x="9113368" y="434340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232B60"/>
          </a:solidFill>
          <a:ln/>
        </p:spPr>
      </p:sp>
      <p:sp>
        <p:nvSpPr>
          <p:cNvPr id="47" name="Shape 37"/>
          <p:cNvSpPr/>
          <p:nvPr/>
        </p:nvSpPr>
        <p:spPr>
          <a:xfrm>
            <a:off x="9341968" y="4553712"/>
            <a:ext cx="502920" cy="50292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48" name="Image 8" descr="/home/claude/day6ppt/icon_cubes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7347" y="4619092"/>
            <a:ext cx="372161" cy="372161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9982048" y="4553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APIs</a:t>
            </a:r>
            <a:endParaRPr lang="en-US" sz="1250" dirty="0"/>
          </a:p>
        </p:txBody>
      </p:sp>
      <p:sp>
        <p:nvSpPr>
          <p:cNvPr id="50" name="Text 39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tip: animate these five boxes and connecting arrows to appear one-by-one in PowerPoint (Animations → Appear / Fade, click sequence) to walk the audience through Frontend → Backend → AI → Backend → Frontend.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single request travels from the UI through the AI services and back</a:t>
            </a:r>
            <a:endParaRPr lang="en-US" sz="1300" dirty="0"/>
          </a:p>
        </p:txBody>
      </p:sp>
      <p:sp>
        <p:nvSpPr>
          <p:cNvPr id="4" name="Rounded Rectangle 3"/>
          <p:cNvSpPr/>
          <p:nvPr/>
        </p:nvSpPr>
        <p:spPr>
          <a:xfrm>
            <a:off x="4596000" y="1780000"/>
            <a:ext cx="3000000" cy="560000"/>
          </a:xfrm>
          <a:prstGeom prst="roundRect">
            <a:avLst>
              <a:gd name="adj" fmla="val 12000"/>
            </a:avLst>
          </a:prstGeom>
          <a:solidFill>
            <a:srgbClr val="232B60"/>
          </a:solidFill>
          <a:ln w="12700">
            <a:solidFill>
              <a:srgbClr val="0F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66000" y="1870000"/>
            <a:ext cx="380000" cy="380000"/>
          </a:xfrm>
          <a:prstGeom prst="ellipse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8200" y="1942200"/>
            <a:ext cx="235600" cy="235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6000" y="1780000"/>
            <a:ext cx="24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Streamlit UI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6000" y="2340000"/>
            <a:ext cx="0" cy="150000"/>
          </a:xfrm>
          <a:prstGeom prst="line">
            <a:avLst/>
          </a:prstGeom>
          <a:ln w="27940">
            <a:solidFill>
              <a:srgbClr val="F9E79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96000" y="2490000"/>
            <a:ext cx="3000000" cy="560000"/>
          </a:xfrm>
          <a:prstGeom prst="roundRect">
            <a:avLst>
              <a:gd name="adj" fmla="val 12000"/>
            </a:avLst>
          </a:prstGeom>
          <a:solidFill>
            <a:srgbClr val="232B60"/>
          </a:solidFill>
          <a:ln w="12700">
            <a:solidFill>
              <a:srgbClr val="0F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6000" y="2580000"/>
            <a:ext cx="380000" cy="380000"/>
          </a:xfrm>
          <a:prstGeom prst="ellipse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8200" y="2652200"/>
            <a:ext cx="235600" cy="235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86000" y="2490000"/>
            <a:ext cx="24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FastAPI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000" y="3200000"/>
            <a:ext cx="3200000" cy="560000"/>
          </a:xfrm>
          <a:prstGeom prst="roundRect">
            <a:avLst>
              <a:gd name="adj" fmla="val 12000"/>
            </a:avLst>
          </a:prstGeom>
          <a:solidFill>
            <a:srgbClr val="232B60"/>
          </a:solidFill>
          <a:ln w="12700">
            <a:solidFill>
              <a:srgbClr val="0F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6000" y="3290000"/>
            <a:ext cx="380000" cy="380000"/>
          </a:xfrm>
          <a:prstGeom prst="ellipse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8200" y="3362200"/>
            <a:ext cx="235600" cy="235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86000" y="3200000"/>
            <a:ext cx="26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Analyze Company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6000" y="3200000"/>
            <a:ext cx="3200000" cy="560000"/>
          </a:xfrm>
          <a:prstGeom prst="roundRect">
            <a:avLst>
              <a:gd name="adj" fmla="val 12000"/>
            </a:avLst>
          </a:prstGeom>
          <a:solidFill>
            <a:srgbClr val="232B60"/>
          </a:solidFill>
          <a:ln w="12700">
            <a:solidFill>
              <a:srgbClr val="0F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66000" y="3290000"/>
            <a:ext cx="380000" cy="380000"/>
          </a:xfrm>
          <a:prstGeom prst="ellipse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8200" y="3362200"/>
            <a:ext cx="235600" cy="235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86000" y="3200000"/>
            <a:ext cx="26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Lead 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6000" y="3200000"/>
            <a:ext cx="3200000" cy="560000"/>
          </a:xfrm>
          <a:prstGeom prst="roundRect">
            <a:avLst>
              <a:gd name="adj" fmla="val 12000"/>
            </a:avLst>
          </a:prstGeom>
          <a:solidFill>
            <a:srgbClr val="232B60"/>
          </a:solidFill>
          <a:ln w="12700">
            <a:solidFill>
              <a:srgbClr val="0F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66000" y="3290000"/>
            <a:ext cx="380000" cy="380000"/>
          </a:xfrm>
          <a:prstGeom prst="ellipse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38200" y="3362200"/>
            <a:ext cx="235600" cy="235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86000" y="3200000"/>
            <a:ext cx="26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Email Generator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596000" y="3050000"/>
            <a:ext cx="3500000" cy="150000"/>
          </a:xfrm>
          <a:prstGeom prst="line">
            <a:avLst/>
          </a:prstGeom>
          <a:ln w="27940">
            <a:solidFill>
              <a:srgbClr val="F9E79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3050000"/>
            <a:ext cx="0" cy="150000"/>
          </a:xfrm>
          <a:prstGeom prst="line">
            <a:avLst/>
          </a:prstGeom>
          <a:ln w="27940">
            <a:solidFill>
              <a:srgbClr val="F9E79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6000" y="3050000"/>
            <a:ext cx="3500000" cy="150000"/>
          </a:xfrm>
          <a:prstGeom prst="line">
            <a:avLst/>
          </a:prstGeom>
          <a:ln w="27940">
            <a:solidFill>
              <a:srgbClr val="F9E79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96000" y="3760000"/>
            <a:ext cx="3500000" cy="150000"/>
          </a:xfrm>
          <a:prstGeom prst="line">
            <a:avLst/>
          </a:prstGeom>
          <a:ln w="27940">
            <a:solidFill>
              <a:srgbClr val="F9E79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6000" y="3760000"/>
            <a:ext cx="0" cy="150000"/>
          </a:xfrm>
          <a:prstGeom prst="line">
            <a:avLst/>
          </a:prstGeom>
          <a:ln w="27940">
            <a:solidFill>
              <a:srgbClr val="F9E79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096000" y="3760000"/>
            <a:ext cx="3500000" cy="150000"/>
          </a:xfrm>
          <a:prstGeom prst="line">
            <a:avLst/>
          </a:prstGeom>
          <a:ln w="27940">
            <a:solidFill>
              <a:srgbClr val="F9E79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96000" y="3910000"/>
            <a:ext cx="3000000" cy="560000"/>
          </a:xfrm>
          <a:prstGeom prst="roundRect">
            <a:avLst>
              <a:gd name="adj" fmla="val 12000"/>
            </a:avLst>
          </a:prstGeom>
          <a:solidFill>
            <a:srgbClr val="232B60"/>
          </a:solidFill>
          <a:ln w="12700">
            <a:solidFill>
              <a:srgbClr val="0F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66000" y="4000000"/>
            <a:ext cx="380000" cy="380000"/>
          </a:xfrm>
          <a:prstGeom prst="ellipse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38200" y="4072200"/>
            <a:ext cx="235600" cy="235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086000" y="3910000"/>
            <a:ext cx="24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Gemini AI API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6000" y="4470000"/>
            <a:ext cx="0" cy="150000"/>
          </a:xfrm>
          <a:prstGeom prst="line">
            <a:avLst/>
          </a:prstGeom>
          <a:ln w="27940">
            <a:solidFill>
              <a:srgbClr val="F9E79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596000" y="4620000"/>
            <a:ext cx="3000000" cy="560000"/>
          </a:xfrm>
          <a:prstGeom prst="roundRect">
            <a:avLst>
              <a:gd name="adj" fmla="val 12000"/>
            </a:avLst>
          </a:prstGeom>
          <a:solidFill>
            <a:srgbClr val="232B60"/>
          </a:solidFill>
          <a:ln w="12700">
            <a:solidFill>
              <a:srgbClr val="0F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666000" y="4710000"/>
            <a:ext cx="380000" cy="380000"/>
          </a:xfrm>
          <a:prstGeom prst="ellipse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38200" y="4782200"/>
            <a:ext cx="235600" cy="235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86000" y="4620000"/>
            <a:ext cx="24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JSON Response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96000" y="5180000"/>
            <a:ext cx="0" cy="150000"/>
          </a:xfrm>
          <a:prstGeom prst="line">
            <a:avLst/>
          </a:prstGeom>
          <a:ln w="27940">
            <a:solidFill>
              <a:srgbClr val="F9E79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596000" y="5330000"/>
            <a:ext cx="3000000" cy="560000"/>
          </a:xfrm>
          <a:prstGeom prst="roundRect">
            <a:avLst>
              <a:gd name="adj" fmla="val 12000"/>
            </a:avLst>
          </a:prstGeom>
          <a:solidFill>
            <a:srgbClr val="232B60"/>
          </a:solidFill>
          <a:ln w="12700">
            <a:solidFill>
              <a:srgbClr val="0F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66000" y="5420000"/>
            <a:ext cx="380000" cy="380000"/>
          </a:xfrm>
          <a:prstGeom prst="ellipse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8200" y="5492200"/>
            <a:ext cx="235600" cy="235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086000" y="5330000"/>
            <a:ext cx="24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Streamlit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070000"/>
            <a:ext cx="1106424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CADCFC"/>
                </a:solidFill>
                <a:latin typeface="Calibri"/>
              </a:rPr>
              <a:t>The FastAPI backend fans a request out to three specialized services, each calling Gemini AI, then returns structured JSON that Streamlit renders on the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Progress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completion snapshot across the team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1554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091672" cy="777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189988"/>
            <a:ext cx="512064" cy="512064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9" name="Image 0" descr="/home/claude/day6ppt/icon_serv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528" y="2256556"/>
            <a:ext cx="378927" cy="3789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057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Ritika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8912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AI APIs &amp; JSON Contracts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834640"/>
            <a:ext cx="11091672" cy="0"/>
          </a:xfrm>
          <a:prstGeom prst="line">
            <a:avLst/>
          </a:prstGeom>
          <a:noFill/>
          <a:ln w="12700">
            <a:solidFill>
              <a:srgbClr val="E2E7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834640"/>
            <a:ext cx="1109167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60" y="2967228"/>
            <a:ext cx="512064" cy="512064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15" name="Image 1" descr="/home/claude/day6ppt/icon_bra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28" y="3033796"/>
            <a:ext cx="378927" cy="3789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2834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Samrajyam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389120" y="2834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AI Architecture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48640" y="3611880"/>
            <a:ext cx="11091672" cy="0"/>
          </a:xfrm>
          <a:prstGeom prst="line">
            <a:avLst/>
          </a:prstGeom>
          <a:noFill/>
          <a:ln w="12700">
            <a:solidFill>
              <a:srgbClr val="E2E7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3611880"/>
            <a:ext cx="11091672" cy="777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0" name="Shape 16"/>
          <p:cNvSpPr/>
          <p:nvPr/>
        </p:nvSpPr>
        <p:spPr>
          <a:xfrm>
            <a:off x="822960" y="3744468"/>
            <a:ext cx="512064" cy="512064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21" name="Image 2" descr="/home/claude/day6ppt/icon_lapto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28" y="3811036"/>
            <a:ext cx="378927" cy="37892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Tejashwini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389120" y="36118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UI Components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12700">
            <a:solidFill>
              <a:srgbClr val="E2E7F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4389120"/>
            <a:ext cx="1109167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1"/>
          <p:cNvSpPr/>
          <p:nvPr/>
        </p:nvSpPr>
        <p:spPr>
          <a:xfrm>
            <a:off x="822960" y="4521708"/>
            <a:ext cx="512064" cy="512064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27" name="Image 3" descr="/home/claude/day6ppt/icon_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528" y="4588276"/>
            <a:ext cx="378927" cy="37892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4389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389120" y="43891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review for AI modules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548640" y="5166360"/>
            <a:ext cx="11091672" cy="0"/>
          </a:xfrm>
          <a:prstGeom prst="line">
            <a:avLst/>
          </a:prstGeom>
          <a:noFill/>
          <a:ln w="12700">
            <a:solidFill>
              <a:srgbClr val="E2E7F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48640" y="5166360"/>
            <a:ext cx="11091672" cy="777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2" name="Shape 26"/>
          <p:cNvSpPr/>
          <p:nvPr/>
        </p:nvSpPr>
        <p:spPr>
          <a:xfrm>
            <a:off x="822960" y="5298948"/>
            <a:ext cx="512064" cy="512064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33" name="Image 4" descr="/home/claude/day6ppt/icon_clipboar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528" y="5365516"/>
            <a:ext cx="378927" cy="37892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554480" y="5166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Rushikesh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4389120" y="51663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Workflow Testing</a:t>
            </a:r>
            <a:endParaRPr lang="en-US" sz="1350" dirty="0"/>
          </a:p>
        </p:txBody>
      </p:sp>
      <p:sp>
        <p:nvSpPr>
          <p:cNvPr id="36" name="Shape 29"/>
          <p:cNvSpPr/>
          <p:nvPr/>
        </p:nvSpPr>
        <p:spPr>
          <a:xfrm>
            <a:off x="548640" y="5943600"/>
            <a:ext cx="11091672" cy="0"/>
          </a:xfrm>
          <a:prstGeom prst="line">
            <a:avLst/>
          </a:prstGeom>
          <a:noFill/>
          <a:ln w="12700">
            <a:solidFill>
              <a:srgbClr val="E2E7F5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48640" y="1554480"/>
            <a:ext cx="11091672" cy="4389120"/>
          </a:xfrm>
          <a:prstGeom prst="roundRect">
            <a:avLst>
              <a:gd name="adj" fmla="val 1250"/>
            </a:avLst>
          </a:prstGeom>
          <a:ln w="15875">
            <a:solidFill>
              <a:srgbClr val="E2E7F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0000"/>
            <a:ext cx="1109472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Table Verification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0000"/>
            <a:ext cx="1109472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 confirms user records persist correctly in PostgreSQL</a:t>
            </a:r>
            <a:endParaRPr lang="en-US" sz="13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260000"/>
            <a:ext cx="1109472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9E795"/>
                </a:solidFill>
                <a:latin typeface="Calibri"/>
              </a:rPr>
              <a:t>USERS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9770" y="1680000"/>
            <a:ext cx="5772460" cy="4360000"/>
          </a:xfrm>
          <a:prstGeom prst="roundRect">
            <a:avLst>
              <a:gd name="adj" fmla="val 4000"/>
            </a:avLst>
          </a:prstGeom>
          <a:solidFill>
            <a:srgbClr val="232B60"/>
          </a:solidFill>
          <a:ln w="12700">
            <a:solidFill>
              <a:srgbClr val="0F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9770" y="1770000"/>
            <a:ext cx="5592460" cy="41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00000"/>
            <a:ext cx="1109472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CADCFC"/>
                </a:solidFill>
                <a:latin typeface="Calibri"/>
              </a:rPr>
              <a:t>SELECT * FROM users — 2 records stored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0000"/>
            <a:ext cx="1109472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 Table Verification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0000"/>
            <a:ext cx="1109472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 confirms lead records persist correctly in PostgreSQL</a:t>
            </a:r>
            <a:endParaRPr lang="en-US" sz="13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260000"/>
            <a:ext cx="1109472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9E795"/>
                </a:solidFill>
                <a:latin typeface="Calibri"/>
              </a:rPr>
              <a:t>LEADS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39215" y="1680000"/>
            <a:ext cx="8113570" cy="4360000"/>
          </a:xfrm>
          <a:prstGeom prst="roundRect">
            <a:avLst>
              <a:gd name="adj" fmla="val 4000"/>
            </a:avLst>
          </a:prstGeom>
          <a:solidFill>
            <a:srgbClr val="232B60"/>
          </a:solidFill>
          <a:ln w="12700">
            <a:solidFill>
              <a:srgbClr val="0F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29215" y="1770000"/>
            <a:ext cx="7933570" cy="41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00000"/>
            <a:ext cx="1109472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CADCFC"/>
                </a:solidFill>
                <a:latin typeface="Calibri"/>
              </a:rPr>
              <a:t>SELECT * FROM leads — 3 records captured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0000"/>
            <a:ext cx="1109472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Response Verification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0000"/>
            <a:ext cx="1109472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Swagger console verifies the /leads endpoint response</a:t>
            </a:r>
            <a:endParaRPr lang="en-US" sz="13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260000"/>
            <a:ext cx="1109472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9E795"/>
                </a:solidFill>
                <a:latin typeface="Calibri"/>
              </a:rPr>
              <a:t>API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2469" y="1680000"/>
            <a:ext cx="8267061" cy="4360000"/>
          </a:xfrm>
          <a:prstGeom prst="roundRect">
            <a:avLst>
              <a:gd name="adj" fmla="val 4000"/>
            </a:avLst>
          </a:prstGeom>
          <a:solidFill>
            <a:srgbClr val="232B60"/>
          </a:solidFill>
          <a:ln w="12700">
            <a:solidFill>
              <a:srgbClr val="0F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2469" y="1770000"/>
            <a:ext cx="8087061" cy="41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00000"/>
            <a:ext cx="1109472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CADCFC"/>
                </a:solidFill>
                <a:latin typeface="Calibri"/>
              </a:rPr>
              <a:t>GET /leads → 200 OK, JSON verified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2026-07-21T07:39:42Z</dcterms:created>
  <dcterms:modified xsi:type="dcterms:W3CDTF">2026-07-21T07:39:42Z</dcterms:modified>
</cp:coreProperties>
</file>