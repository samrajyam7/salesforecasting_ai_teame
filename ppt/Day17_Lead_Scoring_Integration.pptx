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Day 17, my responsibility was to develop the backend Lead Score API and integrate it with the AI scoring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created a FastAPI endpoint that receives lead information, communicates with the AI scoring module, and returns structured lead scores to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implemented request validation and error handling to ensure reliable API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integration allows the system to automatically evaluate leads and provide real-time scores, making it easier for the sales team to identify high-priority prospects.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Meanwhile, the AI team developed the scoring logic that generates the lead score, grade, priority, and recommendations. The frontend team prepared the Lead Score Dashboard to visualize the results, while the QA team validated the scoring accuracy by testing multiple lead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Day 17, the Lead Scoring feature was successfully integrated into the backend and ready for use throughout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Day 17, the Lead Scoring feature was successfully integrated into the backend and ready for use throughout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149840" y="640080"/>
            <a:ext cx="164592" cy="164592"/>
          </a:xfrm>
          <a:prstGeom prst="ellipse">
            <a:avLst/>
          </a:prstGeom>
          <a:solidFill>
            <a:srgbClr val="3E5CE0"/>
          </a:solidFill>
          <a:ln/>
        </p:spPr>
      </p:sp>
      <p:sp>
        <p:nvSpPr>
          <p:cNvPr id="3" name="Shape 1"/>
          <p:cNvSpPr/>
          <p:nvPr/>
        </p:nvSpPr>
        <p:spPr>
          <a:xfrm>
            <a:off x="10561320" y="960120"/>
            <a:ext cx="91440" cy="91440"/>
          </a:xfrm>
          <a:prstGeom prst="ellipse">
            <a:avLst/>
          </a:prstGeom>
          <a:solidFill>
            <a:srgbClr val="CADCFC"/>
          </a:solidFill>
          <a:ln/>
        </p:spPr>
      </p:sp>
      <p:sp>
        <p:nvSpPr>
          <p:cNvPr id="4" name="Shape 2"/>
          <p:cNvSpPr/>
          <p:nvPr/>
        </p:nvSpPr>
        <p:spPr>
          <a:xfrm>
            <a:off x="10058400" y="1143000"/>
            <a:ext cx="64008" cy="64008"/>
          </a:xfrm>
          <a:prstGeom prst="ellipse">
            <a:avLst/>
          </a:prstGeom>
          <a:solidFill>
            <a:srgbClr val="CADCFC"/>
          </a:solidFill>
          <a:ln/>
        </p:spPr>
      </p:sp>
      <p:sp>
        <p:nvSpPr>
          <p:cNvPr id="5" name="Text 3"/>
          <p:cNvSpPr/>
          <p:nvPr/>
        </p:nvSpPr>
        <p:spPr>
          <a:xfrm>
            <a:off x="822960" y="1965960"/>
            <a:ext cx="8229600" cy="365760"/>
          </a:xfrm>
          <a:prstGeom prst="rect">
            <a:avLst/>
          </a:prstGeom>
          <a:noFill/>
          <a:ln/>
        </p:spPr>
        <p:txBody>
          <a:bodyPr wrap="square" lIns="0" tIns="0" rIns="0" bIns="0" rtlCol="0" anchor="ctr"/>
          <a:lstStyle/>
          <a:p>
            <a:pPr indent="0" marL="0">
              <a:buNone/>
            </a:pPr>
            <a:r>
              <a:rPr lang="en-US" sz="1300" b="1" spc="300" kern="0" dirty="0">
                <a:solidFill>
                  <a:srgbClr val="CADCFC"/>
                </a:solidFill>
                <a:latin typeface="Calibri" pitchFamily="34" charset="0"/>
                <a:ea typeface="Calibri" pitchFamily="34" charset="-122"/>
                <a:cs typeface="Calibri" pitchFamily="34" charset="-120"/>
              </a:rPr>
              <a:t>SPRINT LOG  •  BACKEND &amp; AI INTEGRATION</a:t>
            </a:r>
            <a:endParaRPr lang="en-US" sz="1300" dirty="0"/>
          </a:p>
        </p:txBody>
      </p:sp>
      <p:sp>
        <p:nvSpPr>
          <p:cNvPr id="6" name="Text 4"/>
          <p:cNvSpPr/>
          <p:nvPr/>
        </p:nvSpPr>
        <p:spPr>
          <a:xfrm>
            <a:off x="777240" y="2377440"/>
            <a:ext cx="9875520" cy="146304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Day 17 — Lead Scoring Integration</a:t>
            </a:r>
            <a:endParaRPr lang="en-US" sz="4400" dirty="0"/>
          </a:p>
        </p:txBody>
      </p:sp>
      <p:sp>
        <p:nvSpPr>
          <p:cNvPr id="7" name="Text 5"/>
          <p:cNvSpPr/>
          <p:nvPr/>
        </p:nvSpPr>
        <p:spPr>
          <a:xfrm>
            <a:off x="822960" y="3703320"/>
            <a:ext cx="7863840" cy="82296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Building the backend Lead Score API and wiring it into the AI qualification engine for real-time, automated lead prioritization.</a:t>
            </a:r>
            <a:endParaRPr lang="en-US" sz="1500" dirty="0"/>
          </a:p>
        </p:txBody>
      </p:sp>
      <p:sp>
        <p:nvSpPr>
          <p:cNvPr id="8" name="Shape 6"/>
          <p:cNvSpPr/>
          <p:nvPr/>
        </p:nvSpPr>
        <p:spPr>
          <a:xfrm>
            <a:off x="822960" y="4709160"/>
            <a:ext cx="2926080" cy="0"/>
          </a:xfrm>
          <a:prstGeom prst="line">
            <a:avLst/>
          </a:prstGeom>
          <a:noFill/>
          <a:ln w="31750">
            <a:solidFill>
              <a:srgbClr val="3E5CE0"/>
            </a:solidFill>
            <a:prstDash val="solid"/>
          </a:ln>
        </p:spPr>
      </p:sp>
      <p:sp>
        <p:nvSpPr>
          <p:cNvPr id="9" name="Text 7"/>
          <p:cNvSpPr/>
          <p:nvPr/>
        </p:nvSpPr>
        <p:spPr>
          <a:xfrm>
            <a:off x="822960" y="4892040"/>
            <a:ext cx="822960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FastAPI  </a:t>
            </a:r>
            <a:pPr indent="0" marL="0">
              <a:buNone/>
            </a:pPr>
            <a:r>
              <a:rPr lang="en-US" sz="1250" dirty="0">
                <a:solidFill>
                  <a:srgbClr val="CADCFC"/>
                </a:solidFill>
                <a:latin typeface="Calibri" pitchFamily="34" charset="0"/>
                <a:ea typeface="Calibri" pitchFamily="34" charset="-122"/>
                <a:cs typeface="Calibri" pitchFamily="34" charset="-120"/>
              </a:rPr>
              <a:t>•  AI Scoring Module  •  Dashboard Integration</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indent="0" marL="0">
              <a:buNone/>
            </a:pPr>
            <a:r>
              <a:rPr lang="en-US" sz="1200" b="1" spc="300" kern="0" dirty="0">
                <a:solidFill>
                  <a:srgbClr val="3E5CE0"/>
                </a:solidFill>
                <a:latin typeface="Calibri" pitchFamily="34" charset="0"/>
                <a:ea typeface="Calibri" pitchFamily="34" charset="-122"/>
                <a:cs typeface="Calibri" pitchFamily="34" charset="-120"/>
              </a:rPr>
              <a:t>OBJECTIVE</a:t>
            </a:r>
            <a:endParaRPr lang="en-US" sz="1200" dirty="0"/>
          </a:p>
        </p:txBody>
      </p:sp>
      <p:sp>
        <p:nvSpPr>
          <p:cNvPr id="3" name="Text 1"/>
          <p:cNvSpPr/>
          <p:nvPr/>
        </p:nvSpPr>
        <p:spPr>
          <a:xfrm>
            <a:off x="640080" y="822960"/>
            <a:ext cx="8686800" cy="822960"/>
          </a:xfrm>
          <a:prstGeom prst="rect">
            <a:avLst/>
          </a:prstGeom>
          <a:noFill/>
          <a:ln/>
        </p:spPr>
        <p:txBody>
          <a:bodyPr wrap="square" lIns="0" tIns="0" rIns="0" bIns="0" rtlCol="0" anchor="ctr"/>
          <a:lstStyle/>
          <a:p>
            <a:pPr indent="0" marL="0">
              <a:buNone/>
            </a:pPr>
            <a:r>
              <a:rPr lang="en-US" sz="2800" b="1" dirty="0">
                <a:solidFill>
                  <a:srgbClr val="1F2333"/>
                </a:solidFill>
                <a:latin typeface="Cambria" pitchFamily="34" charset="0"/>
                <a:ea typeface="Cambria" pitchFamily="34" charset="-122"/>
                <a:cs typeface="Cambria" pitchFamily="34" charset="-120"/>
              </a:rPr>
              <a:t>Turn lead qualification into a real-time, automated pipeline</a:t>
            </a:r>
            <a:endParaRPr lang="en-US" sz="2800" dirty="0"/>
          </a:p>
        </p:txBody>
      </p:sp>
      <p:sp>
        <p:nvSpPr>
          <p:cNvPr id="4" name="Shape 2"/>
          <p:cNvSpPr/>
          <p:nvPr/>
        </p:nvSpPr>
        <p:spPr>
          <a:xfrm>
            <a:off x="640080" y="1965960"/>
            <a:ext cx="5486400" cy="4114800"/>
          </a:xfrm>
          <a:prstGeom prst="roundRect">
            <a:avLst>
              <a:gd name="adj" fmla="val 2667"/>
            </a:avLst>
          </a:prstGeom>
          <a:solidFill>
            <a:srgbClr val="F4F6FC"/>
          </a:solidFill>
          <a:ln/>
        </p:spPr>
      </p:sp>
      <p:sp>
        <p:nvSpPr>
          <p:cNvPr id="5" name="Shape 3"/>
          <p:cNvSpPr/>
          <p:nvPr/>
        </p:nvSpPr>
        <p:spPr>
          <a:xfrm>
            <a:off x="914400" y="2286000"/>
            <a:ext cx="640080" cy="640080"/>
          </a:xfrm>
          <a:prstGeom prst="ellipse">
            <a:avLst/>
          </a:prstGeom>
          <a:solidFill>
            <a:srgbClr val="1E2761"/>
          </a:solidFill>
          <a:ln/>
        </p:spPr>
      </p:sp>
      <p:sp>
        <p:nvSpPr>
          <p:cNvPr id="6" name="Text 4"/>
          <p:cNvSpPr/>
          <p:nvPr/>
        </p:nvSpPr>
        <p:spPr>
          <a:xfrm>
            <a:off x="914400" y="2286000"/>
            <a:ext cx="640080" cy="640080"/>
          </a:xfrm>
          <a:prstGeom prst="rect">
            <a:avLst/>
          </a:prstGeom>
          <a:noFill/>
          <a:ln/>
        </p:spPr>
        <p:txBody>
          <a:bodyPr wrap="square" lIns="0" tIns="0" rIns="0" bIns="0" rtlCol="0" anchor="ctr"/>
          <a:lstStyle/>
          <a:p>
            <a:pPr algn="ctr" indent="0" marL="0">
              <a:buNone/>
            </a:pPr>
            <a:r>
              <a:rPr lang="en-US" sz="2240" b="1" dirty="0">
                <a:solidFill>
                  <a:srgbClr val="FFFFFF"/>
                </a:solidFill>
                <a:latin typeface="Calibri" pitchFamily="34" charset="0"/>
                <a:ea typeface="Calibri" pitchFamily="34" charset="-122"/>
                <a:cs typeface="Calibri" pitchFamily="34" charset="-120"/>
              </a:rPr>
              <a:t>🎯</a:t>
            </a:r>
            <a:endParaRPr lang="en-US" sz="2240" dirty="0"/>
          </a:p>
        </p:txBody>
      </p:sp>
      <p:sp>
        <p:nvSpPr>
          <p:cNvPr id="7" name="Text 5"/>
          <p:cNvSpPr/>
          <p:nvPr/>
        </p:nvSpPr>
        <p:spPr>
          <a:xfrm>
            <a:off x="960120" y="3063240"/>
            <a:ext cx="4846320" cy="2743200"/>
          </a:xfrm>
          <a:prstGeom prst="rect">
            <a:avLst/>
          </a:prstGeom>
          <a:noFill/>
          <a:ln/>
        </p:spPr>
        <p:txBody>
          <a:bodyPr wrap="square" lIns="0" tIns="0" rIns="0" bIns="0" rtlCol="0" anchor="t"/>
          <a:lstStyle/>
          <a:p>
            <a:pPr indent="0" marL="0">
              <a:lnSpc>
                <a:spcPct val="125000"/>
              </a:lnSpc>
              <a:buNone/>
            </a:pPr>
            <a:r>
              <a:rPr lang="en-US" sz="1550" dirty="0">
                <a:solidFill>
                  <a:srgbClr val="1F2333"/>
                </a:solidFill>
                <a:latin typeface="Calibri" pitchFamily="34" charset="0"/>
                <a:ea typeface="Calibri" pitchFamily="34" charset="-122"/>
                <a:cs typeface="Calibri" pitchFamily="34" charset="-120"/>
              </a:rPr>
              <a:t>Develop the backend API for lead scoring and integrate it with the AI-powered qualification engine to automatically evaluate and prioritize leads.</a:t>
            </a:r>
            <a:endParaRPr lang="en-US" sz="1550" dirty="0"/>
          </a:p>
        </p:txBody>
      </p:sp>
      <p:sp>
        <p:nvSpPr>
          <p:cNvPr id="8" name="Text 6"/>
          <p:cNvSpPr/>
          <p:nvPr/>
        </p:nvSpPr>
        <p:spPr>
          <a:xfrm>
            <a:off x="6492240" y="1965960"/>
            <a:ext cx="822960" cy="548640"/>
          </a:xfrm>
          <a:prstGeom prst="rect">
            <a:avLst/>
          </a:prstGeom>
          <a:noFill/>
          <a:ln/>
        </p:spPr>
        <p:txBody>
          <a:bodyPr wrap="square" lIns="0" tIns="0" rIns="0" bIns="0" rtlCol="0" anchor="ctr"/>
          <a:lstStyle/>
          <a:p>
            <a:pPr indent="0" marL="0">
              <a:buNone/>
            </a:pPr>
            <a:r>
              <a:rPr lang="en-US" sz="2200" b="1" dirty="0">
                <a:solidFill>
                  <a:srgbClr val="CADCFC"/>
                </a:solidFill>
                <a:latin typeface="Cambria" pitchFamily="34" charset="0"/>
                <a:ea typeface="Cambria" pitchFamily="34" charset="-122"/>
                <a:cs typeface="Cambria" pitchFamily="34" charset="-120"/>
              </a:rPr>
              <a:t>01</a:t>
            </a:r>
            <a:endParaRPr lang="en-US" sz="2200" dirty="0"/>
          </a:p>
        </p:txBody>
      </p:sp>
      <p:sp>
        <p:nvSpPr>
          <p:cNvPr id="9" name="Text 7"/>
          <p:cNvSpPr/>
          <p:nvPr/>
        </p:nvSpPr>
        <p:spPr>
          <a:xfrm>
            <a:off x="7178040" y="1965960"/>
            <a:ext cx="4206240" cy="32004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Automated</a:t>
            </a:r>
            <a:endParaRPr lang="en-US" sz="1600" dirty="0"/>
          </a:p>
        </p:txBody>
      </p:sp>
      <p:sp>
        <p:nvSpPr>
          <p:cNvPr id="10" name="Text 8"/>
          <p:cNvSpPr/>
          <p:nvPr/>
        </p:nvSpPr>
        <p:spPr>
          <a:xfrm>
            <a:off x="7178040" y="2295144"/>
            <a:ext cx="4206240" cy="548640"/>
          </a:xfrm>
          <a:prstGeom prst="rect">
            <a:avLst/>
          </a:prstGeom>
          <a:noFill/>
          <a:ln/>
        </p:spPr>
        <p:txBody>
          <a:bodyPr wrap="square" lIns="0" tIns="0" rIns="0" bIns="0" rtlCol="0" anchor="ctr"/>
          <a:lstStyle/>
          <a:p>
            <a:pPr indent="0" marL="0">
              <a:buNone/>
            </a:pPr>
            <a:r>
              <a:rPr lang="en-US" sz="1250" dirty="0">
                <a:solidFill>
                  <a:srgbClr val="6E7591"/>
                </a:solidFill>
                <a:latin typeface="Calibri" pitchFamily="34" charset="0"/>
                <a:ea typeface="Calibri" pitchFamily="34" charset="-122"/>
                <a:cs typeface="Calibri" pitchFamily="34" charset="-120"/>
              </a:rPr>
              <a:t>Scores calculated instantly instead of manual review</a:t>
            </a:r>
            <a:endParaRPr lang="en-US" sz="1250" dirty="0"/>
          </a:p>
        </p:txBody>
      </p:sp>
      <p:sp>
        <p:nvSpPr>
          <p:cNvPr id="11" name="Text 9"/>
          <p:cNvSpPr/>
          <p:nvPr/>
        </p:nvSpPr>
        <p:spPr>
          <a:xfrm>
            <a:off x="6492240" y="3291840"/>
            <a:ext cx="822960" cy="548640"/>
          </a:xfrm>
          <a:prstGeom prst="rect">
            <a:avLst/>
          </a:prstGeom>
          <a:noFill/>
          <a:ln/>
        </p:spPr>
        <p:txBody>
          <a:bodyPr wrap="square" lIns="0" tIns="0" rIns="0" bIns="0" rtlCol="0" anchor="ctr"/>
          <a:lstStyle/>
          <a:p>
            <a:pPr indent="0" marL="0">
              <a:buNone/>
            </a:pPr>
            <a:r>
              <a:rPr lang="en-US" sz="2200" b="1" dirty="0">
                <a:solidFill>
                  <a:srgbClr val="CADCFC"/>
                </a:solidFill>
                <a:latin typeface="Cambria" pitchFamily="34" charset="0"/>
                <a:ea typeface="Cambria" pitchFamily="34" charset="-122"/>
                <a:cs typeface="Cambria" pitchFamily="34" charset="-120"/>
              </a:rPr>
              <a:t>02</a:t>
            </a:r>
            <a:endParaRPr lang="en-US" sz="2200" dirty="0"/>
          </a:p>
        </p:txBody>
      </p:sp>
      <p:sp>
        <p:nvSpPr>
          <p:cNvPr id="12" name="Text 10"/>
          <p:cNvSpPr/>
          <p:nvPr/>
        </p:nvSpPr>
        <p:spPr>
          <a:xfrm>
            <a:off x="7178040" y="3291840"/>
            <a:ext cx="4206240" cy="32004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Real-time</a:t>
            </a:r>
            <a:endParaRPr lang="en-US" sz="1600" dirty="0"/>
          </a:p>
        </p:txBody>
      </p:sp>
      <p:sp>
        <p:nvSpPr>
          <p:cNvPr id="13" name="Text 11"/>
          <p:cNvSpPr/>
          <p:nvPr/>
        </p:nvSpPr>
        <p:spPr>
          <a:xfrm>
            <a:off x="7178040" y="3621024"/>
            <a:ext cx="4206240" cy="548640"/>
          </a:xfrm>
          <a:prstGeom prst="rect">
            <a:avLst/>
          </a:prstGeom>
          <a:noFill/>
          <a:ln/>
        </p:spPr>
        <p:txBody>
          <a:bodyPr wrap="square" lIns="0" tIns="0" rIns="0" bIns="0" rtlCol="0" anchor="ctr"/>
          <a:lstStyle/>
          <a:p>
            <a:pPr indent="0" marL="0">
              <a:buNone/>
            </a:pPr>
            <a:r>
              <a:rPr lang="en-US" sz="1250" dirty="0">
                <a:solidFill>
                  <a:srgbClr val="6E7591"/>
                </a:solidFill>
                <a:latin typeface="Calibri" pitchFamily="34" charset="0"/>
                <a:ea typeface="Calibri" pitchFamily="34" charset="-122"/>
                <a:cs typeface="Calibri" pitchFamily="34" charset="-120"/>
              </a:rPr>
              <a:t>Backend delivers live scores to the application</a:t>
            </a:r>
            <a:endParaRPr lang="en-US" sz="1250" dirty="0"/>
          </a:p>
        </p:txBody>
      </p:sp>
      <p:sp>
        <p:nvSpPr>
          <p:cNvPr id="14" name="Text 12"/>
          <p:cNvSpPr/>
          <p:nvPr/>
        </p:nvSpPr>
        <p:spPr>
          <a:xfrm>
            <a:off x="6492240" y="4617720"/>
            <a:ext cx="822960" cy="548640"/>
          </a:xfrm>
          <a:prstGeom prst="rect">
            <a:avLst/>
          </a:prstGeom>
          <a:noFill/>
          <a:ln/>
        </p:spPr>
        <p:txBody>
          <a:bodyPr wrap="square" lIns="0" tIns="0" rIns="0" bIns="0" rtlCol="0" anchor="ctr"/>
          <a:lstStyle/>
          <a:p>
            <a:pPr indent="0" marL="0">
              <a:buNone/>
            </a:pPr>
            <a:r>
              <a:rPr lang="en-US" sz="2200" b="1" dirty="0">
                <a:solidFill>
                  <a:srgbClr val="CADCFC"/>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7178040" y="4617720"/>
            <a:ext cx="4206240" cy="32004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Actionable</a:t>
            </a:r>
            <a:endParaRPr lang="en-US" sz="1600" dirty="0"/>
          </a:p>
        </p:txBody>
      </p:sp>
      <p:sp>
        <p:nvSpPr>
          <p:cNvPr id="16" name="Text 14"/>
          <p:cNvSpPr/>
          <p:nvPr/>
        </p:nvSpPr>
        <p:spPr>
          <a:xfrm>
            <a:off x="7178040" y="4946904"/>
            <a:ext cx="4206240" cy="548640"/>
          </a:xfrm>
          <a:prstGeom prst="rect">
            <a:avLst/>
          </a:prstGeom>
          <a:noFill/>
          <a:ln/>
        </p:spPr>
        <p:txBody>
          <a:bodyPr wrap="square" lIns="0" tIns="0" rIns="0" bIns="0" rtlCol="0" anchor="ctr"/>
          <a:lstStyle/>
          <a:p>
            <a:pPr indent="0" marL="0">
              <a:buNone/>
            </a:pPr>
            <a:r>
              <a:rPr lang="en-US" sz="1250" dirty="0">
                <a:solidFill>
                  <a:srgbClr val="6E7591"/>
                </a:solidFill>
                <a:latin typeface="Calibri" pitchFamily="34" charset="0"/>
                <a:ea typeface="Calibri" pitchFamily="34" charset="-122"/>
                <a:cs typeface="Calibri" pitchFamily="34" charset="-120"/>
              </a:rPr>
              <a:t>Grade, priority &amp; recommendations feed sales decisions</a:t>
            </a:r>
            <a:endParaRPr lang="en-US" sz="1250" dirty="0"/>
          </a:p>
        </p:txBody>
      </p:sp>
      <p:sp>
        <p:nvSpPr>
          <p:cNvPr id="17" name="Text 15"/>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6E7591"/>
                </a:solidFill>
                <a:latin typeface="Calibri" pitchFamily="34" charset="0"/>
                <a:ea typeface="Calibri" pitchFamily="34" charset="-122"/>
                <a:cs typeface="Calibri" pitchFamily="34" charset="-120"/>
              </a:rPr>
              <a:t>Lead Scoring Integration</a:t>
            </a:r>
            <a:endParaRPr lang="en-US" sz="1000" dirty="0"/>
          </a:p>
        </p:txBody>
      </p:sp>
      <p:sp>
        <p:nvSpPr>
          <p:cNvPr id="18" name="Text 16"/>
          <p:cNvSpPr/>
          <p:nvPr/>
        </p:nvSpPr>
        <p:spPr>
          <a:xfrm>
            <a:off x="9902952" y="6446520"/>
            <a:ext cx="1828800" cy="274320"/>
          </a:xfrm>
          <a:prstGeom prst="rect">
            <a:avLst/>
          </a:prstGeom>
          <a:noFill/>
          <a:ln/>
        </p:spPr>
        <p:txBody>
          <a:bodyPr wrap="square" lIns="0" tIns="0" rIns="0" bIns="0" rtlCol="0" anchor="ctr"/>
          <a:lstStyle/>
          <a:p>
            <a:pPr algn="r" indent="0" marL="0">
              <a:buNone/>
            </a:pPr>
            <a:r>
              <a:rPr lang="en-US" sz="1000" dirty="0">
                <a:solidFill>
                  <a:srgbClr val="6E7591"/>
                </a:solidFill>
                <a:latin typeface="Calibri" pitchFamily="34" charset="0"/>
                <a:ea typeface="Calibri" pitchFamily="34" charset="-122"/>
                <a:cs typeface="Calibri" pitchFamily="34" charset="-120"/>
              </a:rPr>
              <a:t>Day 17</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indent="0" marL="0">
              <a:buNone/>
            </a:pPr>
            <a:r>
              <a:rPr lang="en-US" sz="1200" b="1" spc="300" kern="0" dirty="0">
                <a:solidFill>
                  <a:srgbClr val="3E5CE0"/>
                </a:solidFill>
                <a:latin typeface="Calibri" pitchFamily="34" charset="0"/>
                <a:ea typeface="Calibri" pitchFamily="34" charset="-122"/>
                <a:cs typeface="Calibri" pitchFamily="34" charset="-120"/>
              </a:rPr>
              <a:t>MY WORK</a:t>
            </a:r>
            <a:endParaRPr lang="en-US" sz="1200" dirty="0"/>
          </a:p>
        </p:txBody>
      </p:sp>
      <p:sp>
        <p:nvSpPr>
          <p:cNvPr id="3" name="Text 1"/>
          <p:cNvSpPr/>
          <p:nvPr/>
        </p:nvSpPr>
        <p:spPr>
          <a:xfrm>
            <a:off x="640080" y="822960"/>
            <a:ext cx="8686800" cy="640080"/>
          </a:xfrm>
          <a:prstGeom prst="rect">
            <a:avLst/>
          </a:prstGeom>
          <a:noFill/>
          <a:ln/>
        </p:spPr>
        <p:txBody>
          <a:bodyPr wrap="square" lIns="0" tIns="0" rIns="0" bIns="0" rtlCol="0" anchor="ctr"/>
          <a:lstStyle/>
          <a:p>
            <a:pPr indent="0" marL="0">
              <a:buNone/>
            </a:pPr>
            <a:r>
              <a:rPr lang="en-US" sz="2800" b="1" dirty="0">
                <a:solidFill>
                  <a:srgbClr val="1F2333"/>
                </a:solidFill>
                <a:latin typeface="Cambria" pitchFamily="34" charset="0"/>
                <a:ea typeface="Cambria" pitchFamily="34" charset="-122"/>
                <a:cs typeface="Cambria" pitchFamily="34" charset="-120"/>
              </a:rPr>
              <a:t>What I built on the backend</a:t>
            </a:r>
            <a:endParaRPr lang="en-US" sz="2800" dirty="0"/>
          </a:p>
        </p:txBody>
      </p:sp>
      <p:sp>
        <p:nvSpPr>
          <p:cNvPr id="4" name="Shape 2"/>
          <p:cNvSpPr/>
          <p:nvPr/>
        </p:nvSpPr>
        <p:spPr>
          <a:xfrm>
            <a:off x="640080" y="1874520"/>
            <a:ext cx="3520440" cy="1920240"/>
          </a:xfrm>
          <a:prstGeom prst="roundRect">
            <a:avLst>
              <a:gd name="adj" fmla="val 4762"/>
            </a:avLst>
          </a:prstGeom>
          <a:solidFill>
            <a:srgbClr val="F4F6FC"/>
          </a:solidFill>
          <a:ln/>
        </p:spPr>
      </p:sp>
      <p:sp>
        <p:nvSpPr>
          <p:cNvPr id="5" name="Shape 3"/>
          <p:cNvSpPr/>
          <p:nvPr/>
        </p:nvSpPr>
        <p:spPr>
          <a:xfrm>
            <a:off x="859536" y="2093976"/>
            <a:ext cx="566928" cy="566928"/>
          </a:xfrm>
          <a:prstGeom prst="ellipse">
            <a:avLst/>
          </a:prstGeom>
          <a:solidFill>
            <a:srgbClr val="1E2761"/>
          </a:solidFill>
          <a:ln/>
        </p:spPr>
      </p:sp>
      <p:sp>
        <p:nvSpPr>
          <p:cNvPr id="6" name="Text 4"/>
          <p:cNvSpPr/>
          <p:nvPr/>
        </p:nvSpPr>
        <p:spPr>
          <a:xfrm>
            <a:off x="859536" y="2093976"/>
            <a:ext cx="566928" cy="566928"/>
          </a:xfrm>
          <a:prstGeom prst="rect">
            <a:avLst/>
          </a:prstGeom>
          <a:noFill/>
          <a:ln/>
        </p:spPr>
        <p:txBody>
          <a:bodyPr wrap="square" lIns="0" tIns="0" rIns="0" bIns="0" rtlCol="0" anchor="ctr"/>
          <a:lstStyle/>
          <a:p>
            <a:pPr algn="ctr" indent="0" marL="0">
              <a:buNone/>
            </a:pPr>
            <a:r>
              <a:rPr lang="en-US" sz="1984" b="1" dirty="0">
                <a:solidFill>
                  <a:srgbClr val="FFFFFF"/>
                </a:solidFill>
                <a:latin typeface="Calibri" pitchFamily="34" charset="0"/>
                <a:ea typeface="Calibri" pitchFamily="34" charset="-122"/>
                <a:cs typeface="Calibri" pitchFamily="34" charset="-120"/>
              </a:rPr>
              <a:t>🧩</a:t>
            </a:r>
            <a:endParaRPr lang="en-US" sz="1984" dirty="0"/>
          </a:p>
        </p:txBody>
      </p:sp>
      <p:sp>
        <p:nvSpPr>
          <p:cNvPr id="7" name="Text 5"/>
          <p:cNvSpPr/>
          <p:nvPr/>
        </p:nvSpPr>
        <p:spPr>
          <a:xfrm>
            <a:off x="868680" y="2770632"/>
            <a:ext cx="306324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Lead Score API</a:t>
            </a:r>
            <a:endParaRPr lang="en-US" sz="1400" dirty="0"/>
          </a:p>
        </p:txBody>
      </p:sp>
      <p:sp>
        <p:nvSpPr>
          <p:cNvPr id="8" name="Text 6"/>
          <p:cNvSpPr/>
          <p:nvPr/>
        </p:nvSpPr>
        <p:spPr>
          <a:xfrm>
            <a:off x="868680" y="3118104"/>
            <a:ext cx="3063240" cy="594360"/>
          </a:xfrm>
          <a:prstGeom prst="rect">
            <a:avLst/>
          </a:prstGeom>
          <a:noFill/>
          <a:ln/>
        </p:spPr>
        <p:txBody>
          <a:bodyPr wrap="square" lIns="0" tIns="0" rIns="0" bIns="0" rtlCol="0" anchor="ctr"/>
          <a:lstStyle/>
          <a:p>
            <a:pPr indent="0" marL="0">
              <a:lnSpc>
                <a:spcPct val="115000"/>
              </a:lnSpc>
              <a:buNone/>
            </a:pPr>
            <a:r>
              <a:rPr lang="en-US" sz="1150" dirty="0">
                <a:solidFill>
                  <a:srgbClr val="6E7591"/>
                </a:solidFill>
                <a:latin typeface="Calibri" pitchFamily="34" charset="0"/>
                <a:ea typeface="Calibri" pitchFamily="34" charset="-122"/>
                <a:cs typeface="Calibri" pitchFamily="34" charset="-120"/>
              </a:rPr>
              <a:t>Developed the Lead Score API in the backend.</a:t>
            </a:r>
            <a:endParaRPr lang="en-US" sz="1150" dirty="0"/>
          </a:p>
        </p:txBody>
      </p:sp>
      <p:sp>
        <p:nvSpPr>
          <p:cNvPr id="9" name="Shape 7"/>
          <p:cNvSpPr/>
          <p:nvPr/>
        </p:nvSpPr>
        <p:spPr>
          <a:xfrm>
            <a:off x="4480560" y="1874520"/>
            <a:ext cx="3520440" cy="1920240"/>
          </a:xfrm>
          <a:prstGeom prst="roundRect">
            <a:avLst>
              <a:gd name="adj" fmla="val 4762"/>
            </a:avLst>
          </a:prstGeom>
          <a:solidFill>
            <a:srgbClr val="F4F6FC"/>
          </a:solidFill>
          <a:ln/>
        </p:spPr>
      </p:sp>
      <p:sp>
        <p:nvSpPr>
          <p:cNvPr id="10" name="Shape 8"/>
          <p:cNvSpPr/>
          <p:nvPr/>
        </p:nvSpPr>
        <p:spPr>
          <a:xfrm>
            <a:off x="4700016" y="2093976"/>
            <a:ext cx="566928" cy="566928"/>
          </a:xfrm>
          <a:prstGeom prst="ellipse">
            <a:avLst/>
          </a:prstGeom>
          <a:solidFill>
            <a:srgbClr val="1E2761"/>
          </a:solidFill>
          <a:ln/>
        </p:spPr>
      </p:sp>
      <p:sp>
        <p:nvSpPr>
          <p:cNvPr id="11" name="Text 9"/>
          <p:cNvSpPr/>
          <p:nvPr/>
        </p:nvSpPr>
        <p:spPr>
          <a:xfrm>
            <a:off x="4700016" y="2093976"/>
            <a:ext cx="566928" cy="566928"/>
          </a:xfrm>
          <a:prstGeom prst="rect">
            <a:avLst/>
          </a:prstGeom>
          <a:noFill/>
          <a:ln/>
        </p:spPr>
        <p:txBody>
          <a:bodyPr wrap="square" lIns="0" tIns="0" rIns="0" bIns="0" rtlCol="0" anchor="ctr"/>
          <a:lstStyle/>
          <a:p>
            <a:pPr algn="ctr" indent="0" marL="0">
              <a:buNone/>
            </a:pPr>
            <a:r>
              <a:rPr lang="en-US" sz="1984" b="1" dirty="0">
                <a:solidFill>
                  <a:srgbClr val="FFFFFF"/>
                </a:solidFill>
                <a:latin typeface="Calibri" pitchFamily="34" charset="0"/>
                <a:ea typeface="Calibri" pitchFamily="34" charset="-122"/>
                <a:cs typeface="Calibri" pitchFamily="34" charset="-120"/>
              </a:rPr>
              <a:t>🔗</a:t>
            </a:r>
            <a:endParaRPr lang="en-US" sz="1984" dirty="0"/>
          </a:p>
        </p:txBody>
      </p:sp>
      <p:sp>
        <p:nvSpPr>
          <p:cNvPr id="12" name="Text 10"/>
          <p:cNvSpPr/>
          <p:nvPr/>
        </p:nvSpPr>
        <p:spPr>
          <a:xfrm>
            <a:off x="4709160" y="2770632"/>
            <a:ext cx="306324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AI Module Integration</a:t>
            </a:r>
            <a:endParaRPr lang="en-US" sz="1400" dirty="0"/>
          </a:p>
        </p:txBody>
      </p:sp>
      <p:sp>
        <p:nvSpPr>
          <p:cNvPr id="13" name="Text 11"/>
          <p:cNvSpPr/>
          <p:nvPr/>
        </p:nvSpPr>
        <p:spPr>
          <a:xfrm>
            <a:off x="4709160" y="3118104"/>
            <a:ext cx="3063240" cy="594360"/>
          </a:xfrm>
          <a:prstGeom prst="rect">
            <a:avLst/>
          </a:prstGeom>
          <a:noFill/>
          <a:ln/>
        </p:spPr>
        <p:txBody>
          <a:bodyPr wrap="square" lIns="0" tIns="0" rIns="0" bIns="0" rtlCol="0" anchor="ctr"/>
          <a:lstStyle/>
          <a:p>
            <a:pPr indent="0" marL="0">
              <a:lnSpc>
                <a:spcPct val="115000"/>
              </a:lnSpc>
              <a:buNone/>
            </a:pPr>
            <a:r>
              <a:rPr lang="en-US" sz="1150" dirty="0">
                <a:solidFill>
                  <a:srgbClr val="6E7591"/>
                </a:solidFill>
                <a:latin typeface="Calibri" pitchFamily="34" charset="0"/>
                <a:ea typeface="Calibri" pitchFamily="34" charset="-122"/>
                <a:cs typeface="Calibri" pitchFamily="34" charset="-120"/>
              </a:rPr>
              <a:t>Integrated the backend with the AI scoring module.</a:t>
            </a:r>
            <a:endParaRPr lang="en-US" sz="1150" dirty="0"/>
          </a:p>
        </p:txBody>
      </p:sp>
      <p:sp>
        <p:nvSpPr>
          <p:cNvPr id="14" name="Shape 12"/>
          <p:cNvSpPr/>
          <p:nvPr/>
        </p:nvSpPr>
        <p:spPr>
          <a:xfrm>
            <a:off x="8321040" y="1874520"/>
            <a:ext cx="3520440" cy="1920240"/>
          </a:xfrm>
          <a:prstGeom prst="roundRect">
            <a:avLst>
              <a:gd name="adj" fmla="val 4762"/>
            </a:avLst>
          </a:prstGeom>
          <a:solidFill>
            <a:srgbClr val="F4F6FC"/>
          </a:solidFill>
          <a:ln/>
        </p:spPr>
      </p:sp>
      <p:sp>
        <p:nvSpPr>
          <p:cNvPr id="15" name="Shape 13"/>
          <p:cNvSpPr/>
          <p:nvPr/>
        </p:nvSpPr>
        <p:spPr>
          <a:xfrm>
            <a:off x="8540496" y="2093976"/>
            <a:ext cx="566928" cy="566928"/>
          </a:xfrm>
          <a:prstGeom prst="ellipse">
            <a:avLst/>
          </a:prstGeom>
          <a:solidFill>
            <a:srgbClr val="1E2761"/>
          </a:solidFill>
          <a:ln/>
        </p:spPr>
      </p:sp>
      <p:sp>
        <p:nvSpPr>
          <p:cNvPr id="16" name="Text 14"/>
          <p:cNvSpPr/>
          <p:nvPr/>
        </p:nvSpPr>
        <p:spPr>
          <a:xfrm>
            <a:off x="8540496" y="2093976"/>
            <a:ext cx="566928" cy="566928"/>
          </a:xfrm>
          <a:prstGeom prst="rect">
            <a:avLst/>
          </a:prstGeom>
          <a:noFill/>
          <a:ln/>
        </p:spPr>
        <p:txBody>
          <a:bodyPr wrap="square" lIns="0" tIns="0" rIns="0" bIns="0" rtlCol="0" anchor="ctr"/>
          <a:lstStyle/>
          <a:p>
            <a:pPr algn="ctr" indent="0" marL="0">
              <a:buNone/>
            </a:pPr>
            <a:r>
              <a:rPr lang="en-US" sz="1984" b="1" dirty="0">
                <a:solidFill>
                  <a:srgbClr val="FFFFFF"/>
                </a:solidFill>
                <a:latin typeface="Calibri" pitchFamily="34" charset="0"/>
                <a:ea typeface="Calibri" pitchFamily="34" charset="-122"/>
                <a:cs typeface="Calibri" pitchFamily="34" charset="-120"/>
              </a:rPr>
              <a:t>⚙️</a:t>
            </a:r>
            <a:endParaRPr lang="en-US" sz="1984" dirty="0"/>
          </a:p>
        </p:txBody>
      </p:sp>
      <p:sp>
        <p:nvSpPr>
          <p:cNvPr id="17" name="Text 15"/>
          <p:cNvSpPr/>
          <p:nvPr/>
        </p:nvSpPr>
        <p:spPr>
          <a:xfrm>
            <a:off x="8549640" y="2770632"/>
            <a:ext cx="306324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Automatic Retrieval</a:t>
            </a:r>
            <a:endParaRPr lang="en-US" sz="1400" dirty="0"/>
          </a:p>
        </p:txBody>
      </p:sp>
      <p:sp>
        <p:nvSpPr>
          <p:cNvPr id="18" name="Text 16"/>
          <p:cNvSpPr/>
          <p:nvPr/>
        </p:nvSpPr>
        <p:spPr>
          <a:xfrm>
            <a:off x="8549640" y="3118104"/>
            <a:ext cx="3063240" cy="594360"/>
          </a:xfrm>
          <a:prstGeom prst="rect">
            <a:avLst/>
          </a:prstGeom>
          <a:noFill/>
          <a:ln/>
        </p:spPr>
        <p:txBody>
          <a:bodyPr wrap="square" lIns="0" tIns="0" rIns="0" bIns="0" rtlCol="0" anchor="ctr"/>
          <a:lstStyle/>
          <a:p>
            <a:pPr indent="0" marL="0">
              <a:lnSpc>
                <a:spcPct val="115000"/>
              </a:lnSpc>
              <a:buNone/>
            </a:pPr>
            <a:r>
              <a:rPr lang="en-US" sz="1150" dirty="0">
                <a:solidFill>
                  <a:srgbClr val="6E7591"/>
                </a:solidFill>
                <a:latin typeface="Calibri" pitchFamily="34" charset="0"/>
                <a:ea typeface="Calibri" pitchFamily="34" charset="-122"/>
                <a:cs typeface="Calibri" pitchFamily="34" charset="-120"/>
              </a:rPr>
              <a:t>Enabled automatic calculation and retrieval of lead scores.</a:t>
            </a:r>
            <a:endParaRPr lang="en-US" sz="1150" dirty="0"/>
          </a:p>
        </p:txBody>
      </p:sp>
      <p:sp>
        <p:nvSpPr>
          <p:cNvPr id="19" name="Shape 17"/>
          <p:cNvSpPr/>
          <p:nvPr/>
        </p:nvSpPr>
        <p:spPr>
          <a:xfrm>
            <a:off x="640080" y="4069080"/>
            <a:ext cx="3520440" cy="1920240"/>
          </a:xfrm>
          <a:prstGeom prst="roundRect">
            <a:avLst>
              <a:gd name="adj" fmla="val 4762"/>
            </a:avLst>
          </a:prstGeom>
          <a:solidFill>
            <a:srgbClr val="F4F6FC"/>
          </a:solidFill>
          <a:ln/>
        </p:spPr>
      </p:sp>
      <p:sp>
        <p:nvSpPr>
          <p:cNvPr id="20" name="Shape 18"/>
          <p:cNvSpPr/>
          <p:nvPr/>
        </p:nvSpPr>
        <p:spPr>
          <a:xfrm>
            <a:off x="859536" y="4288536"/>
            <a:ext cx="566928" cy="566928"/>
          </a:xfrm>
          <a:prstGeom prst="ellipse">
            <a:avLst/>
          </a:prstGeom>
          <a:solidFill>
            <a:srgbClr val="1E2761"/>
          </a:solidFill>
          <a:ln/>
        </p:spPr>
      </p:sp>
      <p:sp>
        <p:nvSpPr>
          <p:cNvPr id="21" name="Text 19"/>
          <p:cNvSpPr/>
          <p:nvPr/>
        </p:nvSpPr>
        <p:spPr>
          <a:xfrm>
            <a:off x="859536" y="4288536"/>
            <a:ext cx="566928" cy="566928"/>
          </a:xfrm>
          <a:prstGeom prst="rect">
            <a:avLst/>
          </a:prstGeom>
          <a:noFill/>
          <a:ln/>
        </p:spPr>
        <p:txBody>
          <a:bodyPr wrap="square" lIns="0" tIns="0" rIns="0" bIns="0" rtlCol="0" anchor="ctr"/>
          <a:lstStyle/>
          <a:p>
            <a:pPr algn="ctr" indent="0" marL="0">
              <a:buNone/>
            </a:pPr>
            <a:r>
              <a:rPr lang="en-US" sz="1984" b="1" dirty="0">
                <a:solidFill>
                  <a:srgbClr val="FFFFFF"/>
                </a:solidFill>
                <a:latin typeface="Calibri" pitchFamily="34" charset="0"/>
                <a:ea typeface="Calibri" pitchFamily="34" charset="-122"/>
                <a:cs typeface="Calibri" pitchFamily="34" charset="-120"/>
              </a:rPr>
              <a:t>🛡️</a:t>
            </a:r>
            <a:endParaRPr lang="en-US" sz="1984" dirty="0"/>
          </a:p>
        </p:txBody>
      </p:sp>
      <p:sp>
        <p:nvSpPr>
          <p:cNvPr id="22" name="Text 20"/>
          <p:cNvSpPr/>
          <p:nvPr/>
        </p:nvSpPr>
        <p:spPr>
          <a:xfrm>
            <a:off x="868680" y="4965192"/>
            <a:ext cx="306324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Validation &amp; Errors</a:t>
            </a:r>
            <a:endParaRPr lang="en-US" sz="1400" dirty="0"/>
          </a:p>
        </p:txBody>
      </p:sp>
      <p:sp>
        <p:nvSpPr>
          <p:cNvPr id="23" name="Text 21"/>
          <p:cNvSpPr/>
          <p:nvPr/>
        </p:nvSpPr>
        <p:spPr>
          <a:xfrm>
            <a:off x="868680" y="5312664"/>
            <a:ext cx="3063240" cy="594360"/>
          </a:xfrm>
          <a:prstGeom prst="rect">
            <a:avLst/>
          </a:prstGeom>
          <a:noFill/>
          <a:ln/>
        </p:spPr>
        <p:txBody>
          <a:bodyPr wrap="square" lIns="0" tIns="0" rIns="0" bIns="0" rtlCol="0" anchor="ctr"/>
          <a:lstStyle/>
          <a:p>
            <a:pPr indent="0" marL="0">
              <a:lnSpc>
                <a:spcPct val="115000"/>
              </a:lnSpc>
              <a:buNone/>
            </a:pPr>
            <a:r>
              <a:rPr lang="en-US" sz="1150" dirty="0">
                <a:solidFill>
                  <a:srgbClr val="6E7591"/>
                </a:solidFill>
                <a:latin typeface="Calibri" pitchFamily="34" charset="0"/>
                <a:ea typeface="Calibri" pitchFamily="34" charset="-122"/>
                <a:cs typeface="Calibri" pitchFamily="34" charset="-120"/>
              </a:rPr>
              <a:t>Implemented API validation and error handling.</a:t>
            </a:r>
            <a:endParaRPr lang="en-US" sz="1150" dirty="0"/>
          </a:p>
        </p:txBody>
      </p:sp>
      <p:sp>
        <p:nvSpPr>
          <p:cNvPr id="24" name="Shape 22"/>
          <p:cNvSpPr/>
          <p:nvPr/>
        </p:nvSpPr>
        <p:spPr>
          <a:xfrm>
            <a:off x="4480560" y="4069080"/>
            <a:ext cx="3520440" cy="1920240"/>
          </a:xfrm>
          <a:prstGeom prst="roundRect">
            <a:avLst>
              <a:gd name="adj" fmla="val 4762"/>
            </a:avLst>
          </a:prstGeom>
          <a:solidFill>
            <a:srgbClr val="F4F6FC"/>
          </a:solidFill>
          <a:ln/>
        </p:spPr>
      </p:sp>
      <p:sp>
        <p:nvSpPr>
          <p:cNvPr id="25" name="Shape 23"/>
          <p:cNvSpPr/>
          <p:nvPr/>
        </p:nvSpPr>
        <p:spPr>
          <a:xfrm>
            <a:off x="4700016" y="4288536"/>
            <a:ext cx="566928" cy="566928"/>
          </a:xfrm>
          <a:prstGeom prst="ellipse">
            <a:avLst/>
          </a:prstGeom>
          <a:solidFill>
            <a:srgbClr val="1E2761"/>
          </a:solidFill>
          <a:ln/>
        </p:spPr>
      </p:sp>
      <p:sp>
        <p:nvSpPr>
          <p:cNvPr id="26" name="Text 24"/>
          <p:cNvSpPr/>
          <p:nvPr/>
        </p:nvSpPr>
        <p:spPr>
          <a:xfrm>
            <a:off x="4700016" y="4288536"/>
            <a:ext cx="566928" cy="566928"/>
          </a:xfrm>
          <a:prstGeom prst="rect">
            <a:avLst/>
          </a:prstGeom>
          <a:noFill/>
          <a:ln/>
        </p:spPr>
        <p:txBody>
          <a:bodyPr wrap="square" lIns="0" tIns="0" rIns="0" bIns="0" rtlCol="0" anchor="ctr"/>
          <a:lstStyle/>
          <a:p>
            <a:pPr algn="ctr" indent="0" marL="0">
              <a:buNone/>
            </a:pPr>
            <a:r>
              <a:rPr lang="en-US" sz="1984" b="1" dirty="0">
                <a:solidFill>
                  <a:srgbClr val="FFFFFF"/>
                </a:solidFill>
                <a:latin typeface="Calibri" pitchFamily="34" charset="0"/>
                <a:ea typeface="Calibri" pitchFamily="34" charset="-122"/>
                <a:cs typeface="Calibri" pitchFamily="34" charset="-120"/>
              </a:rPr>
              <a:t>📊</a:t>
            </a:r>
            <a:endParaRPr lang="en-US" sz="1984" dirty="0"/>
          </a:p>
        </p:txBody>
      </p:sp>
      <p:sp>
        <p:nvSpPr>
          <p:cNvPr id="27" name="Text 25"/>
          <p:cNvSpPr/>
          <p:nvPr/>
        </p:nvSpPr>
        <p:spPr>
          <a:xfrm>
            <a:off x="4709160" y="4965192"/>
            <a:ext cx="306324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Dashboard Access</a:t>
            </a:r>
            <a:endParaRPr lang="en-US" sz="1400" dirty="0"/>
          </a:p>
        </p:txBody>
      </p:sp>
      <p:sp>
        <p:nvSpPr>
          <p:cNvPr id="28" name="Text 26"/>
          <p:cNvSpPr/>
          <p:nvPr/>
        </p:nvSpPr>
        <p:spPr>
          <a:xfrm>
            <a:off x="4709160" y="5312664"/>
            <a:ext cx="3063240" cy="594360"/>
          </a:xfrm>
          <a:prstGeom prst="rect">
            <a:avLst/>
          </a:prstGeom>
          <a:noFill/>
          <a:ln/>
        </p:spPr>
        <p:txBody>
          <a:bodyPr wrap="square" lIns="0" tIns="0" rIns="0" bIns="0" rtlCol="0" anchor="ctr"/>
          <a:lstStyle/>
          <a:p>
            <a:pPr indent="0" marL="0">
              <a:lnSpc>
                <a:spcPct val="115000"/>
              </a:lnSpc>
              <a:buNone/>
            </a:pPr>
            <a:r>
              <a:rPr lang="en-US" sz="1150" dirty="0">
                <a:solidFill>
                  <a:srgbClr val="6E7591"/>
                </a:solidFill>
                <a:latin typeface="Calibri" pitchFamily="34" charset="0"/>
                <a:ea typeface="Calibri" pitchFamily="34" charset="-122"/>
                <a:cs typeface="Calibri" pitchFamily="34" charset="-120"/>
              </a:rPr>
              <a:t>Ensured score data could be accessed by the frontend dashboard.</a:t>
            </a:r>
            <a:endParaRPr lang="en-US" sz="1150" dirty="0"/>
          </a:p>
        </p:txBody>
      </p:sp>
      <p:sp>
        <p:nvSpPr>
          <p:cNvPr id="29" name="Text 27"/>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6E7591"/>
                </a:solidFill>
                <a:latin typeface="Calibri" pitchFamily="34" charset="0"/>
                <a:ea typeface="Calibri" pitchFamily="34" charset="-122"/>
                <a:cs typeface="Calibri" pitchFamily="34" charset="-120"/>
              </a:rPr>
              <a:t>Lead Scoring Integration</a:t>
            </a:r>
            <a:endParaRPr lang="en-US" sz="1000" dirty="0"/>
          </a:p>
        </p:txBody>
      </p:sp>
      <p:sp>
        <p:nvSpPr>
          <p:cNvPr id="30" name="Text 28"/>
          <p:cNvSpPr/>
          <p:nvPr/>
        </p:nvSpPr>
        <p:spPr>
          <a:xfrm>
            <a:off x="9902952" y="6446520"/>
            <a:ext cx="1828800" cy="274320"/>
          </a:xfrm>
          <a:prstGeom prst="rect">
            <a:avLst/>
          </a:prstGeom>
          <a:noFill/>
          <a:ln/>
        </p:spPr>
        <p:txBody>
          <a:bodyPr wrap="square" lIns="0" tIns="0" rIns="0" bIns="0" rtlCol="0" anchor="ctr"/>
          <a:lstStyle/>
          <a:p>
            <a:pPr algn="r" indent="0" marL="0">
              <a:buNone/>
            </a:pPr>
            <a:r>
              <a:rPr lang="en-US" sz="1000" dirty="0">
                <a:solidFill>
                  <a:srgbClr val="6E7591"/>
                </a:solidFill>
                <a:latin typeface="Calibri" pitchFamily="34" charset="0"/>
                <a:ea typeface="Calibri" pitchFamily="34" charset="-122"/>
                <a:cs typeface="Calibri" pitchFamily="34" charset="-120"/>
              </a:rPr>
              <a:t>Day 17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C4D"/>
        </a:solidFill>
      </p:bgPr>
    </p:bg>
    <p:spTree>
      <p:nvGrpSpPr>
        <p:cNvPr id="1" name=""/>
        <p:cNvGrpSpPr/>
        <p:nvPr/>
      </p:nvGrpSpPr>
      <p:grpSpPr>
        <a:xfrm>
          <a:off x="0" y="0"/>
          <a:ext cx="0" cy="0"/>
          <a:chOff x="0" y="0"/>
          <a:chExt cx="0" cy="0"/>
        </a:xfrm>
      </p:grpSpPr>
      <p:sp>
        <p:nvSpPr>
          <p:cNvPr id="2" name="Text 0"/>
          <p:cNvSpPr/>
          <p:nvPr/>
        </p:nvSpPr>
        <p:spPr>
          <a:xfrm>
            <a:off x="640080" y="548640"/>
            <a:ext cx="5486400" cy="320040"/>
          </a:xfrm>
          <a:prstGeom prst="rect">
            <a:avLst/>
          </a:prstGeom>
          <a:noFill/>
          <a:ln/>
        </p:spPr>
        <p:txBody>
          <a:bodyPr wrap="square" lIns="0" tIns="0" rIns="0" bIns="0" rtlCol="0" anchor="ctr"/>
          <a:lstStyle/>
          <a:p>
            <a:pPr indent="0" marL="0">
              <a:buNone/>
            </a:pPr>
            <a:r>
              <a:rPr lang="en-US" sz="1200" b="1" spc="300" kern="0" dirty="0">
                <a:solidFill>
                  <a:srgbClr val="CADCFC"/>
                </a:solidFill>
                <a:latin typeface="Calibri" pitchFamily="34" charset="0"/>
                <a:ea typeface="Calibri" pitchFamily="34" charset="-122"/>
                <a:cs typeface="Calibri" pitchFamily="34" charset="-120"/>
              </a:rPr>
              <a:t>WHY IT WAS NEEDED</a:t>
            </a:r>
            <a:endParaRPr lang="en-US" sz="1200" dirty="0"/>
          </a:p>
        </p:txBody>
      </p:sp>
      <p:sp>
        <p:nvSpPr>
          <p:cNvPr id="3" name="Text 1"/>
          <p:cNvSpPr/>
          <p:nvPr/>
        </p:nvSpPr>
        <p:spPr>
          <a:xfrm>
            <a:off x="640080" y="896112"/>
            <a:ext cx="9601200" cy="7315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From manual guesswork to automated prioritization</a:t>
            </a:r>
            <a:endParaRPr lang="en-US" sz="2600" dirty="0"/>
          </a:p>
        </p:txBody>
      </p:sp>
      <p:sp>
        <p:nvSpPr>
          <p:cNvPr id="4" name="Shape 2"/>
          <p:cNvSpPr/>
          <p:nvPr/>
        </p:nvSpPr>
        <p:spPr>
          <a:xfrm>
            <a:off x="640080" y="2148840"/>
            <a:ext cx="10881360" cy="1234440"/>
          </a:xfrm>
          <a:prstGeom prst="roundRect">
            <a:avLst>
              <a:gd name="adj" fmla="val 7407"/>
            </a:avLst>
          </a:prstGeom>
          <a:solidFill>
            <a:srgbClr val="222B66"/>
          </a:solidFill>
          <a:ln/>
        </p:spPr>
      </p:sp>
      <p:sp>
        <p:nvSpPr>
          <p:cNvPr id="5" name="Text 3"/>
          <p:cNvSpPr/>
          <p:nvPr/>
        </p:nvSpPr>
        <p:spPr>
          <a:xfrm>
            <a:off x="914400" y="2148840"/>
            <a:ext cx="914400" cy="1234440"/>
          </a:xfrm>
          <a:prstGeom prst="rect">
            <a:avLst/>
          </a:prstGeom>
          <a:noFill/>
          <a:ln/>
        </p:spPr>
        <p:txBody>
          <a:bodyPr wrap="square" lIns="0" tIns="0" rIns="0" bIns="0" rtlCol="0" anchor="ctr"/>
          <a:lstStyle/>
          <a:p>
            <a:pPr indent="0" marL="0">
              <a:buNone/>
            </a:pPr>
            <a:r>
              <a:rPr lang="en-US" sz="2600" b="1" dirty="0">
                <a:solidFill>
                  <a:srgbClr val="3E5CE0"/>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1965960" y="2331720"/>
            <a:ext cx="9052560" cy="36576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Manual review doesn't scale</a:t>
            </a:r>
            <a:endParaRPr lang="en-US" sz="1550" dirty="0"/>
          </a:p>
        </p:txBody>
      </p:sp>
      <p:sp>
        <p:nvSpPr>
          <p:cNvPr id="7" name="Text 5"/>
          <p:cNvSpPr/>
          <p:nvPr/>
        </p:nvSpPr>
        <p:spPr>
          <a:xfrm>
            <a:off x="1965960" y="2715768"/>
            <a:ext cx="9052560" cy="50292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Manual lead evaluation is time-consuming and inconsistent across reps.</a:t>
            </a:r>
            <a:endParaRPr lang="en-US" sz="1250" dirty="0"/>
          </a:p>
        </p:txBody>
      </p:sp>
      <p:sp>
        <p:nvSpPr>
          <p:cNvPr id="8" name="Shape 6"/>
          <p:cNvSpPr/>
          <p:nvPr/>
        </p:nvSpPr>
        <p:spPr>
          <a:xfrm>
            <a:off x="640080" y="3566160"/>
            <a:ext cx="10881360" cy="1234440"/>
          </a:xfrm>
          <a:prstGeom prst="roundRect">
            <a:avLst>
              <a:gd name="adj" fmla="val 7407"/>
            </a:avLst>
          </a:prstGeom>
          <a:solidFill>
            <a:srgbClr val="222B66"/>
          </a:solidFill>
          <a:ln/>
        </p:spPr>
      </p:sp>
      <p:sp>
        <p:nvSpPr>
          <p:cNvPr id="9" name="Text 7"/>
          <p:cNvSpPr/>
          <p:nvPr/>
        </p:nvSpPr>
        <p:spPr>
          <a:xfrm>
            <a:off x="914400" y="3566160"/>
            <a:ext cx="914400" cy="1234440"/>
          </a:xfrm>
          <a:prstGeom prst="rect">
            <a:avLst/>
          </a:prstGeom>
          <a:noFill/>
          <a:ln/>
        </p:spPr>
        <p:txBody>
          <a:bodyPr wrap="square" lIns="0" tIns="0" rIns="0" bIns="0" rtlCol="0" anchor="ctr"/>
          <a:lstStyle/>
          <a:p>
            <a:pPr indent="0" marL="0">
              <a:buNone/>
            </a:pPr>
            <a:r>
              <a:rPr lang="en-US" sz="2600" b="1" dirty="0">
                <a:solidFill>
                  <a:srgbClr val="3E5CE0"/>
                </a:solidFill>
                <a:latin typeface="Cambria" pitchFamily="34" charset="0"/>
                <a:ea typeface="Cambria" pitchFamily="34" charset="-122"/>
                <a:cs typeface="Cambria" pitchFamily="34" charset="-120"/>
              </a:rPr>
              <a:t>02</a:t>
            </a:r>
            <a:endParaRPr lang="en-US" sz="2600" dirty="0"/>
          </a:p>
        </p:txBody>
      </p:sp>
      <p:sp>
        <p:nvSpPr>
          <p:cNvPr id="10" name="Text 8"/>
          <p:cNvSpPr/>
          <p:nvPr/>
        </p:nvSpPr>
        <p:spPr>
          <a:xfrm>
            <a:off x="1965960" y="3749040"/>
            <a:ext cx="9052560" cy="36576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Prioritization needs a signal</a:t>
            </a:r>
            <a:endParaRPr lang="en-US" sz="1550" dirty="0"/>
          </a:p>
        </p:txBody>
      </p:sp>
      <p:sp>
        <p:nvSpPr>
          <p:cNvPr id="11" name="Text 9"/>
          <p:cNvSpPr/>
          <p:nvPr/>
        </p:nvSpPr>
        <p:spPr>
          <a:xfrm>
            <a:off x="1965960" y="4133088"/>
            <a:ext cx="9052560" cy="50292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Automated lead scoring helps sales teams prioritize high-value prospects.</a:t>
            </a:r>
            <a:endParaRPr lang="en-US" sz="1250" dirty="0"/>
          </a:p>
        </p:txBody>
      </p:sp>
      <p:sp>
        <p:nvSpPr>
          <p:cNvPr id="12" name="Shape 10"/>
          <p:cNvSpPr/>
          <p:nvPr/>
        </p:nvSpPr>
        <p:spPr>
          <a:xfrm>
            <a:off x="640080" y="4983480"/>
            <a:ext cx="10881360" cy="1234440"/>
          </a:xfrm>
          <a:prstGeom prst="roundRect">
            <a:avLst>
              <a:gd name="adj" fmla="val 7407"/>
            </a:avLst>
          </a:prstGeom>
          <a:solidFill>
            <a:srgbClr val="222B66"/>
          </a:solidFill>
          <a:ln/>
        </p:spPr>
      </p:sp>
      <p:sp>
        <p:nvSpPr>
          <p:cNvPr id="13" name="Text 11"/>
          <p:cNvSpPr/>
          <p:nvPr/>
        </p:nvSpPr>
        <p:spPr>
          <a:xfrm>
            <a:off x="914400" y="4983480"/>
            <a:ext cx="914400" cy="1234440"/>
          </a:xfrm>
          <a:prstGeom prst="rect">
            <a:avLst/>
          </a:prstGeom>
          <a:noFill/>
          <a:ln/>
        </p:spPr>
        <p:txBody>
          <a:bodyPr wrap="square" lIns="0" tIns="0" rIns="0" bIns="0" rtlCol="0" anchor="ctr"/>
          <a:lstStyle/>
          <a:p>
            <a:pPr indent="0" marL="0">
              <a:buNone/>
            </a:pPr>
            <a:r>
              <a:rPr lang="en-US" sz="2600" b="1" dirty="0">
                <a:solidFill>
                  <a:srgbClr val="3E5CE0"/>
                </a:solidFill>
                <a:latin typeface="Cambria" pitchFamily="34" charset="0"/>
                <a:ea typeface="Cambria" pitchFamily="34" charset="-122"/>
                <a:cs typeface="Cambria" pitchFamily="34" charset="-120"/>
              </a:rPr>
              <a:t>03</a:t>
            </a:r>
            <a:endParaRPr lang="en-US" sz="2600" dirty="0"/>
          </a:p>
        </p:txBody>
      </p:sp>
      <p:sp>
        <p:nvSpPr>
          <p:cNvPr id="14" name="Text 12"/>
          <p:cNvSpPr/>
          <p:nvPr/>
        </p:nvSpPr>
        <p:spPr>
          <a:xfrm>
            <a:off x="1965960" y="5166360"/>
            <a:ext cx="9052560" cy="36576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Speed matters</a:t>
            </a:r>
            <a:endParaRPr lang="en-US" sz="1550" dirty="0"/>
          </a:p>
        </p:txBody>
      </p:sp>
      <p:sp>
        <p:nvSpPr>
          <p:cNvPr id="15" name="Text 13"/>
          <p:cNvSpPr/>
          <p:nvPr/>
        </p:nvSpPr>
        <p:spPr>
          <a:xfrm>
            <a:off x="1965960" y="5550408"/>
            <a:ext cx="9052560" cy="50292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Backend integration provides real-time scores to the application.</a:t>
            </a:r>
            <a:endParaRPr lang="en-US" sz="1250" dirty="0"/>
          </a:p>
        </p:txBody>
      </p:sp>
      <p:sp>
        <p:nvSpPr>
          <p:cNvPr id="16" name="Text 14"/>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8B93B8"/>
                </a:solidFill>
                <a:latin typeface="Calibri" pitchFamily="34" charset="0"/>
                <a:ea typeface="Calibri" pitchFamily="34" charset="-122"/>
                <a:cs typeface="Calibri" pitchFamily="34" charset="-120"/>
              </a:rPr>
              <a:t>Lead Scoring Integration</a:t>
            </a:r>
            <a:endParaRPr lang="en-US" sz="1000" dirty="0"/>
          </a:p>
        </p:txBody>
      </p:sp>
      <p:sp>
        <p:nvSpPr>
          <p:cNvPr id="17" name="Text 15"/>
          <p:cNvSpPr/>
          <p:nvPr/>
        </p:nvSpPr>
        <p:spPr>
          <a:xfrm>
            <a:off x="9902952" y="6446520"/>
            <a:ext cx="1828800" cy="274320"/>
          </a:xfrm>
          <a:prstGeom prst="rect">
            <a:avLst/>
          </a:prstGeom>
          <a:noFill/>
          <a:ln/>
        </p:spPr>
        <p:txBody>
          <a:bodyPr wrap="square" lIns="0" tIns="0" rIns="0" bIns="0" rtlCol="0" anchor="ctr"/>
          <a:lstStyle/>
          <a:p>
            <a:pPr algn="r" indent="0" marL="0">
              <a:buNone/>
            </a:pPr>
            <a:r>
              <a:rPr lang="en-US" sz="1000" dirty="0">
                <a:solidFill>
                  <a:srgbClr val="8B93B8"/>
                </a:solidFill>
                <a:latin typeface="Calibri" pitchFamily="34" charset="0"/>
                <a:ea typeface="Calibri" pitchFamily="34" charset="-122"/>
                <a:cs typeface="Calibri" pitchFamily="34" charset="-120"/>
              </a:rPr>
              <a:t>Day 17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indent="0" marL="0">
              <a:buNone/>
            </a:pPr>
            <a:r>
              <a:rPr lang="en-US" sz="1200" b="1" spc="300" kern="0" dirty="0">
                <a:solidFill>
                  <a:srgbClr val="3E5CE0"/>
                </a:solidFill>
                <a:latin typeface="Calibri" pitchFamily="34" charset="0"/>
                <a:ea typeface="Calibri" pitchFamily="34" charset="-122"/>
                <a:cs typeface="Calibri" pitchFamily="34" charset="-120"/>
              </a:rPr>
              <a:t>HOW I IMPLEMENTED IT</a:t>
            </a:r>
            <a:endParaRPr lang="en-US" sz="1200" dirty="0"/>
          </a:p>
        </p:txBody>
      </p:sp>
      <p:sp>
        <p:nvSpPr>
          <p:cNvPr id="3" name="Text 1"/>
          <p:cNvSpPr/>
          <p:nvPr/>
        </p:nvSpPr>
        <p:spPr>
          <a:xfrm>
            <a:off x="640080" y="822960"/>
            <a:ext cx="8686800" cy="640080"/>
          </a:xfrm>
          <a:prstGeom prst="rect">
            <a:avLst/>
          </a:prstGeom>
          <a:noFill/>
          <a:ln/>
        </p:spPr>
        <p:txBody>
          <a:bodyPr wrap="square" lIns="0" tIns="0" rIns="0" bIns="0" rtlCol="0" anchor="ctr"/>
          <a:lstStyle/>
          <a:p>
            <a:pPr indent="0" marL="0">
              <a:buNone/>
            </a:pPr>
            <a:r>
              <a:rPr lang="en-US" sz="2800" b="1" dirty="0">
                <a:solidFill>
                  <a:srgbClr val="1F2333"/>
                </a:solidFill>
                <a:latin typeface="Cambria" pitchFamily="34" charset="0"/>
                <a:ea typeface="Cambria" pitchFamily="34" charset="-122"/>
                <a:cs typeface="Cambria" pitchFamily="34" charset="-120"/>
              </a:rPr>
              <a:t>The build, step by step</a:t>
            </a:r>
            <a:endParaRPr lang="en-US" sz="2800" dirty="0"/>
          </a:p>
        </p:txBody>
      </p:sp>
      <p:sp>
        <p:nvSpPr>
          <p:cNvPr id="4" name="Shape 2"/>
          <p:cNvSpPr/>
          <p:nvPr/>
        </p:nvSpPr>
        <p:spPr>
          <a:xfrm>
            <a:off x="1033272" y="3502152"/>
            <a:ext cx="10140696" cy="0"/>
          </a:xfrm>
          <a:prstGeom prst="line">
            <a:avLst/>
          </a:prstGeom>
          <a:noFill/>
          <a:ln w="25400">
            <a:solidFill>
              <a:srgbClr val="D7DCEF"/>
            </a:solidFill>
            <a:prstDash val="solid"/>
          </a:ln>
        </p:spPr>
      </p:sp>
      <p:sp>
        <p:nvSpPr>
          <p:cNvPr id="5" name="Shape 3"/>
          <p:cNvSpPr/>
          <p:nvPr/>
        </p:nvSpPr>
        <p:spPr>
          <a:xfrm>
            <a:off x="777240" y="3246120"/>
            <a:ext cx="512064" cy="512064"/>
          </a:xfrm>
          <a:prstGeom prst="ellipse">
            <a:avLst/>
          </a:prstGeom>
          <a:solidFill>
            <a:srgbClr val="1E2761"/>
          </a:solidFill>
          <a:ln/>
        </p:spPr>
      </p:sp>
      <p:sp>
        <p:nvSpPr>
          <p:cNvPr id="6" name="Text 4"/>
          <p:cNvSpPr/>
          <p:nvPr/>
        </p:nvSpPr>
        <p:spPr>
          <a:xfrm>
            <a:off x="777240" y="3246120"/>
            <a:ext cx="512064" cy="512064"/>
          </a:xfrm>
          <a:prstGeom prst="rect">
            <a:avLst/>
          </a:prstGeom>
          <a:noFill/>
          <a:ln/>
        </p:spPr>
        <p:txBody>
          <a:bodyPr wrap="square" lIns="0" tIns="0" rIns="0" bIns="0" rtlCol="0" anchor="ctr"/>
          <a:lstStyle/>
          <a:p>
            <a:pPr algn="ctr" indent="0" marL="0">
              <a:buNone/>
            </a:pPr>
            <a:r>
              <a:rPr lang="en-US" sz="1792" b="1" dirty="0">
                <a:solidFill>
                  <a:srgbClr val="FFFFFF"/>
                </a:solidFill>
                <a:latin typeface="Calibri" pitchFamily="34" charset="0"/>
                <a:ea typeface="Calibri" pitchFamily="34" charset="-122"/>
                <a:cs typeface="Calibri" pitchFamily="34" charset="-120"/>
              </a:rPr>
              <a:t>1</a:t>
            </a:r>
            <a:endParaRPr lang="en-US" sz="1792" dirty="0"/>
          </a:p>
        </p:txBody>
      </p:sp>
      <p:sp>
        <p:nvSpPr>
          <p:cNvPr id="7" name="Text 5"/>
          <p:cNvSpPr/>
          <p:nvPr/>
        </p:nvSpPr>
        <p:spPr>
          <a:xfrm>
            <a:off x="365760" y="3931920"/>
            <a:ext cx="1965960"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Create endpoint</a:t>
            </a:r>
            <a:endParaRPr lang="en-US" sz="1300" dirty="0"/>
          </a:p>
        </p:txBody>
      </p:sp>
      <p:sp>
        <p:nvSpPr>
          <p:cNvPr id="8" name="Text 6"/>
          <p:cNvSpPr/>
          <p:nvPr/>
        </p:nvSpPr>
        <p:spPr>
          <a:xfrm>
            <a:off x="365760" y="4279392"/>
            <a:ext cx="1965960" cy="1005840"/>
          </a:xfrm>
          <a:prstGeom prst="rect">
            <a:avLst/>
          </a:prstGeom>
          <a:noFill/>
          <a:ln/>
        </p:spPr>
        <p:txBody>
          <a:bodyPr wrap="square" lIns="0" tIns="0" rIns="0" bIns="0" rtlCol="0" anchor="ctr"/>
          <a:lstStyle/>
          <a:p>
            <a:pPr algn="ctr" indent="0" marL="0">
              <a:lnSpc>
                <a:spcPct val="115000"/>
              </a:lnSpc>
              <a:buNone/>
            </a:pPr>
            <a:r>
              <a:rPr lang="en-US" sz="1050" dirty="0">
                <a:solidFill>
                  <a:srgbClr val="6E7591"/>
                </a:solidFill>
                <a:latin typeface="Calibri" pitchFamily="34" charset="0"/>
                <a:ea typeface="Calibri" pitchFamily="34" charset="-122"/>
                <a:cs typeface="Calibri" pitchFamily="34" charset="-120"/>
              </a:rPr>
              <a:t>Created a FastAPI endpoint for lead scoring.</a:t>
            </a:r>
            <a:endParaRPr lang="en-US" sz="1050" dirty="0"/>
          </a:p>
        </p:txBody>
      </p:sp>
      <p:sp>
        <p:nvSpPr>
          <p:cNvPr id="9" name="Shape 7"/>
          <p:cNvSpPr/>
          <p:nvPr/>
        </p:nvSpPr>
        <p:spPr>
          <a:xfrm>
            <a:off x="3440430" y="3246120"/>
            <a:ext cx="512064" cy="512064"/>
          </a:xfrm>
          <a:prstGeom prst="ellipse">
            <a:avLst/>
          </a:prstGeom>
          <a:solidFill>
            <a:srgbClr val="1E2761"/>
          </a:solidFill>
          <a:ln/>
        </p:spPr>
      </p:sp>
      <p:sp>
        <p:nvSpPr>
          <p:cNvPr id="10" name="Text 8"/>
          <p:cNvSpPr/>
          <p:nvPr/>
        </p:nvSpPr>
        <p:spPr>
          <a:xfrm>
            <a:off x="3440430" y="3246120"/>
            <a:ext cx="512064" cy="512064"/>
          </a:xfrm>
          <a:prstGeom prst="rect">
            <a:avLst/>
          </a:prstGeom>
          <a:noFill/>
          <a:ln/>
        </p:spPr>
        <p:txBody>
          <a:bodyPr wrap="square" lIns="0" tIns="0" rIns="0" bIns="0" rtlCol="0" anchor="ctr"/>
          <a:lstStyle/>
          <a:p>
            <a:pPr algn="ctr" indent="0" marL="0">
              <a:buNone/>
            </a:pPr>
            <a:r>
              <a:rPr lang="en-US" sz="1792" b="1" dirty="0">
                <a:solidFill>
                  <a:srgbClr val="FFFFFF"/>
                </a:solidFill>
                <a:latin typeface="Calibri" pitchFamily="34" charset="0"/>
                <a:ea typeface="Calibri" pitchFamily="34" charset="-122"/>
                <a:cs typeface="Calibri" pitchFamily="34" charset="-120"/>
              </a:rPr>
              <a:t>2</a:t>
            </a:r>
            <a:endParaRPr lang="en-US" sz="1792" dirty="0"/>
          </a:p>
        </p:txBody>
      </p:sp>
      <p:sp>
        <p:nvSpPr>
          <p:cNvPr id="11" name="Text 9"/>
          <p:cNvSpPr/>
          <p:nvPr/>
        </p:nvSpPr>
        <p:spPr>
          <a:xfrm>
            <a:off x="2713482" y="3931920"/>
            <a:ext cx="1965960"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Connect to AI service</a:t>
            </a:r>
            <a:endParaRPr lang="en-US" sz="1300" dirty="0"/>
          </a:p>
        </p:txBody>
      </p:sp>
      <p:sp>
        <p:nvSpPr>
          <p:cNvPr id="12" name="Text 10"/>
          <p:cNvSpPr/>
          <p:nvPr/>
        </p:nvSpPr>
        <p:spPr>
          <a:xfrm>
            <a:off x="2713482" y="4279392"/>
            <a:ext cx="1965960" cy="1005840"/>
          </a:xfrm>
          <a:prstGeom prst="rect">
            <a:avLst/>
          </a:prstGeom>
          <a:noFill/>
          <a:ln/>
        </p:spPr>
        <p:txBody>
          <a:bodyPr wrap="square" lIns="0" tIns="0" rIns="0" bIns="0" rtlCol="0" anchor="ctr"/>
          <a:lstStyle/>
          <a:p>
            <a:pPr algn="ctr" indent="0" marL="0">
              <a:lnSpc>
                <a:spcPct val="115000"/>
              </a:lnSpc>
              <a:buNone/>
            </a:pPr>
            <a:r>
              <a:rPr lang="en-US" sz="1050" dirty="0">
                <a:solidFill>
                  <a:srgbClr val="6E7591"/>
                </a:solidFill>
                <a:latin typeface="Calibri" pitchFamily="34" charset="0"/>
                <a:ea typeface="Calibri" pitchFamily="34" charset="-122"/>
                <a:cs typeface="Calibri" pitchFamily="34" charset="-120"/>
              </a:rPr>
              <a:t>Connected the endpoint with the AI scoring service.</a:t>
            </a:r>
            <a:endParaRPr lang="en-US" sz="1050" dirty="0"/>
          </a:p>
        </p:txBody>
      </p:sp>
      <p:sp>
        <p:nvSpPr>
          <p:cNvPr id="13" name="Shape 11"/>
          <p:cNvSpPr/>
          <p:nvPr/>
        </p:nvSpPr>
        <p:spPr>
          <a:xfrm>
            <a:off x="6103620" y="3246120"/>
            <a:ext cx="512064" cy="512064"/>
          </a:xfrm>
          <a:prstGeom prst="ellipse">
            <a:avLst/>
          </a:prstGeom>
          <a:solidFill>
            <a:srgbClr val="1E2761"/>
          </a:solidFill>
          <a:ln/>
        </p:spPr>
      </p:sp>
      <p:sp>
        <p:nvSpPr>
          <p:cNvPr id="14" name="Text 12"/>
          <p:cNvSpPr/>
          <p:nvPr/>
        </p:nvSpPr>
        <p:spPr>
          <a:xfrm>
            <a:off x="6103620" y="3246120"/>
            <a:ext cx="512064" cy="512064"/>
          </a:xfrm>
          <a:prstGeom prst="rect">
            <a:avLst/>
          </a:prstGeom>
          <a:noFill/>
          <a:ln/>
        </p:spPr>
        <p:txBody>
          <a:bodyPr wrap="square" lIns="0" tIns="0" rIns="0" bIns="0" rtlCol="0" anchor="ctr"/>
          <a:lstStyle/>
          <a:p>
            <a:pPr algn="ctr" indent="0" marL="0">
              <a:buNone/>
            </a:pPr>
            <a:r>
              <a:rPr lang="en-US" sz="1792" b="1" dirty="0">
                <a:solidFill>
                  <a:srgbClr val="FFFFFF"/>
                </a:solidFill>
                <a:latin typeface="Calibri" pitchFamily="34" charset="0"/>
                <a:ea typeface="Calibri" pitchFamily="34" charset="-122"/>
                <a:cs typeface="Calibri" pitchFamily="34" charset="-120"/>
              </a:rPr>
              <a:t>3</a:t>
            </a:r>
            <a:endParaRPr lang="en-US" sz="1792" dirty="0"/>
          </a:p>
        </p:txBody>
      </p:sp>
      <p:sp>
        <p:nvSpPr>
          <p:cNvPr id="15" name="Text 13"/>
          <p:cNvSpPr/>
          <p:nvPr/>
        </p:nvSpPr>
        <p:spPr>
          <a:xfrm>
            <a:off x="5376672" y="3931920"/>
            <a:ext cx="1965960"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Process &amp; structure</a:t>
            </a:r>
            <a:endParaRPr lang="en-US" sz="1300" dirty="0"/>
          </a:p>
        </p:txBody>
      </p:sp>
      <p:sp>
        <p:nvSpPr>
          <p:cNvPr id="16" name="Text 14"/>
          <p:cNvSpPr/>
          <p:nvPr/>
        </p:nvSpPr>
        <p:spPr>
          <a:xfrm>
            <a:off x="5376672" y="4279392"/>
            <a:ext cx="1965960" cy="1005840"/>
          </a:xfrm>
          <a:prstGeom prst="rect">
            <a:avLst/>
          </a:prstGeom>
          <a:noFill/>
          <a:ln/>
        </p:spPr>
        <p:txBody>
          <a:bodyPr wrap="square" lIns="0" tIns="0" rIns="0" bIns="0" rtlCol="0" anchor="ctr"/>
          <a:lstStyle/>
          <a:p>
            <a:pPr algn="ctr" indent="0" marL="0">
              <a:lnSpc>
                <a:spcPct val="115000"/>
              </a:lnSpc>
              <a:buNone/>
            </a:pPr>
            <a:r>
              <a:rPr lang="en-US" sz="1050" dirty="0">
                <a:solidFill>
                  <a:srgbClr val="6E7591"/>
                </a:solidFill>
                <a:latin typeface="Calibri" pitchFamily="34" charset="0"/>
                <a:ea typeface="Calibri" pitchFamily="34" charset="-122"/>
                <a:cs typeface="Calibri" pitchFamily="34" charset="-120"/>
              </a:rPr>
              <a:t>Processed lead information and returned structured score data.</a:t>
            </a:r>
            <a:endParaRPr lang="en-US" sz="1050" dirty="0"/>
          </a:p>
        </p:txBody>
      </p:sp>
      <p:sp>
        <p:nvSpPr>
          <p:cNvPr id="17" name="Shape 15"/>
          <p:cNvSpPr/>
          <p:nvPr/>
        </p:nvSpPr>
        <p:spPr>
          <a:xfrm>
            <a:off x="8766810" y="3246120"/>
            <a:ext cx="512064" cy="512064"/>
          </a:xfrm>
          <a:prstGeom prst="ellipse">
            <a:avLst/>
          </a:prstGeom>
          <a:solidFill>
            <a:srgbClr val="1E2761"/>
          </a:solidFill>
          <a:ln/>
        </p:spPr>
      </p:sp>
      <p:sp>
        <p:nvSpPr>
          <p:cNvPr id="18" name="Text 16"/>
          <p:cNvSpPr/>
          <p:nvPr/>
        </p:nvSpPr>
        <p:spPr>
          <a:xfrm>
            <a:off x="8766810" y="3246120"/>
            <a:ext cx="512064" cy="512064"/>
          </a:xfrm>
          <a:prstGeom prst="rect">
            <a:avLst/>
          </a:prstGeom>
          <a:noFill/>
          <a:ln/>
        </p:spPr>
        <p:txBody>
          <a:bodyPr wrap="square" lIns="0" tIns="0" rIns="0" bIns="0" rtlCol="0" anchor="ctr"/>
          <a:lstStyle/>
          <a:p>
            <a:pPr algn="ctr" indent="0" marL="0">
              <a:buNone/>
            </a:pPr>
            <a:r>
              <a:rPr lang="en-US" sz="1792" b="1" dirty="0">
                <a:solidFill>
                  <a:srgbClr val="FFFFFF"/>
                </a:solidFill>
                <a:latin typeface="Calibri" pitchFamily="34" charset="0"/>
                <a:ea typeface="Calibri" pitchFamily="34" charset="-122"/>
                <a:cs typeface="Calibri" pitchFamily="34" charset="-120"/>
              </a:rPr>
              <a:t>4</a:t>
            </a:r>
            <a:endParaRPr lang="en-US" sz="1792" dirty="0"/>
          </a:p>
        </p:txBody>
      </p:sp>
      <p:sp>
        <p:nvSpPr>
          <p:cNvPr id="19" name="Text 17"/>
          <p:cNvSpPr/>
          <p:nvPr/>
        </p:nvSpPr>
        <p:spPr>
          <a:xfrm>
            <a:off x="8039862" y="3931920"/>
            <a:ext cx="1965960"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Test &amp; verify</a:t>
            </a:r>
            <a:endParaRPr lang="en-US" sz="1300" dirty="0"/>
          </a:p>
        </p:txBody>
      </p:sp>
      <p:sp>
        <p:nvSpPr>
          <p:cNvPr id="20" name="Text 18"/>
          <p:cNvSpPr/>
          <p:nvPr/>
        </p:nvSpPr>
        <p:spPr>
          <a:xfrm>
            <a:off x="8039862" y="4279392"/>
            <a:ext cx="1965960" cy="1005840"/>
          </a:xfrm>
          <a:prstGeom prst="rect">
            <a:avLst/>
          </a:prstGeom>
          <a:noFill/>
          <a:ln/>
        </p:spPr>
        <p:txBody>
          <a:bodyPr wrap="square" lIns="0" tIns="0" rIns="0" bIns="0" rtlCol="0" anchor="ctr"/>
          <a:lstStyle/>
          <a:p>
            <a:pPr algn="ctr" indent="0" marL="0">
              <a:lnSpc>
                <a:spcPct val="115000"/>
              </a:lnSpc>
              <a:buNone/>
            </a:pPr>
            <a:r>
              <a:rPr lang="en-US" sz="1050" dirty="0">
                <a:solidFill>
                  <a:srgbClr val="6E7591"/>
                </a:solidFill>
                <a:latin typeface="Calibri" pitchFamily="34" charset="0"/>
                <a:ea typeface="Calibri" pitchFamily="34" charset="-122"/>
                <a:cs typeface="Calibri" pitchFamily="34" charset="-120"/>
              </a:rPr>
              <a:t>Tested API responses and verified backend integration.</a:t>
            </a:r>
            <a:endParaRPr lang="en-US" sz="1050" dirty="0"/>
          </a:p>
        </p:txBody>
      </p:sp>
      <p:sp>
        <p:nvSpPr>
          <p:cNvPr id="21" name="Shape 19"/>
          <p:cNvSpPr/>
          <p:nvPr/>
        </p:nvSpPr>
        <p:spPr>
          <a:xfrm>
            <a:off x="11430000" y="3246120"/>
            <a:ext cx="512064" cy="512064"/>
          </a:xfrm>
          <a:prstGeom prst="ellipse">
            <a:avLst/>
          </a:prstGeom>
          <a:solidFill>
            <a:srgbClr val="1E2761"/>
          </a:solidFill>
          <a:ln/>
        </p:spPr>
      </p:sp>
      <p:sp>
        <p:nvSpPr>
          <p:cNvPr id="22" name="Text 20"/>
          <p:cNvSpPr/>
          <p:nvPr/>
        </p:nvSpPr>
        <p:spPr>
          <a:xfrm>
            <a:off x="11430000" y="3246120"/>
            <a:ext cx="512064" cy="512064"/>
          </a:xfrm>
          <a:prstGeom prst="rect">
            <a:avLst/>
          </a:prstGeom>
          <a:noFill/>
          <a:ln/>
        </p:spPr>
        <p:txBody>
          <a:bodyPr wrap="square" lIns="0" tIns="0" rIns="0" bIns="0" rtlCol="0" anchor="ctr"/>
          <a:lstStyle/>
          <a:p>
            <a:pPr algn="ctr" indent="0" marL="0">
              <a:buNone/>
            </a:pPr>
            <a:r>
              <a:rPr lang="en-US" sz="1792" b="1" dirty="0">
                <a:solidFill>
                  <a:srgbClr val="FFFFFF"/>
                </a:solidFill>
                <a:latin typeface="Calibri" pitchFamily="34" charset="0"/>
                <a:ea typeface="Calibri" pitchFamily="34" charset="-122"/>
                <a:cs typeface="Calibri" pitchFamily="34" charset="-120"/>
              </a:rPr>
              <a:t>5</a:t>
            </a:r>
            <a:endParaRPr lang="en-US" sz="1792" dirty="0"/>
          </a:p>
        </p:txBody>
      </p:sp>
      <p:sp>
        <p:nvSpPr>
          <p:cNvPr id="23" name="Text 21"/>
          <p:cNvSpPr/>
          <p:nvPr/>
        </p:nvSpPr>
        <p:spPr>
          <a:xfrm>
            <a:off x="9857232" y="3931920"/>
            <a:ext cx="1965960"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Confirm compatibility</a:t>
            </a:r>
            <a:endParaRPr lang="en-US" sz="1300" dirty="0"/>
          </a:p>
        </p:txBody>
      </p:sp>
      <p:sp>
        <p:nvSpPr>
          <p:cNvPr id="24" name="Text 22"/>
          <p:cNvSpPr/>
          <p:nvPr/>
        </p:nvSpPr>
        <p:spPr>
          <a:xfrm>
            <a:off x="9857232" y="4279392"/>
            <a:ext cx="1965960" cy="1005840"/>
          </a:xfrm>
          <a:prstGeom prst="rect">
            <a:avLst/>
          </a:prstGeom>
          <a:noFill/>
          <a:ln/>
        </p:spPr>
        <p:txBody>
          <a:bodyPr wrap="square" lIns="0" tIns="0" rIns="0" bIns="0" rtlCol="0" anchor="ctr"/>
          <a:lstStyle/>
          <a:p>
            <a:pPr algn="ctr" indent="0" marL="0">
              <a:lnSpc>
                <a:spcPct val="115000"/>
              </a:lnSpc>
              <a:buNone/>
            </a:pPr>
            <a:r>
              <a:rPr lang="en-US" sz="1050" dirty="0">
                <a:solidFill>
                  <a:srgbClr val="6E7591"/>
                </a:solidFill>
                <a:latin typeface="Calibri" pitchFamily="34" charset="0"/>
                <a:ea typeface="Calibri" pitchFamily="34" charset="-122"/>
                <a:cs typeface="Calibri" pitchFamily="34" charset="-120"/>
              </a:rPr>
              <a:t>Ensured compatibility with the frontend dashboard.</a:t>
            </a:r>
            <a:endParaRPr lang="en-US" sz="1050" dirty="0"/>
          </a:p>
        </p:txBody>
      </p:sp>
      <p:sp>
        <p:nvSpPr>
          <p:cNvPr id="25" name="Shape 23"/>
          <p:cNvSpPr/>
          <p:nvPr/>
        </p:nvSpPr>
        <p:spPr>
          <a:xfrm>
            <a:off x="640080" y="1691640"/>
            <a:ext cx="10881360" cy="1234440"/>
          </a:xfrm>
          <a:prstGeom prst="roundRect">
            <a:avLst>
              <a:gd name="adj" fmla="val 7407"/>
            </a:avLst>
          </a:prstGeom>
          <a:solidFill>
            <a:srgbClr val="F4F6FC"/>
          </a:solidFill>
          <a:ln/>
        </p:spPr>
      </p:sp>
      <p:sp>
        <p:nvSpPr>
          <p:cNvPr id="26" name="Text 24"/>
          <p:cNvSpPr/>
          <p:nvPr/>
        </p:nvSpPr>
        <p:spPr>
          <a:xfrm>
            <a:off x="914400" y="1691640"/>
            <a:ext cx="10332720" cy="12344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Lead data in  →  FastAPI endpoint  →  AI scoring module  →  Structured score  →  Dashboard</a:t>
            </a:r>
            <a:endParaRPr lang="en-US" sz="1500" dirty="0"/>
          </a:p>
        </p:txBody>
      </p:sp>
      <p:sp>
        <p:nvSpPr>
          <p:cNvPr id="27" name="Text 25"/>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6E7591"/>
                </a:solidFill>
                <a:latin typeface="Calibri" pitchFamily="34" charset="0"/>
                <a:ea typeface="Calibri" pitchFamily="34" charset="-122"/>
                <a:cs typeface="Calibri" pitchFamily="34" charset="-120"/>
              </a:rPr>
              <a:t>Lead Scoring Integration</a:t>
            </a:r>
            <a:endParaRPr lang="en-US" sz="1000" dirty="0"/>
          </a:p>
        </p:txBody>
      </p:sp>
      <p:sp>
        <p:nvSpPr>
          <p:cNvPr id="28" name="Text 26"/>
          <p:cNvSpPr/>
          <p:nvPr/>
        </p:nvSpPr>
        <p:spPr>
          <a:xfrm>
            <a:off x="9902952" y="6446520"/>
            <a:ext cx="1828800" cy="274320"/>
          </a:xfrm>
          <a:prstGeom prst="rect">
            <a:avLst/>
          </a:prstGeom>
          <a:noFill/>
          <a:ln/>
        </p:spPr>
        <p:txBody>
          <a:bodyPr wrap="square" lIns="0" tIns="0" rIns="0" bIns="0" rtlCol="0" anchor="ctr"/>
          <a:lstStyle/>
          <a:p>
            <a:pPr algn="r" indent="0" marL="0">
              <a:buNone/>
            </a:pPr>
            <a:r>
              <a:rPr lang="en-US" sz="1000" dirty="0">
                <a:solidFill>
                  <a:srgbClr val="6E7591"/>
                </a:solidFill>
                <a:latin typeface="Calibri" pitchFamily="34" charset="0"/>
                <a:ea typeface="Calibri" pitchFamily="34" charset="-122"/>
                <a:cs typeface="Calibri" pitchFamily="34" charset="-120"/>
              </a:rPr>
              <a:t>Day 17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indent="0" marL="0">
              <a:buNone/>
            </a:pPr>
            <a:r>
              <a:rPr lang="en-US" sz="1200" b="1" spc="300" kern="0" dirty="0">
                <a:solidFill>
                  <a:srgbClr val="3E5CE0"/>
                </a:solidFill>
                <a:latin typeface="Calibri" pitchFamily="34" charset="0"/>
                <a:ea typeface="Calibri" pitchFamily="34" charset="-122"/>
                <a:cs typeface="Calibri" pitchFamily="34" charset="-120"/>
              </a:rPr>
              <a:t>TEAM CONTRIBUTION</a:t>
            </a:r>
            <a:endParaRPr lang="en-US" sz="1200" dirty="0"/>
          </a:p>
        </p:txBody>
      </p:sp>
      <p:sp>
        <p:nvSpPr>
          <p:cNvPr id="3" name="Text 1"/>
          <p:cNvSpPr/>
          <p:nvPr/>
        </p:nvSpPr>
        <p:spPr>
          <a:xfrm>
            <a:off x="640080" y="822960"/>
            <a:ext cx="8686800" cy="640080"/>
          </a:xfrm>
          <a:prstGeom prst="rect">
            <a:avLst/>
          </a:prstGeom>
          <a:noFill/>
          <a:ln/>
        </p:spPr>
        <p:txBody>
          <a:bodyPr wrap="square" lIns="0" tIns="0" rIns="0" bIns="0" rtlCol="0" anchor="ctr"/>
          <a:lstStyle/>
          <a:p>
            <a:pPr indent="0" marL="0">
              <a:buNone/>
            </a:pPr>
            <a:r>
              <a:rPr lang="en-US" sz="2800" b="1" dirty="0">
                <a:solidFill>
                  <a:srgbClr val="1F2333"/>
                </a:solidFill>
                <a:latin typeface="Cambria" pitchFamily="34" charset="0"/>
                <a:ea typeface="Cambria" pitchFamily="34" charset="-122"/>
                <a:cs typeface="Cambria" pitchFamily="34" charset="-120"/>
              </a:rPr>
              <a:t>A cross-functional effort</a:t>
            </a:r>
            <a:endParaRPr lang="en-US" sz="2800" dirty="0"/>
          </a:p>
        </p:txBody>
      </p:sp>
      <p:sp>
        <p:nvSpPr>
          <p:cNvPr id="4" name="Shape 2"/>
          <p:cNvSpPr/>
          <p:nvPr/>
        </p:nvSpPr>
        <p:spPr>
          <a:xfrm>
            <a:off x="640080" y="1965960"/>
            <a:ext cx="3520440" cy="4114800"/>
          </a:xfrm>
          <a:prstGeom prst="roundRect">
            <a:avLst>
              <a:gd name="adj" fmla="val 3117"/>
            </a:avLst>
          </a:prstGeom>
          <a:solidFill>
            <a:srgbClr val="F4F6FC"/>
          </a:solidFill>
          <a:ln/>
        </p:spPr>
      </p:sp>
      <p:sp>
        <p:nvSpPr>
          <p:cNvPr id="5" name="Shape 3"/>
          <p:cNvSpPr/>
          <p:nvPr/>
        </p:nvSpPr>
        <p:spPr>
          <a:xfrm>
            <a:off x="2034540" y="2286000"/>
            <a:ext cx="731520" cy="731520"/>
          </a:xfrm>
          <a:prstGeom prst="ellipse">
            <a:avLst/>
          </a:prstGeom>
          <a:solidFill>
            <a:srgbClr val="1E2761"/>
          </a:solidFill>
          <a:ln/>
        </p:spPr>
      </p:sp>
      <p:sp>
        <p:nvSpPr>
          <p:cNvPr id="6" name="Text 4"/>
          <p:cNvSpPr/>
          <p:nvPr/>
        </p:nvSpPr>
        <p:spPr>
          <a:xfrm>
            <a:off x="2034540" y="2286000"/>
            <a:ext cx="731520" cy="731520"/>
          </a:xfrm>
          <a:prstGeom prst="rect">
            <a:avLst/>
          </a:prstGeom>
          <a:noFill/>
          <a:ln/>
        </p:spPr>
        <p:txBody>
          <a:bodyPr wrap="square" lIns="0" tIns="0" rIns="0" bIns="0" rtlCol="0" anchor="ctr"/>
          <a:lstStyle/>
          <a:p>
            <a:pPr algn="ctr" indent="0" marL="0">
              <a:buNone/>
            </a:pPr>
            <a:r>
              <a:rPr lang="en-US" sz="2560" b="1" dirty="0">
                <a:solidFill>
                  <a:srgbClr val="FFFFFF"/>
                </a:solidFill>
                <a:latin typeface="Calibri" pitchFamily="34" charset="0"/>
                <a:ea typeface="Calibri" pitchFamily="34" charset="-122"/>
                <a:cs typeface="Calibri" pitchFamily="34" charset="-120"/>
              </a:rPr>
              <a:t>🤖</a:t>
            </a:r>
            <a:endParaRPr lang="en-US" sz="2560" dirty="0"/>
          </a:p>
        </p:txBody>
      </p:sp>
      <p:sp>
        <p:nvSpPr>
          <p:cNvPr id="7" name="Text 5"/>
          <p:cNvSpPr/>
          <p:nvPr/>
        </p:nvSpPr>
        <p:spPr>
          <a:xfrm>
            <a:off x="822960" y="3200400"/>
            <a:ext cx="3154680" cy="411480"/>
          </a:xfrm>
          <a:prstGeom prst="rect">
            <a:avLst/>
          </a:prstGeom>
          <a:noFill/>
          <a:ln/>
        </p:spPr>
        <p:txBody>
          <a:bodyPr wrap="square" lIns="0" tIns="0" rIns="0" bIns="0"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AI Team</a:t>
            </a:r>
            <a:endParaRPr lang="en-US" sz="1700" dirty="0"/>
          </a:p>
        </p:txBody>
      </p:sp>
      <p:sp>
        <p:nvSpPr>
          <p:cNvPr id="8" name="Shape 6"/>
          <p:cNvSpPr/>
          <p:nvPr/>
        </p:nvSpPr>
        <p:spPr>
          <a:xfrm>
            <a:off x="960120" y="3877056"/>
            <a:ext cx="73152" cy="73152"/>
          </a:xfrm>
          <a:prstGeom prst="ellipse">
            <a:avLst/>
          </a:prstGeom>
          <a:solidFill>
            <a:srgbClr val="1E2761"/>
          </a:solidFill>
          <a:ln/>
        </p:spPr>
      </p:sp>
      <p:sp>
        <p:nvSpPr>
          <p:cNvPr id="9" name="Text 7"/>
          <p:cNvSpPr/>
          <p:nvPr/>
        </p:nvSpPr>
        <p:spPr>
          <a:xfrm>
            <a:off x="1143000" y="3721608"/>
            <a:ext cx="2697480" cy="685800"/>
          </a:xfrm>
          <a:prstGeom prst="rect">
            <a:avLst/>
          </a:prstGeom>
          <a:noFill/>
          <a:ln/>
        </p:spPr>
        <p:txBody>
          <a:bodyPr wrap="square" lIns="0" tIns="0" rIns="0" bIns="0" rtlCol="0" anchor="ctr"/>
          <a:lstStyle/>
          <a:p>
            <a:pPr indent="0" marL="0">
              <a:lnSpc>
                <a:spcPct val="120000"/>
              </a:lnSpc>
              <a:buNone/>
            </a:pPr>
            <a:r>
              <a:rPr lang="en-US" sz="1200" dirty="0">
                <a:solidFill>
                  <a:srgbClr val="1F2333"/>
                </a:solidFill>
                <a:latin typeface="Calibri" pitchFamily="34" charset="0"/>
                <a:ea typeface="Calibri" pitchFamily="34" charset="-122"/>
                <a:cs typeface="Calibri" pitchFamily="34" charset="-120"/>
              </a:rPr>
              <a:t>Developed the lead scoring logic</a:t>
            </a:r>
            <a:endParaRPr lang="en-US" sz="1200" dirty="0"/>
          </a:p>
        </p:txBody>
      </p:sp>
      <p:sp>
        <p:nvSpPr>
          <p:cNvPr id="10" name="Shape 8"/>
          <p:cNvSpPr/>
          <p:nvPr/>
        </p:nvSpPr>
        <p:spPr>
          <a:xfrm>
            <a:off x="960120" y="4745736"/>
            <a:ext cx="73152" cy="73152"/>
          </a:xfrm>
          <a:prstGeom prst="ellipse">
            <a:avLst/>
          </a:prstGeom>
          <a:solidFill>
            <a:srgbClr val="1E2761"/>
          </a:solidFill>
          <a:ln/>
        </p:spPr>
      </p:sp>
      <p:sp>
        <p:nvSpPr>
          <p:cNvPr id="11" name="Text 9"/>
          <p:cNvSpPr/>
          <p:nvPr/>
        </p:nvSpPr>
        <p:spPr>
          <a:xfrm>
            <a:off x="1143000" y="4590288"/>
            <a:ext cx="2697480" cy="685800"/>
          </a:xfrm>
          <a:prstGeom prst="rect">
            <a:avLst/>
          </a:prstGeom>
          <a:noFill/>
          <a:ln/>
        </p:spPr>
        <p:txBody>
          <a:bodyPr wrap="square" lIns="0" tIns="0" rIns="0" bIns="0" rtlCol="0" anchor="ctr"/>
          <a:lstStyle/>
          <a:p>
            <a:pPr indent="0" marL="0">
              <a:lnSpc>
                <a:spcPct val="120000"/>
              </a:lnSpc>
              <a:buNone/>
            </a:pPr>
            <a:r>
              <a:rPr lang="en-US" sz="1200" dirty="0">
                <a:solidFill>
                  <a:srgbClr val="1F2333"/>
                </a:solidFill>
                <a:latin typeface="Calibri" pitchFamily="34" charset="0"/>
                <a:ea typeface="Calibri" pitchFamily="34" charset="-122"/>
                <a:cs typeface="Calibri" pitchFamily="34" charset="-120"/>
              </a:rPr>
              <a:t>Generated Lead Score, Grade, Priority, and recommendations</a:t>
            </a:r>
            <a:endParaRPr lang="en-US" sz="1200" dirty="0"/>
          </a:p>
        </p:txBody>
      </p:sp>
      <p:sp>
        <p:nvSpPr>
          <p:cNvPr id="12" name="Shape 10"/>
          <p:cNvSpPr/>
          <p:nvPr/>
        </p:nvSpPr>
        <p:spPr>
          <a:xfrm>
            <a:off x="4480560" y="1965960"/>
            <a:ext cx="3520440" cy="4114800"/>
          </a:xfrm>
          <a:prstGeom prst="roundRect">
            <a:avLst>
              <a:gd name="adj" fmla="val 3117"/>
            </a:avLst>
          </a:prstGeom>
          <a:solidFill>
            <a:srgbClr val="F4F6FC"/>
          </a:solidFill>
          <a:ln/>
        </p:spPr>
      </p:sp>
      <p:sp>
        <p:nvSpPr>
          <p:cNvPr id="13" name="Shape 11"/>
          <p:cNvSpPr/>
          <p:nvPr/>
        </p:nvSpPr>
        <p:spPr>
          <a:xfrm>
            <a:off x="5875020" y="2286000"/>
            <a:ext cx="731520" cy="731520"/>
          </a:xfrm>
          <a:prstGeom prst="ellipse">
            <a:avLst/>
          </a:prstGeom>
          <a:solidFill>
            <a:srgbClr val="3E5CE0"/>
          </a:solidFill>
          <a:ln/>
        </p:spPr>
      </p:sp>
      <p:sp>
        <p:nvSpPr>
          <p:cNvPr id="14" name="Text 12"/>
          <p:cNvSpPr/>
          <p:nvPr/>
        </p:nvSpPr>
        <p:spPr>
          <a:xfrm>
            <a:off x="5875020" y="2286000"/>
            <a:ext cx="731520" cy="731520"/>
          </a:xfrm>
          <a:prstGeom prst="rect">
            <a:avLst/>
          </a:prstGeom>
          <a:noFill/>
          <a:ln/>
        </p:spPr>
        <p:txBody>
          <a:bodyPr wrap="square" lIns="0" tIns="0" rIns="0" bIns="0" rtlCol="0" anchor="ctr"/>
          <a:lstStyle/>
          <a:p>
            <a:pPr algn="ctr" indent="0" marL="0">
              <a:buNone/>
            </a:pPr>
            <a:r>
              <a:rPr lang="en-US" sz="2560" b="1" dirty="0">
                <a:solidFill>
                  <a:srgbClr val="FFFFFF"/>
                </a:solidFill>
                <a:latin typeface="Calibri" pitchFamily="34" charset="0"/>
                <a:ea typeface="Calibri" pitchFamily="34" charset="-122"/>
                <a:cs typeface="Calibri" pitchFamily="34" charset="-120"/>
              </a:rPr>
              <a:t>🖥️</a:t>
            </a:r>
            <a:endParaRPr lang="en-US" sz="2560" dirty="0"/>
          </a:p>
        </p:txBody>
      </p:sp>
      <p:sp>
        <p:nvSpPr>
          <p:cNvPr id="15" name="Text 13"/>
          <p:cNvSpPr/>
          <p:nvPr/>
        </p:nvSpPr>
        <p:spPr>
          <a:xfrm>
            <a:off x="4663440" y="3200400"/>
            <a:ext cx="3154680" cy="411480"/>
          </a:xfrm>
          <a:prstGeom prst="rect">
            <a:avLst/>
          </a:prstGeom>
          <a:noFill/>
          <a:ln/>
        </p:spPr>
        <p:txBody>
          <a:bodyPr wrap="square" lIns="0" tIns="0" rIns="0" bIns="0"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Frontend Team</a:t>
            </a:r>
            <a:endParaRPr lang="en-US" sz="1700" dirty="0"/>
          </a:p>
        </p:txBody>
      </p:sp>
      <p:sp>
        <p:nvSpPr>
          <p:cNvPr id="16" name="Shape 14"/>
          <p:cNvSpPr/>
          <p:nvPr/>
        </p:nvSpPr>
        <p:spPr>
          <a:xfrm>
            <a:off x="4800600" y="3877056"/>
            <a:ext cx="73152" cy="73152"/>
          </a:xfrm>
          <a:prstGeom prst="ellipse">
            <a:avLst/>
          </a:prstGeom>
          <a:solidFill>
            <a:srgbClr val="3E5CE0"/>
          </a:solidFill>
          <a:ln/>
        </p:spPr>
      </p:sp>
      <p:sp>
        <p:nvSpPr>
          <p:cNvPr id="17" name="Text 15"/>
          <p:cNvSpPr/>
          <p:nvPr/>
        </p:nvSpPr>
        <p:spPr>
          <a:xfrm>
            <a:off x="4983480" y="3721608"/>
            <a:ext cx="2697480" cy="685800"/>
          </a:xfrm>
          <a:prstGeom prst="rect">
            <a:avLst/>
          </a:prstGeom>
          <a:noFill/>
          <a:ln/>
        </p:spPr>
        <p:txBody>
          <a:bodyPr wrap="square" lIns="0" tIns="0" rIns="0" bIns="0" rtlCol="0" anchor="ctr"/>
          <a:lstStyle/>
          <a:p>
            <a:pPr indent="0" marL="0">
              <a:lnSpc>
                <a:spcPct val="120000"/>
              </a:lnSpc>
              <a:buNone/>
            </a:pPr>
            <a:r>
              <a:rPr lang="en-US" sz="1200" dirty="0">
                <a:solidFill>
                  <a:srgbClr val="1F2333"/>
                </a:solidFill>
                <a:latin typeface="Calibri" pitchFamily="34" charset="0"/>
                <a:ea typeface="Calibri" pitchFamily="34" charset="-122"/>
                <a:cs typeface="Calibri" pitchFamily="34" charset="-120"/>
              </a:rPr>
              <a:t>Prepared the Lead Score Dashboard</a:t>
            </a:r>
            <a:endParaRPr lang="en-US" sz="1200" dirty="0"/>
          </a:p>
        </p:txBody>
      </p:sp>
      <p:sp>
        <p:nvSpPr>
          <p:cNvPr id="18" name="Shape 16"/>
          <p:cNvSpPr/>
          <p:nvPr/>
        </p:nvSpPr>
        <p:spPr>
          <a:xfrm>
            <a:off x="4800600" y="4745736"/>
            <a:ext cx="73152" cy="73152"/>
          </a:xfrm>
          <a:prstGeom prst="ellipse">
            <a:avLst/>
          </a:prstGeom>
          <a:solidFill>
            <a:srgbClr val="3E5CE0"/>
          </a:solidFill>
          <a:ln/>
        </p:spPr>
      </p:sp>
      <p:sp>
        <p:nvSpPr>
          <p:cNvPr id="19" name="Text 17"/>
          <p:cNvSpPr/>
          <p:nvPr/>
        </p:nvSpPr>
        <p:spPr>
          <a:xfrm>
            <a:off x="4983480" y="4590288"/>
            <a:ext cx="2697480" cy="685800"/>
          </a:xfrm>
          <a:prstGeom prst="rect">
            <a:avLst/>
          </a:prstGeom>
          <a:noFill/>
          <a:ln/>
        </p:spPr>
        <p:txBody>
          <a:bodyPr wrap="square" lIns="0" tIns="0" rIns="0" bIns="0" rtlCol="0" anchor="ctr"/>
          <a:lstStyle/>
          <a:p>
            <a:pPr indent="0" marL="0">
              <a:lnSpc>
                <a:spcPct val="120000"/>
              </a:lnSpc>
              <a:buNone/>
            </a:pPr>
            <a:r>
              <a:rPr lang="en-US" sz="1200" dirty="0">
                <a:solidFill>
                  <a:srgbClr val="1F2333"/>
                </a:solidFill>
                <a:latin typeface="Calibri" pitchFamily="34" charset="0"/>
                <a:ea typeface="Calibri" pitchFamily="34" charset="-122"/>
                <a:cs typeface="Calibri" pitchFamily="34" charset="-120"/>
              </a:rPr>
              <a:t>Displayed scores and analytics visually</a:t>
            </a:r>
            <a:endParaRPr lang="en-US" sz="1200" dirty="0"/>
          </a:p>
        </p:txBody>
      </p:sp>
      <p:sp>
        <p:nvSpPr>
          <p:cNvPr id="20" name="Shape 18"/>
          <p:cNvSpPr/>
          <p:nvPr/>
        </p:nvSpPr>
        <p:spPr>
          <a:xfrm>
            <a:off x="8321040" y="1965960"/>
            <a:ext cx="3520440" cy="4114800"/>
          </a:xfrm>
          <a:prstGeom prst="roundRect">
            <a:avLst>
              <a:gd name="adj" fmla="val 3117"/>
            </a:avLst>
          </a:prstGeom>
          <a:solidFill>
            <a:srgbClr val="F4F6FC"/>
          </a:solidFill>
          <a:ln/>
        </p:spPr>
      </p:sp>
      <p:sp>
        <p:nvSpPr>
          <p:cNvPr id="21" name="Shape 19"/>
          <p:cNvSpPr/>
          <p:nvPr/>
        </p:nvSpPr>
        <p:spPr>
          <a:xfrm>
            <a:off x="9715500" y="2286000"/>
            <a:ext cx="731520" cy="731520"/>
          </a:xfrm>
          <a:prstGeom prst="ellipse">
            <a:avLst/>
          </a:prstGeom>
          <a:solidFill>
            <a:srgbClr val="5B6688"/>
          </a:solidFill>
          <a:ln/>
        </p:spPr>
      </p:sp>
      <p:sp>
        <p:nvSpPr>
          <p:cNvPr id="22" name="Text 20"/>
          <p:cNvSpPr/>
          <p:nvPr/>
        </p:nvSpPr>
        <p:spPr>
          <a:xfrm>
            <a:off x="9715500" y="2286000"/>
            <a:ext cx="731520" cy="731520"/>
          </a:xfrm>
          <a:prstGeom prst="rect">
            <a:avLst/>
          </a:prstGeom>
          <a:noFill/>
          <a:ln/>
        </p:spPr>
        <p:txBody>
          <a:bodyPr wrap="square" lIns="0" tIns="0" rIns="0" bIns="0" rtlCol="0" anchor="ctr"/>
          <a:lstStyle/>
          <a:p>
            <a:pPr algn="ctr" indent="0" marL="0">
              <a:buNone/>
            </a:pPr>
            <a:r>
              <a:rPr lang="en-US" sz="2560" b="1" dirty="0">
                <a:solidFill>
                  <a:srgbClr val="FFFFFF"/>
                </a:solidFill>
                <a:latin typeface="Calibri" pitchFamily="34" charset="0"/>
                <a:ea typeface="Calibri" pitchFamily="34" charset="-122"/>
                <a:cs typeface="Calibri" pitchFamily="34" charset="-120"/>
              </a:rPr>
              <a:t>✅</a:t>
            </a:r>
            <a:endParaRPr lang="en-US" sz="2560" dirty="0"/>
          </a:p>
        </p:txBody>
      </p:sp>
      <p:sp>
        <p:nvSpPr>
          <p:cNvPr id="23" name="Text 21"/>
          <p:cNvSpPr/>
          <p:nvPr/>
        </p:nvSpPr>
        <p:spPr>
          <a:xfrm>
            <a:off x="8503920" y="3200400"/>
            <a:ext cx="3154680" cy="411480"/>
          </a:xfrm>
          <a:prstGeom prst="rect">
            <a:avLst/>
          </a:prstGeom>
          <a:noFill/>
          <a:ln/>
        </p:spPr>
        <p:txBody>
          <a:bodyPr wrap="square" lIns="0" tIns="0" rIns="0" bIns="0"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QA Team</a:t>
            </a:r>
            <a:endParaRPr lang="en-US" sz="1700" dirty="0"/>
          </a:p>
        </p:txBody>
      </p:sp>
      <p:sp>
        <p:nvSpPr>
          <p:cNvPr id="24" name="Shape 22"/>
          <p:cNvSpPr/>
          <p:nvPr/>
        </p:nvSpPr>
        <p:spPr>
          <a:xfrm>
            <a:off x="8641080" y="3877056"/>
            <a:ext cx="73152" cy="73152"/>
          </a:xfrm>
          <a:prstGeom prst="ellipse">
            <a:avLst/>
          </a:prstGeom>
          <a:solidFill>
            <a:srgbClr val="5B6688"/>
          </a:solidFill>
          <a:ln/>
        </p:spPr>
      </p:sp>
      <p:sp>
        <p:nvSpPr>
          <p:cNvPr id="25" name="Text 23"/>
          <p:cNvSpPr/>
          <p:nvPr/>
        </p:nvSpPr>
        <p:spPr>
          <a:xfrm>
            <a:off x="8823960" y="3721608"/>
            <a:ext cx="2697480" cy="685800"/>
          </a:xfrm>
          <a:prstGeom prst="rect">
            <a:avLst/>
          </a:prstGeom>
          <a:noFill/>
          <a:ln/>
        </p:spPr>
        <p:txBody>
          <a:bodyPr wrap="square" lIns="0" tIns="0" rIns="0" bIns="0" rtlCol="0" anchor="ctr"/>
          <a:lstStyle/>
          <a:p>
            <a:pPr indent="0" marL="0">
              <a:lnSpc>
                <a:spcPct val="120000"/>
              </a:lnSpc>
              <a:buNone/>
            </a:pPr>
            <a:r>
              <a:rPr lang="en-US" sz="1200" dirty="0">
                <a:solidFill>
                  <a:srgbClr val="1F2333"/>
                </a:solidFill>
                <a:latin typeface="Calibri" pitchFamily="34" charset="0"/>
                <a:ea typeface="Calibri" pitchFamily="34" charset="-122"/>
                <a:cs typeface="Calibri" pitchFamily="34" charset="-120"/>
              </a:rPr>
              <a:t>Validated scoring accuracy</a:t>
            </a:r>
            <a:endParaRPr lang="en-US" sz="1200" dirty="0"/>
          </a:p>
        </p:txBody>
      </p:sp>
      <p:sp>
        <p:nvSpPr>
          <p:cNvPr id="26" name="Shape 24"/>
          <p:cNvSpPr/>
          <p:nvPr/>
        </p:nvSpPr>
        <p:spPr>
          <a:xfrm>
            <a:off x="8641080" y="4745736"/>
            <a:ext cx="73152" cy="73152"/>
          </a:xfrm>
          <a:prstGeom prst="ellipse">
            <a:avLst/>
          </a:prstGeom>
          <a:solidFill>
            <a:srgbClr val="5B6688"/>
          </a:solidFill>
          <a:ln/>
        </p:spPr>
      </p:sp>
      <p:sp>
        <p:nvSpPr>
          <p:cNvPr id="27" name="Text 25"/>
          <p:cNvSpPr/>
          <p:nvPr/>
        </p:nvSpPr>
        <p:spPr>
          <a:xfrm>
            <a:off x="8823960" y="4590288"/>
            <a:ext cx="2697480" cy="685800"/>
          </a:xfrm>
          <a:prstGeom prst="rect">
            <a:avLst/>
          </a:prstGeom>
          <a:noFill/>
          <a:ln/>
        </p:spPr>
        <p:txBody>
          <a:bodyPr wrap="square" lIns="0" tIns="0" rIns="0" bIns="0" rtlCol="0" anchor="ctr"/>
          <a:lstStyle/>
          <a:p>
            <a:pPr indent="0" marL="0">
              <a:lnSpc>
                <a:spcPct val="120000"/>
              </a:lnSpc>
              <a:buNone/>
            </a:pPr>
            <a:r>
              <a:rPr lang="en-US" sz="1200" dirty="0">
                <a:solidFill>
                  <a:srgbClr val="1F2333"/>
                </a:solidFill>
                <a:latin typeface="Calibri" pitchFamily="34" charset="0"/>
                <a:ea typeface="Calibri" pitchFamily="34" charset="-122"/>
                <a:cs typeface="Calibri" pitchFamily="34" charset="-120"/>
              </a:rPr>
              <a:t>Tested API responses across different lead scenarios</a:t>
            </a:r>
            <a:endParaRPr lang="en-US" sz="1200" dirty="0"/>
          </a:p>
        </p:txBody>
      </p:sp>
      <p:sp>
        <p:nvSpPr>
          <p:cNvPr id="28" name="Text 26"/>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6E7591"/>
                </a:solidFill>
                <a:latin typeface="Calibri" pitchFamily="34" charset="0"/>
                <a:ea typeface="Calibri" pitchFamily="34" charset="-122"/>
                <a:cs typeface="Calibri" pitchFamily="34" charset="-120"/>
              </a:rPr>
              <a:t>Lead Scoring Integration</a:t>
            </a:r>
            <a:endParaRPr lang="en-US" sz="1000" dirty="0"/>
          </a:p>
        </p:txBody>
      </p:sp>
      <p:sp>
        <p:nvSpPr>
          <p:cNvPr id="29" name="Text 27"/>
          <p:cNvSpPr/>
          <p:nvPr/>
        </p:nvSpPr>
        <p:spPr>
          <a:xfrm>
            <a:off x="9902952" y="6446520"/>
            <a:ext cx="1828800" cy="274320"/>
          </a:xfrm>
          <a:prstGeom prst="rect">
            <a:avLst/>
          </a:prstGeom>
          <a:noFill/>
          <a:ln/>
        </p:spPr>
        <p:txBody>
          <a:bodyPr wrap="square" lIns="0" tIns="0" rIns="0" bIns="0" rtlCol="0" anchor="ctr"/>
          <a:lstStyle/>
          <a:p>
            <a:pPr algn="r" indent="0" marL="0">
              <a:buNone/>
            </a:pPr>
            <a:r>
              <a:rPr lang="en-US" sz="1000" dirty="0">
                <a:solidFill>
                  <a:srgbClr val="6E7591"/>
                </a:solidFill>
                <a:latin typeface="Calibri" pitchFamily="34" charset="0"/>
                <a:ea typeface="Calibri" pitchFamily="34" charset="-122"/>
                <a:cs typeface="Calibri" pitchFamily="34" charset="-120"/>
              </a:rPr>
              <a:t>Day 17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149840" y="640080"/>
            <a:ext cx="164592" cy="164592"/>
          </a:xfrm>
          <a:prstGeom prst="ellipse">
            <a:avLst/>
          </a:prstGeom>
          <a:solidFill>
            <a:srgbClr val="3E5CE0"/>
          </a:solidFill>
          <a:ln/>
        </p:spPr>
      </p:sp>
      <p:sp>
        <p:nvSpPr>
          <p:cNvPr id="3" name="Shape 1"/>
          <p:cNvSpPr/>
          <p:nvPr/>
        </p:nvSpPr>
        <p:spPr>
          <a:xfrm>
            <a:off x="10561320" y="960120"/>
            <a:ext cx="91440" cy="91440"/>
          </a:xfrm>
          <a:prstGeom prst="ellipse">
            <a:avLst/>
          </a:prstGeom>
          <a:solidFill>
            <a:srgbClr val="CADCFC"/>
          </a:solidFill>
          <a:ln/>
        </p:spPr>
      </p:sp>
      <p:sp>
        <p:nvSpPr>
          <p:cNvPr id="4" name="Text 2"/>
          <p:cNvSpPr/>
          <p:nvPr/>
        </p:nvSpPr>
        <p:spPr>
          <a:xfrm>
            <a:off x="822960" y="2103120"/>
            <a:ext cx="8229600" cy="365760"/>
          </a:xfrm>
          <a:prstGeom prst="rect">
            <a:avLst/>
          </a:prstGeom>
          <a:noFill/>
          <a:ln/>
        </p:spPr>
        <p:txBody>
          <a:bodyPr wrap="square" lIns="0" tIns="0" rIns="0" bIns="0" rtlCol="0" anchor="ctr"/>
          <a:lstStyle/>
          <a:p>
            <a:pPr indent="0" marL="0">
              <a:buNone/>
            </a:pPr>
            <a:r>
              <a:rPr lang="en-US" sz="1300" b="1" spc="300" kern="0" dirty="0">
                <a:solidFill>
                  <a:srgbClr val="CADCFC"/>
                </a:solidFill>
                <a:latin typeface="Calibri" pitchFamily="34" charset="0"/>
                <a:ea typeface="Calibri" pitchFamily="34" charset="-122"/>
                <a:cs typeface="Calibri" pitchFamily="34" charset="-120"/>
              </a:rPr>
              <a:t>DAY 17 — OUTCOME</a:t>
            </a:r>
            <a:endParaRPr lang="en-US" sz="1300" dirty="0"/>
          </a:p>
        </p:txBody>
      </p:sp>
      <p:sp>
        <p:nvSpPr>
          <p:cNvPr id="5" name="Text 3"/>
          <p:cNvSpPr/>
          <p:nvPr/>
        </p:nvSpPr>
        <p:spPr>
          <a:xfrm>
            <a:off x="777240" y="2514600"/>
            <a:ext cx="10058400" cy="1463040"/>
          </a:xfrm>
          <a:prstGeom prst="rect">
            <a:avLst/>
          </a:prstGeom>
          <a:noFill/>
          <a:ln/>
        </p:spPr>
        <p:txBody>
          <a:bodyPr wrap="square" lIns="0" tIns="0" rIns="0" bIns="0" rtlCol="0" anchor="ctr"/>
          <a:lstStyle/>
          <a:p>
            <a:pPr indent="0" marL="0">
              <a:lnSpc>
                <a:spcPct val="110000"/>
              </a:lnSpc>
              <a:buNone/>
            </a:pPr>
            <a:r>
              <a:rPr lang="en-US" sz="3200" b="1" dirty="0">
                <a:solidFill>
                  <a:srgbClr val="FFFFFF"/>
                </a:solidFill>
                <a:latin typeface="Cambria" pitchFamily="34" charset="0"/>
                <a:ea typeface="Cambria" pitchFamily="34" charset="-122"/>
                <a:cs typeface="Cambria" pitchFamily="34" charset="-120"/>
              </a:rPr>
              <a:t>Lead Scoring is live in the backend</a:t>
            </a:r>
            <a:endParaRPr lang="en-US" sz="3200" dirty="0"/>
          </a:p>
          <a:p>
            <a:pPr indent="0" marL="0">
              <a:lnSpc>
                <a:spcPct val="110000"/>
              </a:lnSpc>
              <a:buNone/>
            </a:pPr>
            <a:r>
              <a:rPr lang="en-US" sz="3200" b="1" dirty="0">
                <a:solidFill>
                  <a:srgbClr val="FFFFFF"/>
                </a:solidFill>
                <a:latin typeface="Cambria" pitchFamily="34" charset="0"/>
                <a:ea typeface="Cambria" pitchFamily="34" charset="-122"/>
                <a:cs typeface="Cambria" pitchFamily="34" charset="-120"/>
              </a:rPr>
              <a:t>and ready for the app.</a:t>
            </a:r>
            <a:endParaRPr lang="en-US" sz="3200" dirty="0"/>
          </a:p>
        </p:txBody>
      </p:sp>
      <p:sp>
        <p:nvSpPr>
          <p:cNvPr id="6" name="Shape 4"/>
          <p:cNvSpPr/>
          <p:nvPr/>
        </p:nvSpPr>
        <p:spPr>
          <a:xfrm>
            <a:off x="822960" y="3977640"/>
            <a:ext cx="2926080" cy="0"/>
          </a:xfrm>
          <a:prstGeom prst="line">
            <a:avLst/>
          </a:prstGeom>
          <a:noFill/>
          <a:ln w="31750">
            <a:solidFill>
              <a:srgbClr val="3E5CE0"/>
            </a:solidFill>
            <a:prstDash val="solid"/>
          </a:ln>
        </p:spPr>
      </p:sp>
      <p:sp>
        <p:nvSpPr>
          <p:cNvPr id="7" name="Text 5"/>
          <p:cNvSpPr/>
          <p:nvPr/>
        </p:nvSpPr>
        <p:spPr>
          <a:xfrm>
            <a:off x="822960" y="4160520"/>
            <a:ext cx="7863840" cy="914400"/>
          </a:xfrm>
          <a:prstGeom prst="rect">
            <a:avLst/>
          </a:prstGeom>
          <a:noFill/>
          <a:ln/>
        </p:spPr>
        <p:txBody>
          <a:bodyPr wrap="square" lIns="0" tIns="0" rIns="0" bIns="0" rtlCol="0" anchor="ctr"/>
          <a:lstStyle/>
          <a:p>
            <a:pPr indent="0" marL="0">
              <a:buNone/>
            </a:pPr>
            <a:r>
              <a:rPr lang="en-US" sz="1450" dirty="0">
                <a:solidFill>
                  <a:srgbClr val="CADCFC"/>
                </a:solidFill>
                <a:latin typeface="Calibri" pitchFamily="34" charset="0"/>
                <a:ea typeface="Calibri" pitchFamily="34" charset="-122"/>
                <a:cs typeface="Calibri" pitchFamily="34" charset="-120"/>
              </a:rPr>
              <a:t>The Lead Score API is integrated, validated, and delivering real-time scores, grades, and priorities to the dashboard — giving sales a clear signal on where to focus first.</a:t>
            </a:r>
            <a:endParaRPr lang="en-US" sz="1450" dirty="0"/>
          </a:p>
        </p:txBody>
      </p:sp>
      <p:sp>
        <p:nvSpPr>
          <p:cNvPr id="8" name="Text 6"/>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8B93B8"/>
                </a:solidFill>
                <a:latin typeface="Calibri" pitchFamily="34" charset="0"/>
                <a:ea typeface="Calibri" pitchFamily="34" charset="-122"/>
                <a:cs typeface="Calibri" pitchFamily="34" charset="-120"/>
              </a:rPr>
              <a:t>Lead Scoring Integration</a:t>
            </a:r>
            <a:endParaRPr lang="en-US" sz="1000" dirty="0"/>
          </a:p>
        </p:txBody>
      </p:sp>
      <p:sp>
        <p:nvSpPr>
          <p:cNvPr id="9" name="Text 7"/>
          <p:cNvSpPr/>
          <p:nvPr/>
        </p:nvSpPr>
        <p:spPr>
          <a:xfrm>
            <a:off x="9902952" y="6446520"/>
            <a:ext cx="1828800" cy="274320"/>
          </a:xfrm>
          <a:prstGeom prst="rect">
            <a:avLst/>
          </a:prstGeom>
          <a:noFill/>
          <a:ln/>
        </p:spPr>
        <p:txBody>
          <a:bodyPr wrap="square" lIns="0" tIns="0" rIns="0" bIns="0" rtlCol="0" anchor="ctr"/>
          <a:lstStyle/>
          <a:p>
            <a:pPr algn="r" indent="0" marL="0">
              <a:buNone/>
            </a:pPr>
            <a:r>
              <a:rPr lang="en-US" sz="1000" dirty="0">
                <a:solidFill>
                  <a:srgbClr val="8B93B8"/>
                </a:solidFill>
                <a:latin typeface="Calibri" pitchFamily="34" charset="0"/>
                <a:ea typeface="Calibri" pitchFamily="34" charset="-122"/>
                <a:cs typeface="Calibri" pitchFamily="34" charset="-120"/>
              </a:rPr>
              <a:t>Day 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2026-08-06T14:28:32Z</dcterms:created>
  <dcterms:modified xsi:type="dcterms:W3CDTF">2026-08-06T14:28:32Z</dcterms:modified>
</cp:coreProperties>
</file>